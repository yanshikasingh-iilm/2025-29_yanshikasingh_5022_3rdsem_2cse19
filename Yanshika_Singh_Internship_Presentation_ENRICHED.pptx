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39" autoAdjust="0"/>
    <p:restoredTop sz="94660"/>
  </p:normalViewPr>
  <p:slideViewPr>
    <p:cSldViewPr snapToGrid="0" snapToObjects="1">
      <p:cViewPr varScale="1">
        <p:scale>
          <a:sx n="75" d="100"/>
          <a:sy n="75" d="100"/>
        </p:scale>
        <p:origin x="793"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696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IILM University, Gurugram | B.Tech CSE (Artificial Intelligence &amp; Machine Learning) | 3rd Semester | Internship at SGCA Technologies Pvt. Ltd. | Duration: 3 Months | SGCA Technologies: Full-service digital solutions company | CIN: U62013UP2024PTC213231 | Incorporated: December 12, 2024 | Noida, Uttar Pradesh, India | Website: sgca.live | Contact: info@sgca.live | +91 7289890080</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SGCA Technologies Pvt. Ltd. is a full-service digital solutions agency offering Software &amp; ERP Solutions, Web Development, UI/UX Design, and Digital Services. Incorporated Dec 2024 | Website: sgca.live | The internship covered: (1) PHP 8+ OOP full-stack web development, (2) Google Gemini &amp; FLUX.1 AI integration, (3) Emergency SMS processing via Android Gateway and Twilio, (4) Three.js 3D warehouse digital twin, (5) MapLibre GL JS GPS disaster mapping, (6) REST API design &amp; webhooks.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IILM University B.Tech CSE (AI/ML) aligns with NEP 2020 — includes compulsory internships, project-based learning, multiple entry/exit options, and industry-aligned curriculum. This internship fulfilled NEP's practical training requirement. Objectives were met through building real enterprise systems — not sandbox projects.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Technology Details from web research:
PHP 8+: OOP with service/repository pattern, PDO for SQL injection prevention.
Google Gemini API: Multimodal LLM supporting function calling, structured JSON output, context caching. Used for emergency SMS parsing.
FLUX.1: AI image generation model by Black Forest Labs for automated product image generation.
Three.js: JavaScript WebGL library for browser-native 3D. Supports glTF, OrbitControls, Level of Detail (LOD). No plugins needed.
Cannon-ES: JavaScript physics engine for rigid body simulation.
MapLibre GL JS: Open-source WebGL vector map renderer. Supports offline via PMTiles, GeolocateControl for GPS tracking (requires HTTPS).
Twilio: Cloud communications platform with 99.99% uptime SLA, webhook-driven SMS processing, delivery tracking.
Android SMS Gateway: Low-cost physical bridge between cellular SMS network and REST API backend.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Overview:
1. OmniStock — Enterprise inventory/warehouse management. PHP 8+ OOP, MySQL, REST APIs, RBAC, audit logging.
2. Digital Twin — Three.js browser-native 3D warehouse. WebGL rendering, Cannon-ES physics, DDD architecture.
3. AI SMS Gateway — Hybrid NLP pipeline (Regex → Rule-based NLP → Gemini AI fallback) for emergency SMS parsing.
4. Twilio Dashboard — Cloud SMS emergency comms. Incoming/outgoing SMS, webhook validation, deduplication, auto-refresh.
5. Diastermang Maps — MapLibre GL JS GPS disaster mapping. GeolocateControl, Haversine formula, offline-first with PMTiles.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OmniStock — Enterprise Inventory &amp; Warehouse Management
Architecture: Layered N-Tier — Controllers (HTTP) → Service Layer (Business Logic) → Repository Layer (DB Access) → MySQL via PDO.
Key features: Product catalog, stock tracking by SKU and location, supplier management, order/transaction management, audit logging.
Security: CSRF tokens, rate limiting, bcrypt password hashing, secure sessions, RBAC.
MySQL Schema: Products (id, sku, name, price), Inventory (product_id, quantity, location_id), Orders, Suppliers.
REST API: GET/POST/PUT/DELETE endpoints. Stateless, JSON responses with standard HTTP status codes.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OmniStock Security Architecture:
Authentication: Secure password hashing (bcrypt/Argon2), session-based auth with HttpOnly cookies.
CSRF Protection: Synchronized token pattern — unique token per form/request validated server-side.
Rate Limiting: Prevents brute-force login and API abuse. Tracks attempts by IP.
RBAC: Role-Based Access Control — Admin, Manager, Staff roles with fine-grained permission sets.
SQL Injection Prevention: All queries use PDO Prepared Statements — parameterized queries separate data from SQL.
Audit Logging: Tracks all mutations (who changed what, when) for compliance and investigation.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Image Generation Pipeline for OmniStock:
Flow: Product Context → Prompt Engineering → FLUX.1 AI (via Cloudflare Worker) → Generated Image → SHA-256 Cache → Display
Prompt Engineering: Transforms product metadata (name, category, specs) into precise generation instructions for consistent output.
FLUX.1: Developed by Black Forest Labs. High-quality image generation model available via API. Supports image-to-image and text-to-image.
Cloudflare Worker: Serverless function acts as middleware, routing requests to FLUX.1 API with authentication.
SHA-256 Caching: Identical prompts produce the same cache key — avoids redundant API calls, reduces latency and cost.
Rate Limiting: Prevents abuse of the generative AI endpoint. Per-user and global limits enforced.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Three.js Digital Twin — OmniStock Warehouse Visualization
Three.js: JavaScript WebGL library. Browser-native 3D — no plugins needed. Used by NASA, Google, and major enterprises.
Key capabilities used:
- OrbitControls: Camera zoom, pan, rotate for warehouse exploration
- Mesh/Material system: 3D racks, zones, forklifts rendered with custom materials
- glTF format support: Industry-standard 3D format optimized for web delivery
- Level of Detail (LOD): Performance optimization for complex scenes
Cannon-ES: Lightweight physics engine for JavaScript. Rigid body simulation, collision detection.
REST Integration: Digital twin state synchronized with OmniStock backend — inventory levels reflected in 3D scene.
Real-time data overlays: Zones change color based on stock levels, vehicles show movement status.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Digital Twin Architecture — Domain-Driven Design (DDD) Inspired:
Presentation Layer: Three.js visualization + JavaScript UI. WebGL renders warehouse in browser without plugins.
Application Layer: Business logic services — inventory sync, zone state management, scene update orchestration.
Domain Layer: Core entities — Warehouse, Zone, Rack, Vehicle, InventoryItem (each mapped to 3D objects).
Infrastructure Layer: MySQL database + REST API client for backend sync.
Key principle: The 3D scene is a projection of the domain model — domain state drives visualization, not the other way.
Performance: Frustum culling (skip off-screen objects), texture compression, LOD for distant objects.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AI-Powered SMS Emergency Gateway — Problem &amp; Solution
Problem: Emergency SMS messages are unstructured, abbreviated, dialect-specific, and time-sensitive.
Example: 'Help! I am trapped in flood. 12 people are affected and 2 are injured.'
Extracted fields: disaster_type=FLOOD, location=unknown, people_affected=12, injured=2, required_help=rescue, priority=HIGH, confidence=0.91
The Gemini API provides structured JSON output via function calling / response_schema — ideal for this use case.
Gemini handles edge cases: dialect, abbreviations, mixed languages, incomplete sentences.
Rule-based NLP handles common patterns efficiently without API cost.
Priority scoring: Based on keyword severity (trapped, fire, flood) + injured count + affected count.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Hybrid Emergency Message Processing Pipeline:
Level 1 — Structured Message Parser: Checks if the SMS follows a predefined format (e.g., REPORT:FLOOD:12:2)
Level 2 — Rule-Based NLP + Regex: Dictionary matching for disaster keywords, number extraction with regex, location NER.
Level 3 — Gemini AI Fallback: Called when confidence score from L1/L2 is below threshold (~0.7).
  Gemini API: Uses response_schema to enforce JSON structure. Prompt specifies required fields.
  Model: Gemini 1.5 Flash or Gemini 2.0 Flash for low-latency inference.
Output: Normalized JSON { disaster_type, location, people_affected, injured_count, required_help, priority, confidence }
Stored in MySQL emergency_incidents table. Dashboard polls for updates.
Architecture benefit: Rule-based handles 70-80% of messages cheaply; AI handles ambiguous/complex 20-30%.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Android Phone as Emergency SMS Gateway:
Technology: Android SMS Gateway app (e.g., SMS Gateway app by Pavel Khlebovich or custom APK) running on physical phone.
How it works: Android phone receives SMS → App forwards message body + sender number via HTTP POST to ngrok-tunneled REST endpoint.
ngrok: Creates secure HTTPS tunnel to localhost PHP backend for development/testing.
Advantages over Twilio:
- No per-message cost (uses carrier SMS plan)
- Works on any carrier network — no SIM-lock
- Low-cost hardware (any Android phone)
- Useful where Twilio numbers aren't available or for testing
Limitations: Requires physical device online, single point of failure, not enterprise-scalable.
REST API endpoint: POST /api/sms/inbound with {from, body, timestamp}.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Twilio SMS Emergency Dashboard:
Twilio: Cloud communications platform with 99.99% uptime SLA, global carrier relationships.
Webhook flow: Citizen SMS → Twilio → HTTPS POST to /webhook/twilio → PHP validates X-Twilio-Signature → Process → MySQL → Dashboard
Security: Twilio request signature validation using HMAC-SHA1 prevents spoofed webhooks.
Deduplication: MessageSid used as unique key to prevent duplicate processing.
Outgoing SMS: TwiML (Twilio Markup Language) response or REST API POST to send replies.
Auto Refresh: Dashboard polls backend every N seconds (or WebSocket) for new incidents.
vs Android Gateway: Twilio is production-ready, scalable, has delivery receipts and SLA. Android Gateway is for low-cost/testing.
Twilio Python/PHP SDK: Official library simplifies API calls and webhook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Diastermang — GPS &amp; Disaster Mapping:
MapLibre GL JS: Open-source fork of Mapbox GL JS. WebGL-accelerated vector tile rendering. Community-maintained.
GeolocateControl: Built-in GPS tracking using browser Geolocation API. trackUserLocation:true follows user in real-time.
Requires HTTPS for Geolocation API (security policy).
Offline-First Architecture: Uses PMTiles format — single-file tile archive stored locally. No CDN needed offline.
Alternative: map-gl-offline library stores tiles in browser IndexedDB.
Vector maps: Render text labels, roads, boundaries at any zoom level without quality loss.
Disaster use cases: Tracking rescue teams, mapping affected zones, routing responders to survivors.
Live coordinates: latitude/longitude from GPS displayed on map with custom markers for incidents.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GPS and Geospatial Engineering — Haversine Formula:
Formula: d = 2r * arcsin(sqrt(sin²(Δlat/2) + cos(lat1)*cos(lat2)*sin²(Δlon/2)))
where r = Earth's radius (~6,371 km), Δlat/Δlon = differences in coordinates
Accuracy: Highly accurate for distances &lt; 1,000 km. Assumes spherical Earth (actual ellipsoid — minor error).
Computational efficiency: Lightweight — runs in microseconds on mobile devices. No external API required.
Use cases in this project:
1. Logistics: Estimate delivery distance from warehouse to destination
2. Route Estimation: Approximate path length between waypoints
3. Incident Grouping: Cluster emergency reports within N km radius (spatial joins)
4. Disaster Analysis: Map affected zones by distance from epicenter
5. Find Nearest Resources: Hospitals, shelters, rescue teams sorted by proximity
MapLibre GL JS + Haversine + Browser Geolocation API = complete offline-capable disaster navigation system.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Backend &amp; Database Engineering — PHP 8+ OOP Architecture:
REST Principles: Stateless, resource-based URLs (/api/products, /api/orders), standard HTTP methods (GET/POST/PUT/DELETE).
PDO Prepared Statements: Parameterized queries prevent SQL injection. Connection via PDO::setAttribute(ERRMODE_EXCEPTION).
Repository Pattern: Database logic encapsulated in Repository classes. Service layer never writes raw SQL.
Service Layer: Business rules enforced here — stock validation, order processing, incident prioritization.
Database Features implemented:
- Relationships: Foreign keys with CASCADE rules
- Transactions: ACID-compliant multi-table operations with rollback on failure
- Migrations: Version-controlled schema changes
- Audit Logging: Timestamped change records for compliance
- Prepared Statements: All user inputs parameterized
- Secure Handling: No raw SQL from user input
PSR-4 Autoloading: Composer-based namespace management.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Technical Skills Gained — Evidence-Based Summary:
Software Development: Built 5 real-world PHP applications. Implemented MVC/N-tier, REST APIs, MySQL schema design.
AI Integration: Used Google Gemini API for structured emergency SMS parsing. Used FLUX.1 for automated product image generation. Designed prompts for consistent AI output.
Advanced Development: Built Three.js 3D warehouse digital twin with Cannon-ES physics. Integrated MapLibre GL JS with GPS and Haversine. Consumed and built REST APIs.
Security: Implemented CSRF tokens, bcrypt hashing, rate limiting (login/API), RBAC with 3 roles, HttpOnly session cookies, SQL injection prevention via PDO.
Engineering: Solved real engineering problems — offline mapping, emergency SMS parsing, 3D visualization, cost-efficient AI integration (SHA-256 caching).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Challenges &amp; Engineering Solutions — Technical Detail:
1. Unstructured emergency SMS:
   Challenge: Free-text messages with dialect, abbreviations, missing fields.
   Solution: 3-level hybrid pipeline. Rule-based NLP (regex + keyword dict) first. Gemini AI fallback for edge cases. Confidence score validates extraction quality.
2. Secure authentication:
   Challenge: Prevent brute force, CSRF, session hijacking, SQL injection.
   Solution: Rate limiting (IP-based, exponential backoff), CSRF synchronized tokens, HttpOnly session cookies, PDO prepared statements, bcrypt hashing.
3. Real-time emergency communication:
   Challenge: Reaching citizens without internet. Cloud vs low-cost trade-off.
   Solution: Dual approach — Twilio (cloud, 99.99% SLA) + Android SMS Gateway (cellular, low-cost).
4. Warehouse visualization:
   Challenge: Render complex 3D warehouse in browser without plugins.
   Solution: Three.js WebGL + Cannon-ES physics. No installation required, cross-device accessible.
5. Limited internet connectivity:
   Challenge: Disaster zones may have no internet.
   Solution: SMS communication (cellular only) + PMTiles offline maps stored in IndexedDB.</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Achievements — Quantified Where Possible:
✓ 5 real-world software systems developed across enterprise, AI, emergency, and geospatial domains
✓ AI integration: Gemini API for SMS parsing + FLUX.1 for product image generation with SHA-256 caching
✓ Emergency comms: Dual-channel (Twilio cloud + Android cellular gateway) covering internet and offline scenarios
✓ REST APIs: Designed and consumed RESTful endpoints for inventory, twin sync, SMS, image generation
✓ Security: CSRF, rate limiting, RBAC, PDO, bcrypt — full security stack implemented
✓ 3D visualization: Browser-native Three.js digital twin — no plugins, cross-device compatible
✓ GPS/geospatial: Haversine distance calculation + MapLibre GL JS + GeolocateControl + offline PMTiles
✓ Database engineering: Relationships, transactions, migrations, audit logging, prepared statements
✓ Architecture: N-tier, DDD-inspired, Repository pattern, Service layer — enterprise-grade design
✓ Industry-level internship at SGCA Technologies Pvt. Ltd. — product development environment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Conclusion — IILM University B.Tech CSE (AI/ML) NEP 2020 Internship Requirement:
This internship at SGCA Technologies Pvt. Ltd. fulfilled the compulsory industry training component under NEP 2020.
The 3-month experience covered the full software development lifecycle — from architectural design to security hardening to deployment.
Technologies mastered: PHP 8+, MySQL, JavaScript, Google Gemini API, FLUX.1, Three.js, Cannon-ES, MapLibre GL JS, Twilio, ngrok.
Key learning outcome: Enterprise software requires multiple intersecting disciplines — architecture, security, AI, visualization, and communication systems must work together.
Future directions: Extend Diastermang to real-time multi-user tracking. Scale OmniStock to multi-warehouse. Enhance AI pipeline with fine-tuned models.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337560" cy="685800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749808"/>
            <a:ext cx="10012680" cy="5394960"/>
          </a:xfrm>
          <a:prstGeom prst="roundRect">
            <a:avLst/>
          </a:prstGeom>
          <a:solidFill>
            <a:srgbClr val="FFFFFF"/>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394960" y="749808"/>
            <a:ext cx="100584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554480" y="1115568"/>
            <a:ext cx="658368" cy="658368"/>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I</a:t>
            </a:r>
          </a:p>
        </p:txBody>
      </p:sp>
      <p:sp>
        <p:nvSpPr>
          <p:cNvPr id="6" name="TextBox 5"/>
          <p:cNvSpPr txBox="1"/>
          <p:nvPr/>
        </p:nvSpPr>
        <p:spPr>
          <a:xfrm>
            <a:off x="2331720" y="1207008"/>
            <a:ext cx="2743200" cy="347472"/>
          </a:xfrm>
          <a:prstGeom prst="rect">
            <a:avLst/>
          </a:prstGeom>
          <a:noFill/>
        </p:spPr>
        <p:txBody>
          <a:bodyPr wrap="square" lIns="45720" rIns="45720" anchor="t">
            <a:spAutoFit/>
          </a:bodyPr>
          <a:lstStyle/>
          <a:p>
            <a:pPr algn="l"/>
            <a:r>
              <a:rPr sz="1200" b="1">
                <a:solidFill>
                  <a:srgbClr val="FFFFFF"/>
                </a:solidFill>
                <a:latin typeface="Aptos"/>
              </a:rPr>
              <a:t>IILM UNIVERSITY</a:t>
            </a:r>
          </a:p>
        </p:txBody>
      </p:sp>
      <p:sp>
        <p:nvSpPr>
          <p:cNvPr id="7" name="TextBox 6"/>
          <p:cNvSpPr txBox="1"/>
          <p:nvPr/>
        </p:nvSpPr>
        <p:spPr>
          <a:xfrm>
            <a:off x="932311" y="310896"/>
            <a:ext cx="3657600" cy="320040"/>
          </a:xfrm>
          <a:prstGeom prst="rect">
            <a:avLst/>
          </a:prstGeom>
          <a:noFill/>
        </p:spPr>
        <p:txBody>
          <a:bodyPr wrap="square" lIns="45720" rIns="45720" anchor="t">
            <a:spAutoFit/>
          </a:bodyPr>
          <a:lstStyle/>
          <a:p>
            <a:pPr algn="l"/>
            <a:r>
              <a:rPr sz="1100" b="1" dirty="0">
                <a:solidFill>
                  <a:srgbClr val="DCE4F0"/>
                </a:solidFill>
                <a:latin typeface="Aptos"/>
              </a:rPr>
              <a:t>INTERNSHIP PRESENTATION</a:t>
            </a:r>
          </a:p>
        </p:txBody>
      </p:sp>
      <p:sp>
        <p:nvSpPr>
          <p:cNvPr id="8" name="TextBox 7"/>
          <p:cNvSpPr txBox="1"/>
          <p:nvPr/>
        </p:nvSpPr>
        <p:spPr>
          <a:xfrm>
            <a:off x="1554480" y="2606040"/>
            <a:ext cx="7863840" cy="1508760"/>
          </a:xfrm>
          <a:prstGeom prst="rect">
            <a:avLst/>
          </a:prstGeom>
          <a:noFill/>
        </p:spPr>
        <p:txBody>
          <a:bodyPr wrap="square" lIns="45720" rIns="45720" anchor="t">
            <a:spAutoFit/>
          </a:bodyPr>
          <a:lstStyle/>
          <a:p>
            <a:pPr algn="l"/>
            <a:r>
              <a:rPr sz="2900" b="1">
                <a:solidFill>
                  <a:srgbClr val="34425F"/>
                </a:solidFill>
                <a:latin typeface="Aptos"/>
              </a:rPr>
              <a:t>Full-Stack Software
Development, AI Integration
&amp; Disaster Management Systems</a:t>
            </a:r>
          </a:p>
        </p:txBody>
      </p:sp>
      <p:sp>
        <p:nvSpPr>
          <p:cNvPr id="9" name="TextBox 8"/>
          <p:cNvSpPr txBox="1"/>
          <p:nvPr/>
        </p:nvSpPr>
        <p:spPr>
          <a:xfrm>
            <a:off x="1572768" y="4315968"/>
            <a:ext cx="7040880" cy="658368"/>
          </a:xfrm>
          <a:prstGeom prst="rect">
            <a:avLst/>
          </a:prstGeom>
          <a:noFill/>
        </p:spPr>
        <p:txBody>
          <a:bodyPr wrap="square" lIns="45720" rIns="45720" anchor="t">
            <a:spAutoFit/>
          </a:bodyPr>
          <a:lstStyle/>
          <a:p>
            <a:pPr algn="l"/>
            <a:r>
              <a:rPr sz="1150" b="0">
                <a:solidFill>
                  <a:srgbClr val="677082"/>
                </a:solidFill>
                <a:latin typeface="Aptos"/>
              </a:rPr>
              <a:t>A technical internship portfolio covering enterprise inventory systems, AI integration with Google Gemini API, emergency communication platforms, 3D WebGL visualization (Three.js digital twin), and geospatial disaster mapping technologies. Completed at SGCA Technologies Pvt. Ltd., Noida, UP.</a:t>
            </a:r>
          </a:p>
        </p:txBody>
      </p:sp>
      <p:sp>
        <p:nvSpPr>
          <p:cNvPr id="10" name="Rounded Rectangle 9"/>
          <p:cNvSpPr/>
          <p:nvPr/>
        </p:nvSpPr>
        <p:spPr>
          <a:xfrm>
            <a:off x="9189720" y="1371600"/>
            <a:ext cx="1325880" cy="3886200"/>
          </a:xfrm>
          <a:prstGeom prst="roundRect">
            <a:avLst/>
          </a:prstGeom>
          <a:solidFill>
            <a:srgbClr val="F6F8FB"/>
          </a:solidFill>
          <a:ln w="8890">
            <a:solidFill>
              <a:srgbClr val="F6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flipV="1">
            <a:off x="9235440" y="1417320"/>
            <a:ext cx="1234440" cy="411480"/>
          </a:xfrm>
          <a:prstGeom prst="line">
            <a:avLst/>
          </a:prstGeom>
          <a:ln w="20320">
            <a:solidFill>
              <a:srgbClr val="B9C1D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235440" y="1892808"/>
            <a:ext cx="1234440" cy="411480"/>
          </a:xfrm>
          <a:prstGeom prst="line">
            <a:avLst/>
          </a:prstGeom>
          <a:ln w="20320">
            <a:solidFill>
              <a:srgbClr val="B3BCC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235440" y="2368296"/>
            <a:ext cx="1234440" cy="411480"/>
          </a:xfrm>
          <a:prstGeom prst="line">
            <a:avLst/>
          </a:prstGeom>
          <a:ln w="20320">
            <a:solidFill>
              <a:srgbClr val="ADB7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235440" y="2843784"/>
            <a:ext cx="1234440" cy="411480"/>
          </a:xfrm>
          <a:prstGeom prst="line">
            <a:avLst/>
          </a:prstGeom>
          <a:ln w="20320">
            <a:solidFill>
              <a:srgbClr val="A7B2C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235440" y="3319272"/>
            <a:ext cx="1234440" cy="411480"/>
          </a:xfrm>
          <a:prstGeom prst="line">
            <a:avLst/>
          </a:prstGeom>
          <a:ln w="20320">
            <a:solidFill>
              <a:srgbClr val="A1AD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235440" y="3794760"/>
            <a:ext cx="1234440" cy="411480"/>
          </a:xfrm>
          <a:prstGeom prst="line">
            <a:avLst/>
          </a:prstGeom>
          <a:ln w="20320">
            <a:solidFill>
              <a:srgbClr val="9BA8B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235440" y="4270248"/>
            <a:ext cx="1234440" cy="411480"/>
          </a:xfrm>
          <a:prstGeom prst="line">
            <a:avLst/>
          </a:prstGeom>
          <a:ln w="20320">
            <a:solidFill>
              <a:srgbClr val="95A3B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12280" y="5120640"/>
            <a:ext cx="1371600" cy="228600"/>
          </a:xfrm>
          <a:prstGeom prst="rect">
            <a:avLst/>
          </a:prstGeom>
          <a:noFill/>
        </p:spPr>
        <p:txBody>
          <a:bodyPr wrap="square" lIns="45720" rIns="45720" anchor="t">
            <a:spAutoFit/>
          </a:bodyPr>
          <a:lstStyle/>
          <a:p>
            <a:pPr algn="l"/>
            <a:r>
              <a:rPr sz="900" b="1">
                <a:solidFill>
                  <a:srgbClr val="677082"/>
                </a:solidFill>
                <a:latin typeface="Aptos"/>
              </a:rPr>
              <a:t>Submitted by</a:t>
            </a:r>
          </a:p>
        </p:txBody>
      </p:sp>
      <p:sp>
        <p:nvSpPr>
          <p:cNvPr id="19" name="TextBox 18"/>
          <p:cNvSpPr txBox="1"/>
          <p:nvPr/>
        </p:nvSpPr>
        <p:spPr>
          <a:xfrm>
            <a:off x="6812280" y="5367528"/>
            <a:ext cx="2011680" cy="292608"/>
          </a:xfrm>
          <a:prstGeom prst="rect">
            <a:avLst/>
          </a:prstGeom>
          <a:noFill/>
        </p:spPr>
        <p:txBody>
          <a:bodyPr wrap="square" lIns="45720" rIns="45720" anchor="t">
            <a:spAutoFit/>
          </a:bodyPr>
          <a:lstStyle/>
          <a:p>
            <a:pPr algn="l"/>
            <a:r>
              <a:rPr sz="1300" b="1">
                <a:solidFill>
                  <a:srgbClr val="34425F"/>
                </a:solidFill>
                <a:latin typeface="Aptos"/>
              </a:rPr>
              <a:t>Yanshika Singh</a:t>
            </a:r>
          </a:p>
        </p:txBody>
      </p:sp>
      <p:sp>
        <p:nvSpPr>
          <p:cNvPr id="20" name="TextBox 19"/>
          <p:cNvSpPr txBox="1"/>
          <p:nvPr/>
        </p:nvSpPr>
        <p:spPr>
          <a:xfrm>
            <a:off x="6812280" y="5696712"/>
            <a:ext cx="2926080" cy="411480"/>
          </a:xfrm>
          <a:prstGeom prst="rect">
            <a:avLst/>
          </a:prstGeom>
          <a:noFill/>
        </p:spPr>
        <p:txBody>
          <a:bodyPr wrap="square" lIns="45720" rIns="45720" anchor="t">
            <a:spAutoFit/>
          </a:bodyPr>
          <a:lstStyle/>
          <a:p>
            <a:pPr algn="l"/>
            <a:r>
              <a:rPr sz="919" b="0">
                <a:solidFill>
                  <a:srgbClr val="677082"/>
                </a:solidFill>
                <a:latin typeface="Aptos"/>
              </a:rPr>
              <a:t>B.Tech CSE (AI/ML) • 3rd Semester
SGCA Technologies Pvt. Ltd. • 3 Months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02</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Internship Overview</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Practical software development across 5 connected real-world projects at SGCA Technologies Pvt. Ltd., Noida — a full-service digital solutions company (sgca.live)</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1508760"/>
            <a:ext cx="3429000" cy="15727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86968" y="170992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01</a:t>
            </a:r>
          </a:p>
        </p:txBody>
      </p:sp>
      <p:sp>
        <p:nvSpPr>
          <p:cNvPr id="9" name="TextBox 8"/>
          <p:cNvSpPr txBox="1"/>
          <p:nvPr/>
        </p:nvSpPr>
        <p:spPr>
          <a:xfrm>
            <a:off x="1344168" y="1673351"/>
            <a:ext cx="2633472" cy="310896"/>
          </a:xfrm>
          <a:prstGeom prst="rect">
            <a:avLst/>
          </a:prstGeom>
          <a:noFill/>
        </p:spPr>
        <p:txBody>
          <a:bodyPr wrap="square" lIns="45720" rIns="45720" anchor="t">
            <a:spAutoFit/>
          </a:bodyPr>
          <a:lstStyle/>
          <a:p>
            <a:pPr algn="l"/>
            <a:r>
              <a:rPr sz="1150" b="1">
                <a:solidFill>
                  <a:srgbClr val="34425F"/>
                </a:solidFill>
                <a:latin typeface="Aptos"/>
              </a:rPr>
              <a:t>Full-Stack</a:t>
            </a:r>
          </a:p>
        </p:txBody>
      </p:sp>
      <p:sp>
        <p:nvSpPr>
          <p:cNvPr id="10" name="TextBox 9"/>
          <p:cNvSpPr txBox="1"/>
          <p:nvPr/>
        </p:nvSpPr>
        <p:spPr>
          <a:xfrm>
            <a:off x="886968" y="2103120"/>
            <a:ext cx="3026664" cy="841247"/>
          </a:xfrm>
          <a:prstGeom prst="rect">
            <a:avLst/>
          </a:prstGeom>
          <a:noFill/>
        </p:spPr>
        <p:txBody>
          <a:bodyPr wrap="square" lIns="45720" rIns="45720" anchor="t">
            <a:spAutoFit/>
          </a:bodyPr>
          <a:lstStyle/>
          <a:p>
            <a:pPr algn="l"/>
            <a:r>
              <a:rPr sz="919" b="0">
                <a:solidFill>
                  <a:srgbClr val="677082"/>
                </a:solidFill>
                <a:latin typeface="Aptos"/>
              </a:rPr>
              <a:t>Web applications using PHP, MySQL and JavaScript</a:t>
            </a:r>
          </a:p>
        </p:txBody>
      </p:sp>
      <p:sp>
        <p:nvSpPr>
          <p:cNvPr id="11" name="Rounded Rectangle 10"/>
          <p:cNvSpPr/>
          <p:nvPr/>
        </p:nvSpPr>
        <p:spPr>
          <a:xfrm>
            <a:off x="4507992" y="1508760"/>
            <a:ext cx="3429000" cy="15727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709159" y="170992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02</a:t>
            </a:r>
          </a:p>
        </p:txBody>
      </p:sp>
      <p:sp>
        <p:nvSpPr>
          <p:cNvPr id="13" name="TextBox 12"/>
          <p:cNvSpPr txBox="1"/>
          <p:nvPr/>
        </p:nvSpPr>
        <p:spPr>
          <a:xfrm>
            <a:off x="5166359" y="1673351"/>
            <a:ext cx="2633472" cy="310896"/>
          </a:xfrm>
          <a:prstGeom prst="rect">
            <a:avLst/>
          </a:prstGeom>
          <a:noFill/>
        </p:spPr>
        <p:txBody>
          <a:bodyPr wrap="square" lIns="45720" rIns="45720" anchor="t">
            <a:spAutoFit/>
          </a:bodyPr>
          <a:lstStyle/>
          <a:p>
            <a:pPr algn="l"/>
            <a:r>
              <a:rPr sz="1150" b="1">
                <a:solidFill>
                  <a:srgbClr val="34425F"/>
                </a:solidFill>
                <a:latin typeface="Aptos"/>
              </a:rPr>
              <a:t>AI Integration</a:t>
            </a:r>
          </a:p>
        </p:txBody>
      </p:sp>
      <p:sp>
        <p:nvSpPr>
          <p:cNvPr id="14" name="TextBox 13"/>
          <p:cNvSpPr txBox="1"/>
          <p:nvPr/>
        </p:nvSpPr>
        <p:spPr>
          <a:xfrm>
            <a:off x="4709159" y="2103120"/>
            <a:ext cx="3026664" cy="841247"/>
          </a:xfrm>
          <a:prstGeom prst="rect">
            <a:avLst/>
          </a:prstGeom>
          <a:noFill/>
        </p:spPr>
        <p:txBody>
          <a:bodyPr wrap="square" lIns="45720" rIns="45720" anchor="t">
            <a:spAutoFit/>
          </a:bodyPr>
          <a:lstStyle/>
          <a:p>
            <a:pPr algn="l"/>
            <a:r>
              <a:rPr sz="919" b="0">
                <a:solidFill>
                  <a:srgbClr val="677082"/>
                </a:solidFill>
                <a:latin typeface="Aptos"/>
              </a:rPr>
              <a:t>Gemini and generative AI workflows</a:t>
            </a:r>
          </a:p>
        </p:txBody>
      </p:sp>
      <p:sp>
        <p:nvSpPr>
          <p:cNvPr id="15" name="Rounded Rectangle 14"/>
          <p:cNvSpPr/>
          <p:nvPr/>
        </p:nvSpPr>
        <p:spPr>
          <a:xfrm>
            <a:off x="8330183" y="1508760"/>
            <a:ext cx="3429000" cy="15727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531352" y="170992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03</a:t>
            </a:r>
          </a:p>
        </p:txBody>
      </p:sp>
      <p:sp>
        <p:nvSpPr>
          <p:cNvPr id="17" name="TextBox 16"/>
          <p:cNvSpPr txBox="1"/>
          <p:nvPr/>
        </p:nvSpPr>
        <p:spPr>
          <a:xfrm>
            <a:off x="8988552" y="1673351"/>
            <a:ext cx="2633471" cy="310896"/>
          </a:xfrm>
          <a:prstGeom prst="rect">
            <a:avLst/>
          </a:prstGeom>
          <a:noFill/>
        </p:spPr>
        <p:txBody>
          <a:bodyPr wrap="square" lIns="45720" rIns="45720" anchor="t">
            <a:spAutoFit/>
          </a:bodyPr>
          <a:lstStyle/>
          <a:p>
            <a:pPr algn="l"/>
            <a:r>
              <a:rPr sz="1150" b="1">
                <a:solidFill>
                  <a:srgbClr val="34425F"/>
                </a:solidFill>
                <a:latin typeface="Aptos"/>
              </a:rPr>
              <a:t>Emergency Systems</a:t>
            </a:r>
          </a:p>
        </p:txBody>
      </p:sp>
      <p:sp>
        <p:nvSpPr>
          <p:cNvPr id="18" name="TextBox 17"/>
          <p:cNvSpPr txBox="1"/>
          <p:nvPr/>
        </p:nvSpPr>
        <p:spPr>
          <a:xfrm>
            <a:off x="8531352" y="2103120"/>
            <a:ext cx="3026664" cy="841247"/>
          </a:xfrm>
          <a:prstGeom prst="rect">
            <a:avLst/>
          </a:prstGeom>
          <a:noFill/>
        </p:spPr>
        <p:txBody>
          <a:bodyPr wrap="square" lIns="45720" rIns="45720" anchor="t">
            <a:spAutoFit/>
          </a:bodyPr>
          <a:lstStyle/>
          <a:p>
            <a:pPr algn="l"/>
            <a:r>
              <a:rPr sz="919" b="0">
                <a:solidFill>
                  <a:srgbClr val="677082"/>
                </a:solidFill>
                <a:latin typeface="Aptos"/>
              </a:rPr>
              <a:t>SMS gateways and incident processing</a:t>
            </a:r>
          </a:p>
        </p:txBody>
      </p:sp>
      <p:sp>
        <p:nvSpPr>
          <p:cNvPr id="19" name="Rounded Rectangle 18"/>
          <p:cNvSpPr/>
          <p:nvPr/>
        </p:nvSpPr>
        <p:spPr>
          <a:xfrm>
            <a:off x="685800" y="3474720"/>
            <a:ext cx="3429000" cy="15727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86968" y="367588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04</a:t>
            </a:r>
          </a:p>
        </p:txBody>
      </p:sp>
      <p:sp>
        <p:nvSpPr>
          <p:cNvPr id="21" name="TextBox 20"/>
          <p:cNvSpPr txBox="1"/>
          <p:nvPr/>
        </p:nvSpPr>
        <p:spPr>
          <a:xfrm>
            <a:off x="1344168" y="3639312"/>
            <a:ext cx="2633472" cy="310896"/>
          </a:xfrm>
          <a:prstGeom prst="rect">
            <a:avLst/>
          </a:prstGeom>
          <a:noFill/>
        </p:spPr>
        <p:txBody>
          <a:bodyPr wrap="square" lIns="45720" rIns="45720" anchor="t">
            <a:spAutoFit/>
          </a:bodyPr>
          <a:lstStyle/>
          <a:p>
            <a:pPr algn="l"/>
            <a:r>
              <a:rPr sz="1150" b="1">
                <a:solidFill>
                  <a:srgbClr val="34425F"/>
                </a:solidFill>
                <a:latin typeface="Aptos"/>
              </a:rPr>
              <a:t>3D &amp; Maps</a:t>
            </a:r>
          </a:p>
        </p:txBody>
      </p:sp>
      <p:sp>
        <p:nvSpPr>
          <p:cNvPr id="22" name="TextBox 21"/>
          <p:cNvSpPr txBox="1"/>
          <p:nvPr/>
        </p:nvSpPr>
        <p:spPr>
          <a:xfrm>
            <a:off x="886968" y="4069080"/>
            <a:ext cx="3026664" cy="841247"/>
          </a:xfrm>
          <a:prstGeom prst="rect">
            <a:avLst/>
          </a:prstGeom>
          <a:noFill/>
        </p:spPr>
        <p:txBody>
          <a:bodyPr wrap="square" lIns="45720" rIns="45720" anchor="t">
            <a:spAutoFit/>
          </a:bodyPr>
          <a:lstStyle/>
          <a:p>
            <a:pPr algn="l"/>
            <a:r>
              <a:rPr sz="919" b="0">
                <a:solidFill>
                  <a:srgbClr val="677082"/>
                </a:solidFill>
                <a:latin typeface="Aptos"/>
              </a:rPr>
              <a:t>Digital twins, WebGL, GPS and offline mapping</a:t>
            </a:r>
          </a:p>
        </p:txBody>
      </p:sp>
      <p:sp>
        <p:nvSpPr>
          <p:cNvPr id="23" name="Rounded Rectangle 22"/>
          <p:cNvSpPr/>
          <p:nvPr/>
        </p:nvSpPr>
        <p:spPr>
          <a:xfrm>
            <a:off x="4507992" y="3474720"/>
            <a:ext cx="3429000" cy="15727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709159" y="367588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05</a:t>
            </a:r>
          </a:p>
        </p:txBody>
      </p:sp>
      <p:sp>
        <p:nvSpPr>
          <p:cNvPr id="25" name="TextBox 24"/>
          <p:cNvSpPr txBox="1"/>
          <p:nvPr/>
        </p:nvSpPr>
        <p:spPr>
          <a:xfrm>
            <a:off x="5166359" y="3639312"/>
            <a:ext cx="2633472" cy="310896"/>
          </a:xfrm>
          <a:prstGeom prst="rect">
            <a:avLst/>
          </a:prstGeom>
          <a:noFill/>
        </p:spPr>
        <p:txBody>
          <a:bodyPr wrap="square" lIns="45720" rIns="45720" anchor="t">
            <a:spAutoFit/>
          </a:bodyPr>
          <a:lstStyle/>
          <a:p>
            <a:pPr algn="l"/>
            <a:r>
              <a:rPr sz="1150" b="1">
                <a:solidFill>
                  <a:srgbClr val="34425F"/>
                </a:solidFill>
                <a:latin typeface="Aptos"/>
              </a:rPr>
              <a:t>Security</a:t>
            </a:r>
          </a:p>
        </p:txBody>
      </p:sp>
      <p:sp>
        <p:nvSpPr>
          <p:cNvPr id="26" name="TextBox 25"/>
          <p:cNvSpPr txBox="1"/>
          <p:nvPr/>
        </p:nvSpPr>
        <p:spPr>
          <a:xfrm>
            <a:off x="4709159" y="4069080"/>
            <a:ext cx="3026664" cy="841247"/>
          </a:xfrm>
          <a:prstGeom prst="rect">
            <a:avLst/>
          </a:prstGeom>
          <a:noFill/>
        </p:spPr>
        <p:txBody>
          <a:bodyPr wrap="square" lIns="45720" rIns="45720" anchor="t">
            <a:spAutoFit/>
          </a:bodyPr>
          <a:lstStyle/>
          <a:p>
            <a:pPr algn="l"/>
            <a:r>
              <a:rPr sz="919" b="0">
                <a:solidFill>
                  <a:srgbClr val="677082"/>
                </a:solidFill>
                <a:latin typeface="Aptos"/>
              </a:rPr>
              <a:t>Authentication, RBAC and secure sessions</a:t>
            </a:r>
          </a:p>
        </p:txBody>
      </p:sp>
      <p:sp>
        <p:nvSpPr>
          <p:cNvPr id="27" name="Rounded Rectangle 26"/>
          <p:cNvSpPr/>
          <p:nvPr/>
        </p:nvSpPr>
        <p:spPr>
          <a:xfrm>
            <a:off x="8330183" y="3474720"/>
            <a:ext cx="3429000" cy="15727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531352" y="367588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06</a:t>
            </a:r>
          </a:p>
        </p:txBody>
      </p:sp>
      <p:sp>
        <p:nvSpPr>
          <p:cNvPr id="29" name="TextBox 28"/>
          <p:cNvSpPr txBox="1"/>
          <p:nvPr/>
        </p:nvSpPr>
        <p:spPr>
          <a:xfrm>
            <a:off x="8988552" y="3639312"/>
            <a:ext cx="2633471" cy="310896"/>
          </a:xfrm>
          <a:prstGeom prst="rect">
            <a:avLst/>
          </a:prstGeom>
          <a:noFill/>
        </p:spPr>
        <p:txBody>
          <a:bodyPr wrap="square" lIns="45720" rIns="45720" anchor="t">
            <a:spAutoFit/>
          </a:bodyPr>
          <a:lstStyle/>
          <a:p>
            <a:pPr algn="l"/>
            <a:r>
              <a:rPr sz="1150" b="1">
                <a:solidFill>
                  <a:srgbClr val="34425F"/>
                </a:solidFill>
                <a:latin typeface="Aptos"/>
              </a:rPr>
              <a:t>APIs</a:t>
            </a:r>
          </a:p>
        </p:txBody>
      </p:sp>
      <p:sp>
        <p:nvSpPr>
          <p:cNvPr id="30" name="TextBox 29"/>
          <p:cNvSpPr txBox="1"/>
          <p:nvPr/>
        </p:nvSpPr>
        <p:spPr>
          <a:xfrm>
            <a:off x="8531352" y="4069080"/>
            <a:ext cx="3026664" cy="841247"/>
          </a:xfrm>
          <a:prstGeom prst="rect">
            <a:avLst/>
          </a:prstGeom>
          <a:noFill/>
        </p:spPr>
        <p:txBody>
          <a:bodyPr wrap="square" lIns="45720" rIns="45720" anchor="t">
            <a:spAutoFit/>
          </a:bodyPr>
          <a:lstStyle/>
          <a:p>
            <a:pPr algn="l"/>
            <a:r>
              <a:rPr sz="919" b="0">
                <a:solidFill>
                  <a:srgbClr val="677082"/>
                </a:solidFill>
                <a:latin typeface="Aptos"/>
              </a:rPr>
              <a:t>REST services, webhooks and integrations</a:t>
            </a:r>
          </a:p>
        </p:txBody>
      </p:sp>
      <p:sp>
        <p:nvSpPr>
          <p:cNvPr id="31" name="Rounded Rectangle 30"/>
          <p:cNvSpPr/>
          <p:nvPr/>
        </p:nvSpPr>
        <p:spPr>
          <a:xfrm>
            <a:off x="685800" y="5486400"/>
            <a:ext cx="10817352" cy="658368"/>
          </a:xfrm>
          <a:prstGeom prst="roundRect">
            <a:avLst/>
          </a:prstGeom>
          <a:solidFill>
            <a:srgbClr val="F6F8FB"/>
          </a:solidFill>
          <a:ln w="8890">
            <a:solidFill>
              <a:srgbClr val="F6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5641848"/>
            <a:ext cx="1417320" cy="182880"/>
          </a:xfrm>
          <a:prstGeom prst="rect">
            <a:avLst/>
          </a:prstGeom>
          <a:noFill/>
        </p:spPr>
        <p:txBody>
          <a:bodyPr wrap="square" lIns="45720" rIns="45720" anchor="t">
            <a:spAutoFit/>
          </a:bodyPr>
          <a:lstStyle/>
          <a:p>
            <a:pPr algn="l"/>
            <a:r>
              <a:rPr sz="900" b="1">
                <a:solidFill>
                  <a:srgbClr val="34425F"/>
                </a:solidFill>
                <a:latin typeface="Aptos"/>
              </a:rPr>
              <a:t>INTERNSHIP FOCUS</a:t>
            </a:r>
          </a:p>
        </p:txBody>
      </p:sp>
      <p:sp>
        <p:nvSpPr>
          <p:cNvPr id="33" name="TextBox 32"/>
          <p:cNvSpPr txBox="1"/>
          <p:nvPr/>
        </p:nvSpPr>
        <p:spPr>
          <a:xfrm>
            <a:off x="2331720" y="5577840"/>
            <a:ext cx="8732520" cy="310896"/>
          </a:xfrm>
          <a:prstGeom prst="rect">
            <a:avLst/>
          </a:prstGeom>
          <a:noFill/>
        </p:spPr>
        <p:txBody>
          <a:bodyPr wrap="square" lIns="45720" rIns="45720" anchor="t">
            <a:spAutoFit/>
          </a:bodyPr>
          <a:lstStyle/>
          <a:p>
            <a:pPr algn="l"/>
            <a:r>
              <a:rPr sz="1100" b="0">
                <a:solidFill>
                  <a:srgbClr val="677082"/>
                </a:solidFill>
                <a:latin typeface="Aptos"/>
              </a:rPr>
              <a:t>Build systems → Understand architecture → Integrate AI → Solve practical engineering problems → Deploy secure applications</a:t>
            </a:r>
          </a:p>
        </p:txBody>
      </p:sp>
      <p:cxnSp>
        <p:nvCxnSpPr>
          <p:cNvPr id="34" name="Connector 33"/>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36" name="TextBox 35"/>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03</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Objectives of the Internship</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Learning through implementation, integration and engineering problem-solving</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1490472"/>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8" name="TextBox 7"/>
          <p:cNvSpPr txBox="1"/>
          <p:nvPr/>
        </p:nvSpPr>
        <p:spPr>
          <a:xfrm>
            <a:off x="1371600" y="1417320"/>
            <a:ext cx="4754880" cy="502920"/>
          </a:xfrm>
          <a:prstGeom prst="rect">
            <a:avLst/>
          </a:prstGeom>
          <a:noFill/>
        </p:spPr>
        <p:txBody>
          <a:bodyPr wrap="square" lIns="45720" rIns="45720" anchor="t">
            <a:spAutoFit/>
          </a:bodyPr>
          <a:lstStyle/>
          <a:p>
            <a:pPr algn="l"/>
            <a:r>
              <a:rPr sz="1150" b="1">
                <a:solidFill>
                  <a:srgbClr val="262F42"/>
                </a:solidFill>
                <a:latin typeface="Aptos"/>
              </a:rPr>
              <a:t>Gain practical experience in full-stack development using PHP 8+ OOP, MySQL, and JavaScript ES Modules</a:t>
            </a:r>
          </a:p>
        </p:txBody>
      </p:sp>
      <p:cxnSp>
        <p:nvCxnSpPr>
          <p:cNvPr id="9" name="Connector 8"/>
          <p:cNvCxnSpPr/>
          <p:nvPr/>
        </p:nvCxnSpPr>
        <p:spPr>
          <a:xfrm>
            <a:off x="1371600" y="1993392"/>
            <a:ext cx="4663440" cy="0"/>
          </a:xfrm>
          <a:prstGeom prst="line">
            <a:avLst/>
          </a:prstGeom>
          <a:ln w="7620">
            <a:solidFill>
              <a:srgbClr val="DCE1E9"/>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400800" y="1490472"/>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11" name="TextBox 10"/>
          <p:cNvSpPr txBox="1"/>
          <p:nvPr/>
        </p:nvSpPr>
        <p:spPr>
          <a:xfrm>
            <a:off x="6995160" y="1417320"/>
            <a:ext cx="4754880" cy="502920"/>
          </a:xfrm>
          <a:prstGeom prst="rect">
            <a:avLst/>
          </a:prstGeom>
          <a:noFill/>
        </p:spPr>
        <p:txBody>
          <a:bodyPr wrap="square" lIns="45720" rIns="45720" anchor="t">
            <a:spAutoFit/>
          </a:bodyPr>
          <a:lstStyle/>
          <a:p>
            <a:pPr algn="l"/>
            <a:r>
              <a:rPr sz="1150" b="1">
                <a:solidFill>
                  <a:srgbClr val="262F42"/>
                </a:solidFill>
                <a:latin typeface="Aptos"/>
              </a:rPr>
              <a:t>Develop real-world software applications</a:t>
            </a:r>
          </a:p>
        </p:txBody>
      </p:sp>
      <p:cxnSp>
        <p:nvCxnSpPr>
          <p:cNvPr id="12" name="Connector 11"/>
          <p:cNvCxnSpPr/>
          <p:nvPr/>
        </p:nvCxnSpPr>
        <p:spPr>
          <a:xfrm>
            <a:off x="6995160" y="1993392"/>
            <a:ext cx="4663440" cy="0"/>
          </a:xfrm>
          <a:prstGeom prst="line">
            <a:avLst/>
          </a:prstGeom>
          <a:ln w="7620">
            <a:solidFill>
              <a:srgbClr val="DCE1E9"/>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77240" y="2606040"/>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14" name="TextBox 13"/>
          <p:cNvSpPr txBox="1"/>
          <p:nvPr/>
        </p:nvSpPr>
        <p:spPr>
          <a:xfrm>
            <a:off x="1371600" y="2532888"/>
            <a:ext cx="4754880" cy="502920"/>
          </a:xfrm>
          <a:prstGeom prst="rect">
            <a:avLst/>
          </a:prstGeom>
          <a:noFill/>
        </p:spPr>
        <p:txBody>
          <a:bodyPr wrap="square" lIns="45720" rIns="45720" anchor="t">
            <a:spAutoFit/>
          </a:bodyPr>
          <a:lstStyle/>
          <a:p>
            <a:pPr algn="l"/>
            <a:r>
              <a:rPr sz="1150" b="1">
                <a:solidFill>
                  <a:srgbClr val="262F42"/>
                </a:solidFill>
                <a:latin typeface="Aptos"/>
              </a:rPr>
              <a:t>Understand backend architecture and database design</a:t>
            </a:r>
          </a:p>
        </p:txBody>
      </p:sp>
      <p:cxnSp>
        <p:nvCxnSpPr>
          <p:cNvPr id="15" name="Connector 14"/>
          <p:cNvCxnSpPr/>
          <p:nvPr/>
        </p:nvCxnSpPr>
        <p:spPr>
          <a:xfrm>
            <a:off x="1371600" y="3108960"/>
            <a:ext cx="4663440" cy="0"/>
          </a:xfrm>
          <a:prstGeom prst="line">
            <a:avLst/>
          </a:prstGeom>
          <a:ln w="7620">
            <a:solidFill>
              <a:srgbClr val="DCE1E9"/>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400800" y="2606040"/>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17" name="TextBox 16"/>
          <p:cNvSpPr txBox="1"/>
          <p:nvPr/>
        </p:nvSpPr>
        <p:spPr>
          <a:xfrm>
            <a:off x="6995160" y="2532888"/>
            <a:ext cx="4754880" cy="502920"/>
          </a:xfrm>
          <a:prstGeom prst="rect">
            <a:avLst/>
          </a:prstGeom>
          <a:noFill/>
        </p:spPr>
        <p:txBody>
          <a:bodyPr wrap="square" lIns="45720" rIns="45720" anchor="t">
            <a:spAutoFit/>
          </a:bodyPr>
          <a:lstStyle/>
          <a:p>
            <a:pPr algn="l"/>
            <a:r>
              <a:rPr sz="1150" b="1">
                <a:solidFill>
                  <a:srgbClr val="262F42"/>
                </a:solidFill>
                <a:latin typeface="Aptos"/>
              </a:rPr>
              <a:t>Implement secure authentication with CSRF protection, rate limiting, session management, and role-based access control (RBAC)</a:t>
            </a:r>
          </a:p>
        </p:txBody>
      </p:sp>
      <p:cxnSp>
        <p:nvCxnSpPr>
          <p:cNvPr id="18" name="Connector 17"/>
          <p:cNvCxnSpPr/>
          <p:nvPr/>
        </p:nvCxnSpPr>
        <p:spPr>
          <a:xfrm>
            <a:off x="6995160" y="3108960"/>
            <a:ext cx="4663440" cy="0"/>
          </a:xfrm>
          <a:prstGeom prst="line">
            <a:avLst/>
          </a:prstGeom>
          <a:ln w="7620">
            <a:solidFill>
              <a:srgbClr val="DCE1E9"/>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77240" y="3721608"/>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5</a:t>
            </a:r>
          </a:p>
        </p:txBody>
      </p:sp>
      <p:sp>
        <p:nvSpPr>
          <p:cNvPr id="20" name="TextBox 19"/>
          <p:cNvSpPr txBox="1"/>
          <p:nvPr/>
        </p:nvSpPr>
        <p:spPr>
          <a:xfrm>
            <a:off x="1371600" y="3648456"/>
            <a:ext cx="4754880" cy="502920"/>
          </a:xfrm>
          <a:prstGeom prst="rect">
            <a:avLst/>
          </a:prstGeom>
          <a:noFill/>
        </p:spPr>
        <p:txBody>
          <a:bodyPr wrap="square" lIns="45720" rIns="45720" anchor="t">
            <a:spAutoFit/>
          </a:bodyPr>
          <a:lstStyle/>
          <a:p>
            <a:pPr algn="l"/>
            <a:r>
              <a:rPr sz="1150" b="1">
                <a:solidFill>
                  <a:srgbClr val="262F42"/>
                </a:solidFill>
                <a:latin typeface="Aptos"/>
              </a:rPr>
              <a:t>Explore Google Gemini API and FLUX.1 for generative AI — including prompt engineering and structured output handling</a:t>
            </a:r>
          </a:p>
        </p:txBody>
      </p:sp>
      <p:cxnSp>
        <p:nvCxnSpPr>
          <p:cNvPr id="21" name="Connector 20"/>
          <p:cNvCxnSpPr/>
          <p:nvPr/>
        </p:nvCxnSpPr>
        <p:spPr>
          <a:xfrm>
            <a:off x="1371600" y="4224528"/>
            <a:ext cx="4663440" cy="0"/>
          </a:xfrm>
          <a:prstGeom prst="line">
            <a:avLst/>
          </a:prstGeom>
          <a:ln w="7620">
            <a:solidFill>
              <a:srgbClr val="DCE1E9"/>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400800" y="3721608"/>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6</a:t>
            </a:r>
          </a:p>
        </p:txBody>
      </p:sp>
      <p:sp>
        <p:nvSpPr>
          <p:cNvPr id="23" name="TextBox 22"/>
          <p:cNvSpPr txBox="1"/>
          <p:nvPr/>
        </p:nvSpPr>
        <p:spPr>
          <a:xfrm>
            <a:off x="6995160" y="3648456"/>
            <a:ext cx="4754880" cy="502920"/>
          </a:xfrm>
          <a:prstGeom prst="rect">
            <a:avLst/>
          </a:prstGeom>
          <a:noFill/>
        </p:spPr>
        <p:txBody>
          <a:bodyPr wrap="square" lIns="45720" rIns="45720" anchor="t">
            <a:spAutoFit/>
          </a:bodyPr>
          <a:lstStyle/>
          <a:p>
            <a:pPr algn="l"/>
            <a:r>
              <a:rPr sz="1150" b="1">
                <a:solidFill>
                  <a:srgbClr val="262F42"/>
                </a:solidFill>
                <a:latin typeface="Aptos"/>
              </a:rPr>
              <a:t>Build emergency &amp; disaster management solutions using hybrid NLP pipelines, SMS gateways, and GPS mapping</a:t>
            </a:r>
          </a:p>
        </p:txBody>
      </p:sp>
      <p:cxnSp>
        <p:nvCxnSpPr>
          <p:cNvPr id="24" name="Connector 23"/>
          <p:cNvCxnSpPr/>
          <p:nvPr/>
        </p:nvCxnSpPr>
        <p:spPr>
          <a:xfrm>
            <a:off x="6995160" y="4224528"/>
            <a:ext cx="4663440" cy="0"/>
          </a:xfrm>
          <a:prstGeom prst="line">
            <a:avLst/>
          </a:prstGeom>
          <a:ln w="7620">
            <a:solidFill>
              <a:srgbClr val="DCE1E9"/>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77240" y="4837176"/>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7</a:t>
            </a:r>
          </a:p>
        </p:txBody>
      </p:sp>
      <p:sp>
        <p:nvSpPr>
          <p:cNvPr id="26" name="TextBox 25"/>
          <p:cNvSpPr txBox="1"/>
          <p:nvPr/>
        </p:nvSpPr>
        <p:spPr>
          <a:xfrm>
            <a:off x="1371600" y="4764024"/>
            <a:ext cx="4754880" cy="502920"/>
          </a:xfrm>
          <a:prstGeom prst="rect">
            <a:avLst/>
          </a:prstGeom>
          <a:noFill/>
        </p:spPr>
        <p:txBody>
          <a:bodyPr wrap="square" lIns="45720" rIns="45720" anchor="t">
            <a:spAutoFit/>
          </a:bodyPr>
          <a:lstStyle/>
          <a:p>
            <a:pPr algn="l"/>
            <a:r>
              <a:rPr sz="1150" b="1">
                <a:solidFill>
                  <a:srgbClr val="262F42"/>
                </a:solidFill>
                <a:latin typeface="Aptos"/>
              </a:rPr>
              <a:t>Work with APIs, webhooks and external services</a:t>
            </a:r>
          </a:p>
        </p:txBody>
      </p:sp>
      <p:cxnSp>
        <p:nvCxnSpPr>
          <p:cNvPr id="27" name="Connector 26"/>
          <p:cNvCxnSpPr/>
          <p:nvPr/>
        </p:nvCxnSpPr>
        <p:spPr>
          <a:xfrm>
            <a:off x="1371600" y="5340096"/>
            <a:ext cx="4663440" cy="0"/>
          </a:xfrm>
          <a:prstGeom prst="line">
            <a:avLst/>
          </a:prstGeom>
          <a:ln w="7620">
            <a:solidFill>
              <a:srgbClr val="DCE1E9"/>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6400800" y="4837176"/>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8</a:t>
            </a:r>
          </a:p>
        </p:txBody>
      </p:sp>
      <p:sp>
        <p:nvSpPr>
          <p:cNvPr id="29" name="TextBox 28"/>
          <p:cNvSpPr txBox="1"/>
          <p:nvPr/>
        </p:nvSpPr>
        <p:spPr>
          <a:xfrm>
            <a:off x="6995160" y="4764024"/>
            <a:ext cx="4754880" cy="502920"/>
          </a:xfrm>
          <a:prstGeom prst="rect">
            <a:avLst/>
          </a:prstGeom>
          <a:noFill/>
        </p:spPr>
        <p:txBody>
          <a:bodyPr wrap="square" lIns="45720" rIns="45720" anchor="t">
            <a:spAutoFit/>
          </a:bodyPr>
          <a:lstStyle/>
          <a:p>
            <a:pPr algn="l"/>
            <a:r>
              <a:rPr sz="1150" b="1">
                <a:solidFill>
                  <a:srgbClr val="262F42"/>
                </a:solidFill>
                <a:latin typeface="Aptos"/>
              </a:rPr>
              <a:t>Improve debugging and software engineering skills</a:t>
            </a:r>
          </a:p>
        </p:txBody>
      </p:sp>
      <p:cxnSp>
        <p:nvCxnSpPr>
          <p:cNvPr id="30" name="Connector 29"/>
          <p:cNvCxnSpPr/>
          <p:nvPr/>
        </p:nvCxnSpPr>
        <p:spPr>
          <a:xfrm>
            <a:off x="6995160" y="5340096"/>
            <a:ext cx="4663440" cy="0"/>
          </a:xfrm>
          <a:prstGeom prst="line">
            <a:avLst/>
          </a:prstGeom>
          <a:ln w="7620">
            <a:solidFill>
              <a:srgbClr val="DCE1E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33" name="TextBox 32"/>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04</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Technology Stack Used</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A layered technology ecosystem spanning backend, frontend, AI and advanced visualization</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371600"/>
            <a:ext cx="5120640" cy="12618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60120" y="1618488"/>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9" name="TextBox 8"/>
          <p:cNvSpPr txBox="1"/>
          <p:nvPr/>
        </p:nvSpPr>
        <p:spPr>
          <a:xfrm>
            <a:off x="1508760" y="1536192"/>
            <a:ext cx="4069080" cy="256032"/>
          </a:xfrm>
          <a:prstGeom prst="rect">
            <a:avLst/>
          </a:prstGeom>
          <a:noFill/>
        </p:spPr>
        <p:txBody>
          <a:bodyPr wrap="square" lIns="45720" rIns="45720" anchor="t">
            <a:spAutoFit/>
          </a:bodyPr>
          <a:lstStyle/>
          <a:p>
            <a:pPr algn="l"/>
            <a:r>
              <a:rPr sz="1200" b="1">
                <a:solidFill>
                  <a:srgbClr val="34425F"/>
                </a:solidFill>
                <a:latin typeface="Aptos"/>
              </a:rPr>
              <a:t>Backend</a:t>
            </a:r>
          </a:p>
        </p:txBody>
      </p:sp>
      <p:sp>
        <p:nvSpPr>
          <p:cNvPr id="10" name="TextBox 9"/>
          <p:cNvSpPr txBox="1"/>
          <p:nvPr/>
        </p:nvSpPr>
        <p:spPr>
          <a:xfrm>
            <a:off x="987552" y="1965960"/>
            <a:ext cx="4572000" cy="475488"/>
          </a:xfrm>
          <a:prstGeom prst="rect">
            <a:avLst/>
          </a:prstGeom>
          <a:noFill/>
        </p:spPr>
        <p:txBody>
          <a:bodyPr wrap="square" lIns="45720" rIns="45720" anchor="t">
            <a:spAutoFit/>
          </a:bodyPr>
          <a:lstStyle/>
          <a:p>
            <a:pPr algn="l"/>
            <a:r>
              <a:rPr sz="950" b="0">
                <a:solidFill>
                  <a:srgbClr val="677082"/>
                </a:solidFill>
                <a:latin typeface="Aptos"/>
              </a:rPr>
              <a:t>PHP 8+ • OOP • Service Layer • Repository Pattern • REST APIs</a:t>
            </a:r>
          </a:p>
        </p:txBody>
      </p:sp>
      <p:sp>
        <p:nvSpPr>
          <p:cNvPr id="11" name="Rounded Rectangle 10"/>
          <p:cNvSpPr/>
          <p:nvPr/>
        </p:nvSpPr>
        <p:spPr>
          <a:xfrm>
            <a:off x="6263640" y="1371600"/>
            <a:ext cx="5120640" cy="12618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92240" y="1618488"/>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13" name="TextBox 12"/>
          <p:cNvSpPr txBox="1"/>
          <p:nvPr/>
        </p:nvSpPr>
        <p:spPr>
          <a:xfrm>
            <a:off x="7040879" y="1536192"/>
            <a:ext cx="4069080" cy="256032"/>
          </a:xfrm>
          <a:prstGeom prst="rect">
            <a:avLst/>
          </a:prstGeom>
          <a:noFill/>
        </p:spPr>
        <p:txBody>
          <a:bodyPr wrap="square" lIns="45720" rIns="45720" anchor="t">
            <a:spAutoFit/>
          </a:bodyPr>
          <a:lstStyle/>
          <a:p>
            <a:pPr algn="l"/>
            <a:r>
              <a:rPr sz="1200" b="1">
                <a:solidFill>
                  <a:srgbClr val="34425F"/>
                </a:solidFill>
                <a:latin typeface="Aptos"/>
              </a:rPr>
              <a:t>Frontend</a:t>
            </a:r>
          </a:p>
        </p:txBody>
      </p:sp>
      <p:sp>
        <p:nvSpPr>
          <p:cNvPr id="14" name="TextBox 13"/>
          <p:cNvSpPr txBox="1"/>
          <p:nvPr/>
        </p:nvSpPr>
        <p:spPr>
          <a:xfrm>
            <a:off x="6519672" y="1965960"/>
            <a:ext cx="4572000" cy="475488"/>
          </a:xfrm>
          <a:prstGeom prst="rect">
            <a:avLst/>
          </a:prstGeom>
          <a:noFill/>
        </p:spPr>
        <p:txBody>
          <a:bodyPr wrap="square" lIns="45720" rIns="45720" anchor="t">
            <a:spAutoFit/>
          </a:bodyPr>
          <a:lstStyle/>
          <a:p>
            <a:pPr algn="l"/>
            <a:r>
              <a:rPr sz="950" b="0">
                <a:solidFill>
                  <a:srgbClr val="677082"/>
                </a:solidFill>
                <a:latin typeface="Aptos"/>
              </a:rPr>
              <a:t>JavaScript • HTML5 • CSS3 • ES Modules</a:t>
            </a:r>
          </a:p>
        </p:txBody>
      </p:sp>
      <p:sp>
        <p:nvSpPr>
          <p:cNvPr id="15" name="Rounded Rectangle 14"/>
          <p:cNvSpPr/>
          <p:nvPr/>
        </p:nvSpPr>
        <p:spPr>
          <a:xfrm>
            <a:off x="731520" y="2907791"/>
            <a:ext cx="5120640" cy="12618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60120" y="3154679"/>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17" name="TextBox 16"/>
          <p:cNvSpPr txBox="1"/>
          <p:nvPr/>
        </p:nvSpPr>
        <p:spPr>
          <a:xfrm>
            <a:off x="1508760" y="3072384"/>
            <a:ext cx="4069080" cy="256032"/>
          </a:xfrm>
          <a:prstGeom prst="rect">
            <a:avLst/>
          </a:prstGeom>
          <a:noFill/>
        </p:spPr>
        <p:txBody>
          <a:bodyPr wrap="square" lIns="45720" rIns="45720" anchor="t">
            <a:spAutoFit/>
          </a:bodyPr>
          <a:lstStyle/>
          <a:p>
            <a:pPr algn="l"/>
            <a:r>
              <a:rPr sz="1200" b="1">
                <a:solidFill>
                  <a:srgbClr val="34425F"/>
                </a:solidFill>
                <a:latin typeface="Aptos"/>
              </a:rPr>
              <a:t>Database</a:t>
            </a:r>
          </a:p>
        </p:txBody>
      </p:sp>
      <p:sp>
        <p:nvSpPr>
          <p:cNvPr id="18" name="TextBox 17"/>
          <p:cNvSpPr txBox="1"/>
          <p:nvPr/>
        </p:nvSpPr>
        <p:spPr>
          <a:xfrm>
            <a:off x="987552" y="3502151"/>
            <a:ext cx="4572000" cy="475488"/>
          </a:xfrm>
          <a:prstGeom prst="rect">
            <a:avLst/>
          </a:prstGeom>
          <a:noFill/>
        </p:spPr>
        <p:txBody>
          <a:bodyPr wrap="square" lIns="45720" rIns="45720" anchor="t">
            <a:spAutoFit/>
          </a:bodyPr>
          <a:lstStyle/>
          <a:p>
            <a:pPr algn="l"/>
            <a:r>
              <a:rPr sz="950" b="0">
                <a:solidFill>
                  <a:srgbClr val="677082"/>
                </a:solidFill>
                <a:latin typeface="Aptos"/>
              </a:rPr>
              <a:t>MySQL • SQL • PDO • Migrations</a:t>
            </a:r>
          </a:p>
        </p:txBody>
      </p:sp>
      <p:sp>
        <p:nvSpPr>
          <p:cNvPr id="19" name="Rounded Rectangle 18"/>
          <p:cNvSpPr/>
          <p:nvPr/>
        </p:nvSpPr>
        <p:spPr>
          <a:xfrm>
            <a:off x="6263640" y="2907791"/>
            <a:ext cx="5120640" cy="12618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92240" y="3154679"/>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21" name="TextBox 20"/>
          <p:cNvSpPr txBox="1"/>
          <p:nvPr/>
        </p:nvSpPr>
        <p:spPr>
          <a:xfrm>
            <a:off x="7040879" y="3072384"/>
            <a:ext cx="4069080" cy="256032"/>
          </a:xfrm>
          <a:prstGeom prst="rect">
            <a:avLst/>
          </a:prstGeom>
          <a:noFill/>
        </p:spPr>
        <p:txBody>
          <a:bodyPr wrap="square" lIns="45720" rIns="45720" anchor="t">
            <a:spAutoFit/>
          </a:bodyPr>
          <a:lstStyle/>
          <a:p>
            <a:pPr algn="l"/>
            <a:r>
              <a:rPr sz="1200" b="1">
                <a:solidFill>
                  <a:srgbClr val="34425F"/>
                </a:solidFill>
                <a:latin typeface="Aptos"/>
              </a:rPr>
              <a:t>Artificial Intelligence</a:t>
            </a:r>
          </a:p>
        </p:txBody>
      </p:sp>
      <p:sp>
        <p:nvSpPr>
          <p:cNvPr id="22" name="TextBox 21"/>
          <p:cNvSpPr txBox="1"/>
          <p:nvPr/>
        </p:nvSpPr>
        <p:spPr>
          <a:xfrm>
            <a:off x="6519672" y="3502151"/>
            <a:ext cx="4572000" cy="475488"/>
          </a:xfrm>
          <a:prstGeom prst="rect">
            <a:avLst/>
          </a:prstGeom>
          <a:noFill/>
        </p:spPr>
        <p:txBody>
          <a:bodyPr wrap="square" lIns="45720" rIns="45720" anchor="t">
            <a:spAutoFit/>
          </a:bodyPr>
          <a:lstStyle/>
          <a:p>
            <a:pPr algn="l"/>
            <a:r>
              <a:rPr sz="950" b="0">
                <a:solidFill>
                  <a:srgbClr val="677082"/>
                </a:solidFill>
                <a:latin typeface="Aptos"/>
              </a:rPr>
              <a:t>Google Gemini API (multimodal LLM, function calling, structured output) • FLUX.1 (AI image generation) • Prompt Engineering</a:t>
            </a:r>
          </a:p>
        </p:txBody>
      </p:sp>
      <p:sp>
        <p:nvSpPr>
          <p:cNvPr id="23" name="Rounded Rectangle 22"/>
          <p:cNvSpPr/>
          <p:nvPr/>
        </p:nvSpPr>
        <p:spPr>
          <a:xfrm>
            <a:off x="731520" y="4443983"/>
            <a:ext cx="5120640" cy="12618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60120" y="4690871"/>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5</a:t>
            </a:r>
          </a:p>
        </p:txBody>
      </p:sp>
      <p:sp>
        <p:nvSpPr>
          <p:cNvPr id="25" name="TextBox 24"/>
          <p:cNvSpPr txBox="1"/>
          <p:nvPr/>
        </p:nvSpPr>
        <p:spPr>
          <a:xfrm>
            <a:off x="1508760" y="4608575"/>
            <a:ext cx="4069080" cy="256032"/>
          </a:xfrm>
          <a:prstGeom prst="rect">
            <a:avLst/>
          </a:prstGeom>
          <a:noFill/>
        </p:spPr>
        <p:txBody>
          <a:bodyPr wrap="square" lIns="45720" rIns="45720" anchor="t">
            <a:spAutoFit/>
          </a:bodyPr>
          <a:lstStyle/>
          <a:p>
            <a:pPr algn="l"/>
            <a:r>
              <a:rPr sz="1200" b="1">
                <a:solidFill>
                  <a:srgbClr val="34425F"/>
                </a:solidFill>
                <a:latin typeface="Aptos"/>
              </a:rPr>
              <a:t>Advanced Technologies</a:t>
            </a:r>
          </a:p>
        </p:txBody>
      </p:sp>
      <p:sp>
        <p:nvSpPr>
          <p:cNvPr id="26" name="TextBox 25"/>
          <p:cNvSpPr txBox="1"/>
          <p:nvPr/>
        </p:nvSpPr>
        <p:spPr>
          <a:xfrm>
            <a:off x="987552" y="5038344"/>
            <a:ext cx="4572000" cy="475488"/>
          </a:xfrm>
          <a:prstGeom prst="rect">
            <a:avLst/>
          </a:prstGeom>
          <a:noFill/>
        </p:spPr>
        <p:txBody>
          <a:bodyPr wrap="square" lIns="45720" rIns="45720" anchor="t">
            <a:spAutoFit/>
          </a:bodyPr>
          <a:lstStyle/>
          <a:p>
            <a:pPr algn="l"/>
            <a:r>
              <a:rPr sz="950" b="0">
                <a:solidFill>
                  <a:srgbClr val="677082"/>
                </a:solidFill>
                <a:latin typeface="Aptos"/>
              </a:rPr>
              <a:t>Three.js (WebGL 3D, OrbitControls, glTF support) • Cannon-ES (physics engine) • MapLibre GL JS (vector maps, GPS, offline-first)</a:t>
            </a:r>
          </a:p>
        </p:txBody>
      </p:sp>
      <p:sp>
        <p:nvSpPr>
          <p:cNvPr id="27" name="Rounded Rectangle 26"/>
          <p:cNvSpPr/>
          <p:nvPr/>
        </p:nvSpPr>
        <p:spPr>
          <a:xfrm>
            <a:off x="6263640" y="4443983"/>
            <a:ext cx="5120640" cy="12618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492240" y="4690871"/>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6</a:t>
            </a:r>
          </a:p>
        </p:txBody>
      </p:sp>
      <p:sp>
        <p:nvSpPr>
          <p:cNvPr id="29" name="TextBox 28"/>
          <p:cNvSpPr txBox="1"/>
          <p:nvPr/>
        </p:nvSpPr>
        <p:spPr>
          <a:xfrm>
            <a:off x="7040879" y="4608575"/>
            <a:ext cx="4069080" cy="256032"/>
          </a:xfrm>
          <a:prstGeom prst="rect">
            <a:avLst/>
          </a:prstGeom>
          <a:noFill/>
        </p:spPr>
        <p:txBody>
          <a:bodyPr wrap="square" lIns="45720" rIns="45720" anchor="t">
            <a:spAutoFit/>
          </a:bodyPr>
          <a:lstStyle/>
          <a:p>
            <a:pPr algn="l"/>
            <a:r>
              <a:rPr sz="1200" b="1">
                <a:solidFill>
                  <a:srgbClr val="34425F"/>
                </a:solidFill>
                <a:latin typeface="Aptos"/>
              </a:rPr>
              <a:t>Integration &amp; Tools</a:t>
            </a:r>
          </a:p>
        </p:txBody>
      </p:sp>
      <p:sp>
        <p:nvSpPr>
          <p:cNvPr id="30" name="TextBox 29"/>
          <p:cNvSpPr txBox="1"/>
          <p:nvPr/>
        </p:nvSpPr>
        <p:spPr>
          <a:xfrm>
            <a:off x="6519672" y="5038344"/>
            <a:ext cx="4572000" cy="475488"/>
          </a:xfrm>
          <a:prstGeom prst="rect">
            <a:avLst/>
          </a:prstGeom>
          <a:noFill/>
        </p:spPr>
        <p:txBody>
          <a:bodyPr wrap="square" lIns="45720" rIns="45720" anchor="t">
            <a:spAutoFit/>
          </a:bodyPr>
          <a:lstStyle/>
          <a:p>
            <a:pPr algn="l"/>
            <a:r>
              <a:rPr sz="950" b="0">
                <a:solidFill>
                  <a:srgbClr val="677082"/>
                </a:solidFill>
                <a:latin typeface="Aptos"/>
              </a:rPr>
              <a:t>Twilio (cloud SMS, 99.99% uptime SLA, webhook validation) • Android SMS Gateway • WAMP • Apache • Git • ngrok</a:t>
            </a:r>
          </a:p>
        </p:txBody>
      </p:sp>
      <p:cxnSp>
        <p:nvCxnSpPr>
          <p:cNvPr id="31" name="Connector 30"/>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33" name="TextBox 32"/>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05</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Major Projects Developed During Internship</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Five connected projects demonstrating different layers of modern software engineering</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1508760"/>
            <a:ext cx="1993392" cy="352044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4400" y="1755648"/>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01</a:t>
            </a:r>
          </a:p>
        </p:txBody>
      </p:sp>
      <p:sp>
        <p:nvSpPr>
          <p:cNvPr id="9" name="TextBox 8"/>
          <p:cNvSpPr txBox="1"/>
          <p:nvPr/>
        </p:nvSpPr>
        <p:spPr>
          <a:xfrm>
            <a:off x="914400" y="2423160"/>
            <a:ext cx="1554480" cy="594360"/>
          </a:xfrm>
          <a:prstGeom prst="rect">
            <a:avLst/>
          </a:prstGeom>
          <a:noFill/>
        </p:spPr>
        <p:txBody>
          <a:bodyPr wrap="square" lIns="45720" rIns="45720" anchor="t">
            <a:spAutoFit/>
          </a:bodyPr>
          <a:lstStyle/>
          <a:p>
            <a:pPr algn="l"/>
            <a:r>
              <a:rPr sz="1500" b="1">
                <a:solidFill>
                  <a:srgbClr val="34425F"/>
                </a:solidFill>
                <a:latin typeface="Aptos"/>
              </a:rPr>
              <a:t>OmniStock</a:t>
            </a:r>
          </a:p>
        </p:txBody>
      </p:sp>
      <p:sp>
        <p:nvSpPr>
          <p:cNvPr id="10" name="TextBox 9"/>
          <p:cNvSpPr txBox="1"/>
          <p:nvPr/>
        </p:nvSpPr>
        <p:spPr>
          <a:xfrm>
            <a:off x="914400" y="3200400"/>
            <a:ext cx="1536192" cy="731520"/>
          </a:xfrm>
          <a:prstGeom prst="rect">
            <a:avLst/>
          </a:prstGeom>
          <a:noFill/>
        </p:spPr>
        <p:txBody>
          <a:bodyPr wrap="square" lIns="45720" rIns="45720" anchor="t">
            <a:spAutoFit/>
          </a:bodyPr>
          <a:lstStyle/>
          <a:p>
            <a:pPr algn="l"/>
            <a:r>
              <a:rPr sz="950" b="0">
                <a:solidFill>
                  <a:srgbClr val="677082"/>
                </a:solidFill>
                <a:latin typeface="Aptos"/>
              </a:rPr>
              <a:t>Enterprise inventory and warehouse management platform</a:t>
            </a:r>
          </a:p>
        </p:txBody>
      </p:sp>
      <p:sp>
        <p:nvSpPr>
          <p:cNvPr id="11" name="Rounded Rectangle 10"/>
          <p:cNvSpPr/>
          <p:nvPr/>
        </p:nvSpPr>
        <p:spPr>
          <a:xfrm>
            <a:off x="914400" y="4224528"/>
            <a:ext cx="1536192" cy="411480"/>
          </a:xfrm>
          <a:prstGeom prst="roundRect">
            <a:avLst/>
          </a:prstGeom>
          <a:solidFill>
            <a:srgbClr val="E7ECF5"/>
          </a:solidFill>
          <a:ln w="8890">
            <a:solidFill>
              <a:srgbClr val="E7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4334256"/>
            <a:ext cx="1417320" cy="164592"/>
          </a:xfrm>
          <a:prstGeom prst="rect">
            <a:avLst/>
          </a:prstGeom>
          <a:noFill/>
        </p:spPr>
        <p:txBody>
          <a:bodyPr wrap="square" lIns="45720" rIns="45720" anchor="t">
            <a:spAutoFit/>
          </a:bodyPr>
          <a:lstStyle/>
          <a:p>
            <a:pPr algn="ctr"/>
            <a:r>
              <a:rPr sz="770" b="1">
                <a:solidFill>
                  <a:srgbClr val="34425F"/>
                </a:solidFill>
                <a:latin typeface="Aptos"/>
              </a:rPr>
              <a:t>Implemented / Explored</a:t>
            </a:r>
          </a:p>
        </p:txBody>
      </p:sp>
      <p:sp>
        <p:nvSpPr>
          <p:cNvPr id="13" name="Rounded Rectangle 12"/>
          <p:cNvSpPr/>
          <p:nvPr/>
        </p:nvSpPr>
        <p:spPr>
          <a:xfrm>
            <a:off x="2953512" y="1508760"/>
            <a:ext cx="1993392" cy="352044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182112" y="1755648"/>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02</a:t>
            </a:r>
          </a:p>
        </p:txBody>
      </p:sp>
      <p:sp>
        <p:nvSpPr>
          <p:cNvPr id="15" name="TextBox 14"/>
          <p:cNvSpPr txBox="1"/>
          <p:nvPr/>
        </p:nvSpPr>
        <p:spPr>
          <a:xfrm>
            <a:off x="3182112" y="2423160"/>
            <a:ext cx="1554480" cy="594360"/>
          </a:xfrm>
          <a:prstGeom prst="rect">
            <a:avLst/>
          </a:prstGeom>
          <a:noFill/>
        </p:spPr>
        <p:txBody>
          <a:bodyPr wrap="square" lIns="45720" rIns="45720" anchor="t">
            <a:spAutoFit/>
          </a:bodyPr>
          <a:lstStyle/>
          <a:p>
            <a:pPr algn="l"/>
            <a:r>
              <a:rPr sz="1500" b="1">
                <a:solidFill>
                  <a:srgbClr val="34425F"/>
                </a:solidFill>
                <a:latin typeface="Aptos"/>
              </a:rPr>
              <a:t>Digital Twin</a:t>
            </a:r>
          </a:p>
        </p:txBody>
      </p:sp>
      <p:sp>
        <p:nvSpPr>
          <p:cNvPr id="16" name="TextBox 15"/>
          <p:cNvSpPr txBox="1"/>
          <p:nvPr/>
        </p:nvSpPr>
        <p:spPr>
          <a:xfrm>
            <a:off x="3182112" y="3200400"/>
            <a:ext cx="1536192" cy="731520"/>
          </a:xfrm>
          <a:prstGeom prst="rect">
            <a:avLst/>
          </a:prstGeom>
          <a:noFill/>
        </p:spPr>
        <p:txBody>
          <a:bodyPr wrap="square" lIns="45720" rIns="45720" anchor="t">
            <a:spAutoFit/>
          </a:bodyPr>
          <a:lstStyle/>
          <a:p>
            <a:pPr algn="l"/>
            <a:r>
              <a:rPr sz="950" b="0">
                <a:solidFill>
                  <a:srgbClr val="677082"/>
                </a:solidFill>
                <a:latin typeface="Aptos"/>
              </a:rPr>
              <a:t>3D warehouse visualization using WebGL</a:t>
            </a:r>
          </a:p>
        </p:txBody>
      </p:sp>
      <p:sp>
        <p:nvSpPr>
          <p:cNvPr id="17" name="Rounded Rectangle 16"/>
          <p:cNvSpPr/>
          <p:nvPr/>
        </p:nvSpPr>
        <p:spPr>
          <a:xfrm>
            <a:off x="3182112" y="4224528"/>
            <a:ext cx="1536192" cy="411480"/>
          </a:xfrm>
          <a:prstGeom prst="roundRect">
            <a:avLst/>
          </a:prstGeom>
          <a:solidFill>
            <a:srgbClr val="E7ECF5"/>
          </a:solidFill>
          <a:ln w="8890">
            <a:solidFill>
              <a:srgbClr val="E7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46120" y="4334256"/>
            <a:ext cx="1417320" cy="164592"/>
          </a:xfrm>
          <a:prstGeom prst="rect">
            <a:avLst/>
          </a:prstGeom>
          <a:noFill/>
        </p:spPr>
        <p:txBody>
          <a:bodyPr wrap="square" lIns="45720" rIns="45720" anchor="t">
            <a:spAutoFit/>
          </a:bodyPr>
          <a:lstStyle/>
          <a:p>
            <a:pPr algn="ctr"/>
            <a:r>
              <a:rPr sz="770" b="1">
                <a:solidFill>
                  <a:srgbClr val="34425F"/>
                </a:solidFill>
                <a:latin typeface="Aptos"/>
              </a:rPr>
              <a:t>Implemented / Explored</a:t>
            </a:r>
          </a:p>
        </p:txBody>
      </p:sp>
      <p:sp>
        <p:nvSpPr>
          <p:cNvPr id="19" name="Rounded Rectangle 18"/>
          <p:cNvSpPr/>
          <p:nvPr/>
        </p:nvSpPr>
        <p:spPr>
          <a:xfrm>
            <a:off x="5221224" y="1508760"/>
            <a:ext cx="1993392" cy="352044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449824" y="1755648"/>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03</a:t>
            </a:r>
          </a:p>
        </p:txBody>
      </p:sp>
      <p:sp>
        <p:nvSpPr>
          <p:cNvPr id="21" name="TextBox 20"/>
          <p:cNvSpPr txBox="1"/>
          <p:nvPr/>
        </p:nvSpPr>
        <p:spPr>
          <a:xfrm>
            <a:off x="5449824" y="2423160"/>
            <a:ext cx="1554480" cy="594360"/>
          </a:xfrm>
          <a:prstGeom prst="rect">
            <a:avLst/>
          </a:prstGeom>
          <a:noFill/>
        </p:spPr>
        <p:txBody>
          <a:bodyPr wrap="square" lIns="45720" rIns="45720" anchor="t">
            <a:spAutoFit/>
          </a:bodyPr>
          <a:lstStyle/>
          <a:p>
            <a:pPr algn="l"/>
            <a:r>
              <a:rPr sz="1500" b="1">
                <a:solidFill>
                  <a:srgbClr val="34425F"/>
                </a:solidFill>
                <a:latin typeface="Aptos"/>
              </a:rPr>
              <a:t>AI SMS Gateway</a:t>
            </a:r>
          </a:p>
        </p:txBody>
      </p:sp>
      <p:sp>
        <p:nvSpPr>
          <p:cNvPr id="22" name="TextBox 21"/>
          <p:cNvSpPr txBox="1"/>
          <p:nvPr/>
        </p:nvSpPr>
        <p:spPr>
          <a:xfrm>
            <a:off x="5449824" y="3200400"/>
            <a:ext cx="1536192" cy="731520"/>
          </a:xfrm>
          <a:prstGeom prst="rect">
            <a:avLst/>
          </a:prstGeom>
          <a:noFill/>
        </p:spPr>
        <p:txBody>
          <a:bodyPr wrap="square" lIns="45720" rIns="45720" anchor="t">
            <a:spAutoFit/>
          </a:bodyPr>
          <a:lstStyle/>
          <a:p>
            <a:pPr algn="l"/>
            <a:r>
              <a:rPr sz="950" b="0">
                <a:solidFill>
                  <a:srgbClr val="677082"/>
                </a:solidFill>
                <a:latin typeface="Aptos"/>
              </a:rPr>
              <a:t>Hybrid NLP + Gemini AI emergency SMS processing pipeline</a:t>
            </a:r>
          </a:p>
        </p:txBody>
      </p:sp>
      <p:sp>
        <p:nvSpPr>
          <p:cNvPr id="23" name="Rounded Rectangle 22"/>
          <p:cNvSpPr/>
          <p:nvPr/>
        </p:nvSpPr>
        <p:spPr>
          <a:xfrm>
            <a:off x="5449824" y="4224528"/>
            <a:ext cx="1536192" cy="411480"/>
          </a:xfrm>
          <a:prstGeom prst="roundRect">
            <a:avLst/>
          </a:prstGeom>
          <a:solidFill>
            <a:srgbClr val="E7ECF5"/>
          </a:solidFill>
          <a:ln w="8890">
            <a:solidFill>
              <a:srgbClr val="E7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13832" y="4334256"/>
            <a:ext cx="1417320" cy="164592"/>
          </a:xfrm>
          <a:prstGeom prst="rect">
            <a:avLst/>
          </a:prstGeom>
          <a:noFill/>
        </p:spPr>
        <p:txBody>
          <a:bodyPr wrap="square" lIns="45720" rIns="45720" anchor="t">
            <a:spAutoFit/>
          </a:bodyPr>
          <a:lstStyle/>
          <a:p>
            <a:pPr algn="ctr"/>
            <a:r>
              <a:rPr sz="770" b="1">
                <a:solidFill>
                  <a:srgbClr val="34425F"/>
                </a:solidFill>
                <a:latin typeface="Aptos"/>
              </a:rPr>
              <a:t>Implemented / Explored</a:t>
            </a:r>
          </a:p>
        </p:txBody>
      </p:sp>
      <p:sp>
        <p:nvSpPr>
          <p:cNvPr id="25" name="Rounded Rectangle 24"/>
          <p:cNvSpPr/>
          <p:nvPr/>
        </p:nvSpPr>
        <p:spPr>
          <a:xfrm>
            <a:off x="7488936" y="1508760"/>
            <a:ext cx="1993392" cy="352044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717536" y="1755648"/>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04</a:t>
            </a:r>
          </a:p>
        </p:txBody>
      </p:sp>
      <p:sp>
        <p:nvSpPr>
          <p:cNvPr id="27" name="TextBox 26"/>
          <p:cNvSpPr txBox="1"/>
          <p:nvPr/>
        </p:nvSpPr>
        <p:spPr>
          <a:xfrm>
            <a:off x="7717536" y="2423160"/>
            <a:ext cx="1554480" cy="594360"/>
          </a:xfrm>
          <a:prstGeom prst="rect">
            <a:avLst/>
          </a:prstGeom>
          <a:noFill/>
        </p:spPr>
        <p:txBody>
          <a:bodyPr wrap="square" lIns="45720" rIns="45720" anchor="t">
            <a:spAutoFit/>
          </a:bodyPr>
          <a:lstStyle/>
          <a:p>
            <a:pPr algn="l"/>
            <a:r>
              <a:rPr sz="1500" b="1">
                <a:solidFill>
                  <a:srgbClr val="34425F"/>
                </a:solidFill>
                <a:latin typeface="Aptos"/>
              </a:rPr>
              <a:t>Twilio Dashboard</a:t>
            </a:r>
          </a:p>
        </p:txBody>
      </p:sp>
      <p:sp>
        <p:nvSpPr>
          <p:cNvPr id="28" name="TextBox 27"/>
          <p:cNvSpPr txBox="1"/>
          <p:nvPr/>
        </p:nvSpPr>
        <p:spPr>
          <a:xfrm>
            <a:off x="7717536" y="3200400"/>
            <a:ext cx="1536192" cy="731520"/>
          </a:xfrm>
          <a:prstGeom prst="rect">
            <a:avLst/>
          </a:prstGeom>
          <a:noFill/>
        </p:spPr>
        <p:txBody>
          <a:bodyPr wrap="square" lIns="45720" rIns="45720" anchor="t">
            <a:spAutoFit/>
          </a:bodyPr>
          <a:lstStyle/>
          <a:p>
            <a:pPr algn="l"/>
            <a:r>
              <a:rPr sz="950" b="0">
                <a:solidFill>
                  <a:srgbClr val="677082"/>
                </a:solidFill>
                <a:latin typeface="Aptos"/>
              </a:rPr>
              <a:t>Cloud-based emergency communication</a:t>
            </a:r>
          </a:p>
        </p:txBody>
      </p:sp>
      <p:sp>
        <p:nvSpPr>
          <p:cNvPr id="29" name="Rounded Rectangle 28"/>
          <p:cNvSpPr/>
          <p:nvPr/>
        </p:nvSpPr>
        <p:spPr>
          <a:xfrm>
            <a:off x="7717536" y="4224528"/>
            <a:ext cx="1536192" cy="411480"/>
          </a:xfrm>
          <a:prstGeom prst="roundRect">
            <a:avLst/>
          </a:prstGeom>
          <a:solidFill>
            <a:srgbClr val="E7ECF5"/>
          </a:solidFill>
          <a:ln w="8890">
            <a:solidFill>
              <a:srgbClr val="E7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81544" y="4334256"/>
            <a:ext cx="1417320" cy="164592"/>
          </a:xfrm>
          <a:prstGeom prst="rect">
            <a:avLst/>
          </a:prstGeom>
          <a:noFill/>
        </p:spPr>
        <p:txBody>
          <a:bodyPr wrap="square" lIns="45720" rIns="45720" anchor="t">
            <a:spAutoFit/>
          </a:bodyPr>
          <a:lstStyle/>
          <a:p>
            <a:pPr algn="ctr"/>
            <a:r>
              <a:rPr sz="770" b="1">
                <a:solidFill>
                  <a:srgbClr val="34425F"/>
                </a:solidFill>
                <a:latin typeface="Aptos"/>
              </a:rPr>
              <a:t>Implemented / Explored</a:t>
            </a:r>
          </a:p>
        </p:txBody>
      </p:sp>
      <p:sp>
        <p:nvSpPr>
          <p:cNvPr id="31" name="Rounded Rectangle 30"/>
          <p:cNvSpPr/>
          <p:nvPr/>
        </p:nvSpPr>
        <p:spPr>
          <a:xfrm>
            <a:off x="9756648" y="1508760"/>
            <a:ext cx="1993392" cy="352044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985248" y="1755648"/>
            <a:ext cx="411480" cy="41148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05</a:t>
            </a:r>
          </a:p>
        </p:txBody>
      </p:sp>
      <p:sp>
        <p:nvSpPr>
          <p:cNvPr id="33" name="TextBox 32"/>
          <p:cNvSpPr txBox="1"/>
          <p:nvPr/>
        </p:nvSpPr>
        <p:spPr>
          <a:xfrm>
            <a:off x="9985248" y="2423160"/>
            <a:ext cx="1554480" cy="594360"/>
          </a:xfrm>
          <a:prstGeom prst="rect">
            <a:avLst/>
          </a:prstGeom>
          <a:noFill/>
        </p:spPr>
        <p:txBody>
          <a:bodyPr wrap="square" lIns="45720" rIns="45720" anchor="t">
            <a:spAutoFit/>
          </a:bodyPr>
          <a:lstStyle/>
          <a:p>
            <a:pPr algn="l"/>
            <a:r>
              <a:rPr sz="1500" b="1">
                <a:solidFill>
                  <a:srgbClr val="34425F"/>
                </a:solidFill>
                <a:latin typeface="Aptos"/>
              </a:rPr>
              <a:t>Diastermang Maps</a:t>
            </a:r>
          </a:p>
        </p:txBody>
      </p:sp>
      <p:sp>
        <p:nvSpPr>
          <p:cNvPr id="34" name="TextBox 33"/>
          <p:cNvSpPr txBox="1"/>
          <p:nvPr/>
        </p:nvSpPr>
        <p:spPr>
          <a:xfrm>
            <a:off x="9985248" y="3200400"/>
            <a:ext cx="1536192" cy="731520"/>
          </a:xfrm>
          <a:prstGeom prst="rect">
            <a:avLst/>
          </a:prstGeom>
          <a:noFill/>
        </p:spPr>
        <p:txBody>
          <a:bodyPr wrap="square" lIns="45720" rIns="45720" anchor="t">
            <a:spAutoFit/>
          </a:bodyPr>
          <a:lstStyle/>
          <a:p>
            <a:pPr algn="l"/>
            <a:r>
              <a:rPr sz="950" b="0">
                <a:solidFill>
                  <a:srgbClr val="677082"/>
                </a:solidFill>
                <a:latin typeface="Aptos"/>
              </a:rPr>
              <a:t>GPS navigation and offline-first disaster mapping with Haversine distance</a:t>
            </a:r>
          </a:p>
        </p:txBody>
      </p:sp>
      <p:sp>
        <p:nvSpPr>
          <p:cNvPr id="35" name="Rounded Rectangle 34"/>
          <p:cNvSpPr/>
          <p:nvPr/>
        </p:nvSpPr>
        <p:spPr>
          <a:xfrm>
            <a:off x="9985248" y="4224528"/>
            <a:ext cx="1536192" cy="411480"/>
          </a:xfrm>
          <a:prstGeom prst="roundRect">
            <a:avLst/>
          </a:prstGeom>
          <a:solidFill>
            <a:srgbClr val="E7ECF5"/>
          </a:solidFill>
          <a:ln w="8890">
            <a:solidFill>
              <a:srgbClr val="E7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49256" y="4334256"/>
            <a:ext cx="1417320" cy="164592"/>
          </a:xfrm>
          <a:prstGeom prst="rect">
            <a:avLst/>
          </a:prstGeom>
          <a:noFill/>
        </p:spPr>
        <p:txBody>
          <a:bodyPr wrap="square" lIns="45720" rIns="45720" anchor="t">
            <a:spAutoFit/>
          </a:bodyPr>
          <a:lstStyle/>
          <a:p>
            <a:pPr algn="ctr"/>
            <a:r>
              <a:rPr sz="770" b="1">
                <a:solidFill>
                  <a:srgbClr val="34425F"/>
                </a:solidFill>
                <a:latin typeface="Aptos"/>
              </a:rPr>
              <a:t>Implemented / Explored</a:t>
            </a:r>
          </a:p>
        </p:txBody>
      </p:sp>
      <p:sp>
        <p:nvSpPr>
          <p:cNvPr id="37" name="TextBox 36"/>
          <p:cNvSpPr txBox="1"/>
          <p:nvPr/>
        </p:nvSpPr>
        <p:spPr>
          <a:xfrm>
            <a:off x="2706624" y="3035808"/>
            <a:ext cx="228600" cy="274320"/>
          </a:xfrm>
          <a:prstGeom prst="rect">
            <a:avLst/>
          </a:prstGeom>
          <a:noFill/>
        </p:spPr>
        <p:txBody>
          <a:bodyPr wrap="square" lIns="45720" rIns="45720" anchor="t">
            <a:spAutoFit/>
          </a:bodyPr>
          <a:lstStyle/>
          <a:p>
            <a:pPr algn="l"/>
            <a:r>
              <a:rPr sz="1600" b="1">
                <a:solidFill>
                  <a:srgbClr val="4AB2D0"/>
                </a:solidFill>
                <a:latin typeface="Aptos"/>
              </a:rPr>
              <a:t>→</a:t>
            </a:r>
          </a:p>
        </p:txBody>
      </p:sp>
      <p:sp>
        <p:nvSpPr>
          <p:cNvPr id="38" name="TextBox 37"/>
          <p:cNvSpPr txBox="1"/>
          <p:nvPr/>
        </p:nvSpPr>
        <p:spPr>
          <a:xfrm>
            <a:off x="4974336" y="3035808"/>
            <a:ext cx="228600" cy="274320"/>
          </a:xfrm>
          <a:prstGeom prst="rect">
            <a:avLst/>
          </a:prstGeom>
          <a:noFill/>
        </p:spPr>
        <p:txBody>
          <a:bodyPr wrap="square" lIns="45720" rIns="45720" anchor="t">
            <a:spAutoFit/>
          </a:bodyPr>
          <a:lstStyle/>
          <a:p>
            <a:pPr algn="l"/>
            <a:r>
              <a:rPr sz="1600" b="1">
                <a:solidFill>
                  <a:srgbClr val="4AB2D0"/>
                </a:solidFill>
                <a:latin typeface="Aptos"/>
              </a:rPr>
              <a:t>→</a:t>
            </a:r>
          </a:p>
        </p:txBody>
      </p:sp>
      <p:sp>
        <p:nvSpPr>
          <p:cNvPr id="39" name="TextBox 38"/>
          <p:cNvSpPr txBox="1"/>
          <p:nvPr/>
        </p:nvSpPr>
        <p:spPr>
          <a:xfrm>
            <a:off x="7242048" y="3035808"/>
            <a:ext cx="228600" cy="274320"/>
          </a:xfrm>
          <a:prstGeom prst="rect">
            <a:avLst/>
          </a:prstGeom>
          <a:noFill/>
        </p:spPr>
        <p:txBody>
          <a:bodyPr wrap="square" lIns="45720" rIns="45720" anchor="t">
            <a:spAutoFit/>
          </a:bodyPr>
          <a:lstStyle/>
          <a:p>
            <a:pPr algn="l"/>
            <a:r>
              <a:rPr sz="1600" b="1">
                <a:solidFill>
                  <a:srgbClr val="4AB2D0"/>
                </a:solidFill>
                <a:latin typeface="Aptos"/>
              </a:rPr>
              <a:t>→</a:t>
            </a:r>
          </a:p>
        </p:txBody>
      </p:sp>
      <p:sp>
        <p:nvSpPr>
          <p:cNvPr id="40" name="TextBox 39"/>
          <p:cNvSpPr txBox="1"/>
          <p:nvPr/>
        </p:nvSpPr>
        <p:spPr>
          <a:xfrm>
            <a:off x="9509759" y="3035808"/>
            <a:ext cx="228600" cy="274320"/>
          </a:xfrm>
          <a:prstGeom prst="rect">
            <a:avLst/>
          </a:prstGeom>
          <a:noFill/>
        </p:spPr>
        <p:txBody>
          <a:bodyPr wrap="square" lIns="45720" rIns="45720" anchor="t">
            <a:spAutoFit/>
          </a:bodyPr>
          <a:lstStyle/>
          <a:p>
            <a:pPr algn="l"/>
            <a:r>
              <a:rPr sz="1600" b="1">
                <a:solidFill>
                  <a:srgbClr val="4AB2D0"/>
                </a:solidFill>
                <a:latin typeface="Aptos"/>
              </a:rPr>
              <a:t>→</a:t>
            </a:r>
          </a:p>
        </p:txBody>
      </p:sp>
      <p:cxnSp>
        <p:nvCxnSpPr>
          <p:cNvPr id="41" name="Connector 40"/>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43" name="TextBox 42"/>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06</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OmniStock — Enterprise Inventory Management System</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A multi-module system for warehouse, stock and operational management</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353312"/>
            <a:ext cx="3840480" cy="452628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1600200"/>
            <a:ext cx="2286000" cy="274320"/>
          </a:xfrm>
          <a:prstGeom prst="rect">
            <a:avLst/>
          </a:prstGeom>
          <a:noFill/>
        </p:spPr>
        <p:txBody>
          <a:bodyPr wrap="square" lIns="45720" rIns="45720" anchor="t">
            <a:spAutoFit/>
          </a:bodyPr>
          <a:lstStyle/>
          <a:p>
            <a:pPr algn="l"/>
            <a:r>
              <a:rPr sz="1200" b="1">
                <a:solidFill>
                  <a:srgbClr val="34425F"/>
                </a:solidFill>
                <a:latin typeface="Aptos"/>
              </a:rPr>
              <a:t>Problem → Solution</a:t>
            </a:r>
          </a:p>
        </p:txBody>
      </p:sp>
      <p:sp>
        <p:nvSpPr>
          <p:cNvPr id="9" name="TextBox 8"/>
          <p:cNvSpPr txBox="1"/>
          <p:nvPr/>
        </p:nvSpPr>
        <p:spPr>
          <a:xfrm>
            <a:off x="987552" y="2011680"/>
            <a:ext cx="3246120" cy="914400"/>
          </a:xfrm>
          <a:prstGeom prst="rect">
            <a:avLst/>
          </a:prstGeom>
          <a:noFill/>
        </p:spPr>
        <p:txBody>
          <a:bodyPr wrap="square" lIns="45720" rIns="45720" anchor="t">
            <a:spAutoFit/>
          </a:bodyPr>
          <a:lstStyle/>
          <a:p>
            <a:pPr algn="l"/>
            <a:r>
              <a:rPr sz="1050" b="0">
                <a:solidFill>
                  <a:srgbClr val="677082"/>
                </a:solidFill>
                <a:latin typeface="Aptos"/>
              </a:rPr>
              <a:t>Managing products, suppliers, orders and warehouse operations across multiple workflows requires centralized data and role-based control.</a:t>
            </a:r>
          </a:p>
        </p:txBody>
      </p:sp>
      <p:sp>
        <p:nvSpPr>
          <p:cNvPr id="10" name="Rounded Rectangle 9"/>
          <p:cNvSpPr/>
          <p:nvPr/>
        </p:nvSpPr>
        <p:spPr>
          <a:xfrm>
            <a:off x="987552" y="3154680"/>
            <a:ext cx="957072"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42416" y="3273552"/>
            <a:ext cx="847344" cy="493776"/>
          </a:xfrm>
          <a:prstGeom prst="rect">
            <a:avLst/>
          </a:prstGeom>
          <a:noFill/>
        </p:spPr>
        <p:txBody>
          <a:bodyPr wrap="square" lIns="45720" rIns="45720" anchor="ctr">
            <a:spAutoFit/>
          </a:bodyPr>
          <a:lstStyle/>
          <a:p>
            <a:pPr algn="ctr"/>
            <a:r>
              <a:rPr sz="919" b="1">
                <a:solidFill>
                  <a:srgbClr val="34425F"/>
                </a:solidFill>
                <a:latin typeface="Aptos"/>
              </a:rPr>
              <a:t>Users</a:t>
            </a:r>
          </a:p>
        </p:txBody>
      </p:sp>
      <p:sp>
        <p:nvSpPr>
          <p:cNvPr id="12" name="TextBox 11"/>
          <p:cNvSpPr txBox="1"/>
          <p:nvPr/>
        </p:nvSpPr>
        <p:spPr>
          <a:xfrm>
            <a:off x="1972056" y="331927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3" name="Rounded Rectangle 12"/>
          <p:cNvSpPr/>
          <p:nvPr/>
        </p:nvSpPr>
        <p:spPr>
          <a:xfrm>
            <a:off x="2109216" y="3154680"/>
            <a:ext cx="957072"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64080" y="3273552"/>
            <a:ext cx="847344" cy="493776"/>
          </a:xfrm>
          <a:prstGeom prst="rect">
            <a:avLst/>
          </a:prstGeom>
          <a:noFill/>
        </p:spPr>
        <p:txBody>
          <a:bodyPr wrap="square" lIns="45720" rIns="45720" anchor="ctr">
            <a:spAutoFit/>
          </a:bodyPr>
          <a:lstStyle/>
          <a:p>
            <a:pPr algn="ctr"/>
            <a:r>
              <a:rPr sz="919" b="1">
                <a:solidFill>
                  <a:srgbClr val="34425F"/>
                </a:solidFill>
                <a:latin typeface="Aptos"/>
              </a:rPr>
              <a:t>PHP Services</a:t>
            </a:r>
          </a:p>
        </p:txBody>
      </p:sp>
      <p:sp>
        <p:nvSpPr>
          <p:cNvPr id="15" name="TextBox 14"/>
          <p:cNvSpPr txBox="1"/>
          <p:nvPr/>
        </p:nvSpPr>
        <p:spPr>
          <a:xfrm>
            <a:off x="3093720" y="331927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6" name="Rounded Rectangle 15"/>
          <p:cNvSpPr/>
          <p:nvPr/>
        </p:nvSpPr>
        <p:spPr>
          <a:xfrm>
            <a:off x="3230880" y="3154680"/>
            <a:ext cx="957072"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85744" y="3273552"/>
            <a:ext cx="847344" cy="493776"/>
          </a:xfrm>
          <a:prstGeom prst="rect">
            <a:avLst/>
          </a:prstGeom>
          <a:noFill/>
        </p:spPr>
        <p:txBody>
          <a:bodyPr wrap="square" lIns="45720" rIns="45720" anchor="ctr">
            <a:spAutoFit/>
          </a:bodyPr>
          <a:lstStyle/>
          <a:p>
            <a:pPr algn="ctr"/>
            <a:r>
              <a:rPr sz="919" b="1">
                <a:solidFill>
                  <a:srgbClr val="34425F"/>
                </a:solidFill>
                <a:latin typeface="Aptos"/>
              </a:rPr>
              <a:t>MySQL</a:t>
            </a:r>
          </a:p>
        </p:txBody>
      </p:sp>
      <p:sp>
        <p:nvSpPr>
          <p:cNvPr id="18" name="TextBox 17"/>
          <p:cNvSpPr txBox="1"/>
          <p:nvPr/>
        </p:nvSpPr>
        <p:spPr>
          <a:xfrm>
            <a:off x="987552" y="4160520"/>
            <a:ext cx="2011680" cy="256032"/>
          </a:xfrm>
          <a:prstGeom prst="rect">
            <a:avLst/>
          </a:prstGeom>
          <a:noFill/>
        </p:spPr>
        <p:txBody>
          <a:bodyPr wrap="square" lIns="45720" rIns="45720" anchor="t">
            <a:spAutoFit/>
          </a:bodyPr>
          <a:lstStyle/>
          <a:p>
            <a:pPr algn="l"/>
            <a:r>
              <a:rPr sz="1100" b="1">
                <a:solidFill>
                  <a:srgbClr val="34425F"/>
                </a:solidFill>
                <a:latin typeface="Aptos"/>
              </a:rPr>
              <a:t>Engineering focus</a:t>
            </a:r>
          </a:p>
        </p:txBody>
      </p:sp>
      <p:sp>
        <p:nvSpPr>
          <p:cNvPr id="19" name="TextBox 18"/>
          <p:cNvSpPr txBox="1"/>
          <p:nvPr/>
        </p:nvSpPr>
        <p:spPr>
          <a:xfrm>
            <a:off x="987552" y="4526280"/>
            <a:ext cx="3017520" cy="1051560"/>
          </a:xfrm>
          <a:prstGeom prst="rect">
            <a:avLst/>
          </a:prstGeom>
          <a:noFill/>
        </p:spPr>
        <p:txBody>
          <a:bodyPr wrap="square" lIns="45720" rIns="45720" anchor="t">
            <a:spAutoFit/>
          </a:bodyPr>
          <a:lstStyle/>
          <a:p>
            <a:pPr algn="l"/>
            <a:r>
              <a:rPr sz="960" b="0">
                <a:solidFill>
                  <a:srgbClr val="677082"/>
                </a:solidFill>
                <a:latin typeface="Aptos"/>
              </a:rPr>
              <a:t>• Modular backend design
• Secure data handling
• Business workflow management
• AI-assisted product imagery</a:t>
            </a:r>
          </a:p>
        </p:txBody>
      </p:sp>
      <p:sp>
        <p:nvSpPr>
          <p:cNvPr id="20" name="Rounded Rectangle 19"/>
          <p:cNvSpPr/>
          <p:nvPr/>
        </p:nvSpPr>
        <p:spPr>
          <a:xfrm>
            <a:off x="4892040" y="1371600"/>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093207" y="15727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22" name="TextBox 21"/>
          <p:cNvSpPr txBox="1"/>
          <p:nvPr/>
        </p:nvSpPr>
        <p:spPr>
          <a:xfrm>
            <a:off x="5550407" y="1536192"/>
            <a:ext cx="1106424" cy="310896"/>
          </a:xfrm>
          <a:prstGeom prst="rect">
            <a:avLst/>
          </a:prstGeom>
          <a:noFill/>
        </p:spPr>
        <p:txBody>
          <a:bodyPr wrap="square" lIns="45720" rIns="45720" anchor="t">
            <a:spAutoFit/>
          </a:bodyPr>
          <a:lstStyle/>
          <a:p>
            <a:pPr algn="l"/>
            <a:r>
              <a:rPr sz="1150" b="1">
                <a:solidFill>
                  <a:srgbClr val="34425F"/>
                </a:solidFill>
                <a:latin typeface="Aptos"/>
              </a:rPr>
              <a:t>Multi-Warehouse</a:t>
            </a:r>
          </a:p>
        </p:txBody>
      </p:sp>
      <p:sp>
        <p:nvSpPr>
          <p:cNvPr id="23" name="TextBox 22"/>
          <p:cNvSpPr txBox="1"/>
          <p:nvPr/>
        </p:nvSpPr>
        <p:spPr>
          <a:xfrm>
            <a:off x="5093207" y="1965960"/>
            <a:ext cx="1499616" cy="73151"/>
          </a:xfrm>
          <a:prstGeom prst="rect">
            <a:avLst/>
          </a:prstGeom>
          <a:noFill/>
        </p:spPr>
        <p:txBody>
          <a:bodyPr wrap="square" lIns="45720" rIns="45720" anchor="t">
            <a:spAutoFit/>
          </a:bodyPr>
          <a:lstStyle/>
          <a:p>
            <a:pPr algn="l"/>
            <a:endParaRPr/>
          </a:p>
        </p:txBody>
      </p:sp>
      <p:sp>
        <p:nvSpPr>
          <p:cNvPr id="24" name="Rounded Rectangle 23"/>
          <p:cNvSpPr/>
          <p:nvPr/>
        </p:nvSpPr>
        <p:spPr>
          <a:xfrm>
            <a:off x="7068312" y="1371600"/>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269479" y="15727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26" name="TextBox 25"/>
          <p:cNvSpPr txBox="1"/>
          <p:nvPr/>
        </p:nvSpPr>
        <p:spPr>
          <a:xfrm>
            <a:off x="7726679" y="1536192"/>
            <a:ext cx="1106424" cy="310896"/>
          </a:xfrm>
          <a:prstGeom prst="rect">
            <a:avLst/>
          </a:prstGeom>
          <a:noFill/>
        </p:spPr>
        <p:txBody>
          <a:bodyPr wrap="square" lIns="45720" rIns="45720" anchor="t">
            <a:spAutoFit/>
          </a:bodyPr>
          <a:lstStyle/>
          <a:p>
            <a:pPr algn="l"/>
            <a:r>
              <a:rPr sz="1150" b="1">
                <a:solidFill>
                  <a:srgbClr val="34425F"/>
                </a:solidFill>
                <a:latin typeface="Aptos"/>
              </a:rPr>
              <a:t>Products &amp; Categories</a:t>
            </a:r>
          </a:p>
        </p:txBody>
      </p:sp>
      <p:sp>
        <p:nvSpPr>
          <p:cNvPr id="27" name="TextBox 26"/>
          <p:cNvSpPr txBox="1"/>
          <p:nvPr/>
        </p:nvSpPr>
        <p:spPr>
          <a:xfrm>
            <a:off x="7269479" y="1965960"/>
            <a:ext cx="1499616" cy="73151"/>
          </a:xfrm>
          <a:prstGeom prst="rect">
            <a:avLst/>
          </a:prstGeom>
          <a:noFill/>
        </p:spPr>
        <p:txBody>
          <a:bodyPr wrap="square" lIns="45720" rIns="45720" anchor="t">
            <a:spAutoFit/>
          </a:bodyPr>
          <a:lstStyle/>
          <a:p>
            <a:pPr algn="l"/>
            <a:endParaRPr/>
          </a:p>
        </p:txBody>
      </p:sp>
      <p:sp>
        <p:nvSpPr>
          <p:cNvPr id="28" name="Rounded Rectangle 27"/>
          <p:cNvSpPr/>
          <p:nvPr/>
        </p:nvSpPr>
        <p:spPr>
          <a:xfrm>
            <a:off x="9244584" y="1371600"/>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445752" y="15727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30" name="TextBox 29"/>
          <p:cNvSpPr txBox="1"/>
          <p:nvPr/>
        </p:nvSpPr>
        <p:spPr>
          <a:xfrm>
            <a:off x="9902952" y="1536192"/>
            <a:ext cx="1106423" cy="310896"/>
          </a:xfrm>
          <a:prstGeom prst="rect">
            <a:avLst/>
          </a:prstGeom>
          <a:noFill/>
        </p:spPr>
        <p:txBody>
          <a:bodyPr wrap="square" lIns="45720" rIns="45720" anchor="t">
            <a:spAutoFit/>
          </a:bodyPr>
          <a:lstStyle/>
          <a:p>
            <a:pPr algn="l"/>
            <a:r>
              <a:rPr sz="1150" b="1">
                <a:solidFill>
                  <a:srgbClr val="34425F"/>
                </a:solidFill>
                <a:latin typeface="Aptos"/>
              </a:rPr>
              <a:t>Suppliers</a:t>
            </a:r>
          </a:p>
        </p:txBody>
      </p:sp>
      <p:sp>
        <p:nvSpPr>
          <p:cNvPr id="31" name="TextBox 30"/>
          <p:cNvSpPr txBox="1"/>
          <p:nvPr/>
        </p:nvSpPr>
        <p:spPr>
          <a:xfrm>
            <a:off x="9445752" y="1965960"/>
            <a:ext cx="1499616" cy="73151"/>
          </a:xfrm>
          <a:prstGeom prst="rect">
            <a:avLst/>
          </a:prstGeom>
          <a:noFill/>
        </p:spPr>
        <p:txBody>
          <a:bodyPr wrap="square" lIns="45720" rIns="45720" anchor="t">
            <a:spAutoFit/>
          </a:bodyPr>
          <a:lstStyle/>
          <a:p>
            <a:pPr algn="l"/>
            <a:endParaRPr/>
          </a:p>
        </p:txBody>
      </p:sp>
      <p:sp>
        <p:nvSpPr>
          <p:cNvPr id="32" name="Rounded Rectangle 31"/>
          <p:cNvSpPr/>
          <p:nvPr/>
        </p:nvSpPr>
        <p:spPr>
          <a:xfrm>
            <a:off x="4892040" y="2404872"/>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093207" y="2606040"/>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34" name="TextBox 33"/>
          <p:cNvSpPr txBox="1"/>
          <p:nvPr/>
        </p:nvSpPr>
        <p:spPr>
          <a:xfrm>
            <a:off x="5550407" y="2569464"/>
            <a:ext cx="1106424" cy="310896"/>
          </a:xfrm>
          <a:prstGeom prst="rect">
            <a:avLst/>
          </a:prstGeom>
          <a:noFill/>
        </p:spPr>
        <p:txBody>
          <a:bodyPr wrap="square" lIns="45720" rIns="45720" anchor="t">
            <a:spAutoFit/>
          </a:bodyPr>
          <a:lstStyle/>
          <a:p>
            <a:pPr algn="l"/>
            <a:r>
              <a:rPr sz="1150" b="1">
                <a:solidFill>
                  <a:srgbClr val="34425F"/>
                </a:solidFill>
                <a:latin typeface="Aptos"/>
              </a:rPr>
              <a:t>Purchase &amp; Sales Orders</a:t>
            </a:r>
          </a:p>
        </p:txBody>
      </p:sp>
      <p:sp>
        <p:nvSpPr>
          <p:cNvPr id="35" name="TextBox 34"/>
          <p:cNvSpPr txBox="1"/>
          <p:nvPr/>
        </p:nvSpPr>
        <p:spPr>
          <a:xfrm>
            <a:off x="5093207" y="2999232"/>
            <a:ext cx="1499616" cy="73151"/>
          </a:xfrm>
          <a:prstGeom prst="rect">
            <a:avLst/>
          </a:prstGeom>
          <a:noFill/>
        </p:spPr>
        <p:txBody>
          <a:bodyPr wrap="square" lIns="45720" rIns="45720" anchor="t">
            <a:spAutoFit/>
          </a:bodyPr>
          <a:lstStyle/>
          <a:p>
            <a:pPr algn="l"/>
            <a:endParaRPr/>
          </a:p>
        </p:txBody>
      </p:sp>
      <p:sp>
        <p:nvSpPr>
          <p:cNvPr id="36" name="Rounded Rectangle 35"/>
          <p:cNvSpPr/>
          <p:nvPr/>
        </p:nvSpPr>
        <p:spPr>
          <a:xfrm>
            <a:off x="7068312" y="2404872"/>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269479" y="2606040"/>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5</a:t>
            </a:r>
          </a:p>
        </p:txBody>
      </p:sp>
      <p:sp>
        <p:nvSpPr>
          <p:cNvPr id="38" name="TextBox 37"/>
          <p:cNvSpPr txBox="1"/>
          <p:nvPr/>
        </p:nvSpPr>
        <p:spPr>
          <a:xfrm>
            <a:off x="7726679" y="2569464"/>
            <a:ext cx="1106424" cy="310896"/>
          </a:xfrm>
          <a:prstGeom prst="rect">
            <a:avLst/>
          </a:prstGeom>
          <a:noFill/>
        </p:spPr>
        <p:txBody>
          <a:bodyPr wrap="square" lIns="45720" rIns="45720" anchor="t">
            <a:spAutoFit/>
          </a:bodyPr>
          <a:lstStyle/>
          <a:p>
            <a:pPr algn="l"/>
            <a:r>
              <a:rPr sz="1150" b="1">
                <a:solidFill>
                  <a:srgbClr val="34425F"/>
                </a:solidFill>
                <a:latin typeface="Aptos"/>
              </a:rPr>
              <a:t>Stock Control</a:t>
            </a:r>
          </a:p>
        </p:txBody>
      </p:sp>
      <p:sp>
        <p:nvSpPr>
          <p:cNvPr id="39" name="TextBox 38"/>
          <p:cNvSpPr txBox="1"/>
          <p:nvPr/>
        </p:nvSpPr>
        <p:spPr>
          <a:xfrm>
            <a:off x="7269479" y="2999232"/>
            <a:ext cx="1499616" cy="73151"/>
          </a:xfrm>
          <a:prstGeom prst="rect">
            <a:avLst/>
          </a:prstGeom>
          <a:noFill/>
        </p:spPr>
        <p:txBody>
          <a:bodyPr wrap="square" lIns="45720" rIns="45720" anchor="t">
            <a:spAutoFit/>
          </a:bodyPr>
          <a:lstStyle/>
          <a:p>
            <a:pPr algn="l"/>
            <a:endParaRPr/>
          </a:p>
        </p:txBody>
      </p:sp>
      <p:sp>
        <p:nvSpPr>
          <p:cNvPr id="40" name="Rounded Rectangle 39"/>
          <p:cNvSpPr/>
          <p:nvPr/>
        </p:nvSpPr>
        <p:spPr>
          <a:xfrm>
            <a:off x="9244584" y="2404872"/>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445752" y="2606040"/>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6</a:t>
            </a:r>
          </a:p>
        </p:txBody>
      </p:sp>
      <p:sp>
        <p:nvSpPr>
          <p:cNvPr id="42" name="TextBox 41"/>
          <p:cNvSpPr txBox="1"/>
          <p:nvPr/>
        </p:nvSpPr>
        <p:spPr>
          <a:xfrm>
            <a:off x="9902952" y="2569464"/>
            <a:ext cx="1106423" cy="310896"/>
          </a:xfrm>
          <a:prstGeom prst="rect">
            <a:avLst/>
          </a:prstGeom>
          <a:noFill/>
        </p:spPr>
        <p:txBody>
          <a:bodyPr wrap="square" lIns="45720" rIns="45720" anchor="t">
            <a:spAutoFit/>
          </a:bodyPr>
          <a:lstStyle/>
          <a:p>
            <a:pPr algn="l"/>
            <a:r>
              <a:rPr sz="1150" b="1">
                <a:solidFill>
                  <a:srgbClr val="34425F"/>
                </a:solidFill>
                <a:latin typeface="Aptos"/>
              </a:rPr>
              <a:t>Fleet Management</a:t>
            </a:r>
          </a:p>
        </p:txBody>
      </p:sp>
      <p:sp>
        <p:nvSpPr>
          <p:cNvPr id="43" name="TextBox 42"/>
          <p:cNvSpPr txBox="1"/>
          <p:nvPr/>
        </p:nvSpPr>
        <p:spPr>
          <a:xfrm>
            <a:off x="9445752" y="2999232"/>
            <a:ext cx="1499616" cy="73151"/>
          </a:xfrm>
          <a:prstGeom prst="rect">
            <a:avLst/>
          </a:prstGeom>
          <a:noFill/>
        </p:spPr>
        <p:txBody>
          <a:bodyPr wrap="square" lIns="45720" rIns="45720" anchor="t">
            <a:spAutoFit/>
          </a:bodyPr>
          <a:lstStyle/>
          <a:p>
            <a:pPr algn="l"/>
            <a:endParaRPr/>
          </a:p>
        </p:txBody>
      </p:sp>
      <p:sp>
        <p:nvSpPr>
          <p:cNvPr id="44" name="Rounded Rectangle 43"/>
          <p:cNvSpPr/>
          <p:nvPr/>
        </p:nvSpPr>
        <p:spPr>
          <a:xfrm>
            <a:off x="4892040" y="3438144"/>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5093207" y="3639312"/>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7</a:t>
            </a:r>
          </a:p>
        </p:txBody>
      </p:sp>
      <p:sp>
        <p:nvSpPr>
          <p:cNvPr id="46" name="TextBox 45"/>
          <p:cNvSpPr txBox="1"/>
          <p:nvPr/>
        </p:nvSpPr>
        <p:spPr>
          <a:xfrm>
            <a:off x="5550407" y="3602736"/>
            <a:ext cx="1106424" cy="310896"/>
          </a:xfrm>
          <a:prstGeom prst="rect">
            <a:avLst/>
          </a:prstGeom>
          <a:noFill/>
        </p:spPr>
        <p:txBody>
          <a:bodyPr wrap="square" lIns="45720" rIns="45720" anchor="t">
            <a:spAutoFit/>
          </a:bodyPr>
          <a:lstStyle/>
          <a:p>
            <a:pPr algn="l"/>
            <a:r>
              <a:rPr sz="1150" b="1">
                <a:solidFill>
                  <a:srgbClr val="34425F"/>
                </a:solidFill>
                <a:latin typeface="Aptos"/>
              </a:rPr>
              <a:t>Logistics</a:t>
            </a:r>
          </a:p>
        </p:txBody>
      </p:sp>
      <p:sp>
        <p:nvSpPr>
          <p:cNvPr id="47" name="TextBox 46"/>
          <p:cNvSpPr txBox="1"/>
          <p:nvPr/>
        </p:nvSpPr>
        <p:spPr>
          <a:xfrm>
            <a:off x="5093207" y="4032504"/>
            <a:ext cx="1499616" cy="73151"/>
          </a:xfrm>
          <a:prstGeom prst="rect">
            <a:avLst/>
          </a:prstGeom>
          <a:noFill/>
        </p:spPr>
        <p:txBody>
          <a:bodyPr wrap="square" lIns="45720" rIns="45720" anchor="t">
            <a:spAutoFit/>
          </a:bodyPr>
          <a:lstStyle/>
          <a:p>
            <a:pPr algn="l"/>
            <a:endParaRPr/>
          </a:p>
        </p:txBody>
      </p:sp>
      <p:sp>
        <p:nvSpPr>
          <p:cNvPr id="48" name="Rounded Rectangle 47"/>
          <p:cNvSpPr/>
          <p:nvPr/>
        </p:nvSpPr>
        <p:spPr>
          <a:xfrm>
            <a:off x="7068312" y="3438144"/>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269479" y="3639312"/>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8</a:t>
            </a:r>
          </a:p>
        </p:txBody>
      </p:sp>
      <p:sp>
        <p:nvSpPr>
          <p:cNvPr id="50" name="TextBox 49"/>
          <p:cNvSpPr txBox="1"/>
          <p:nvPr/>
        </p:nvSpPr>
        <p:spPr>
          <a:xfrm>
            <a:off x="7726679" y="3602736"/>
            <a:ext cx="1106424" cy="310896"/>
          </a:xfrm>
          <a:prstGeom prst="rect">
            <a:avLst/>
          </a:prstGeom>
          <a:noFill/>
        </p:spPr>
        <p:txBody>
          <a:bodyPr wrap="square" lIns="45720" rIns="45720" anchor="t">
            <a:spAutoFit/>
          </a:bodyPr>
          <a:lstStyle/>
          <a:p>
            <a:pPr algn="l"/>
            <a:r>
              <a:rPr sz="1150" b="1">
                <a:solidFill>
                  <a:srgbClr val="34425F"/>
                </a:solidFill>
                <a:latin typeface="Aptos"/>
              </a:rPr>
              <a:t>Barcode Generation</a:t>
            </a:r>
          </a:p>
        </p:txBody>
      </p:sp>
      <p:sp>
        <p:nvSpPr>
          <p:cNvPr id="51" name="TextBox 50"/>
          <p:cNvSpPr txBox="1"/>
          <p:nvPr/>
        </p:nvSpPr>
        <p:spPr>
          <a:xfrm>
            <a:off x="7269479" y="4032504"/>
            <a:ext cx="1499616" cy="73151"/>
          </a:xfrm>
          <a:prstGeom prst="rect">
            <a:avLst/>
          </a:prstGeom>
          <a:noFill/>
        </p:spPr>
        <p:txBody>
          <a:bodyPr wrap="square" lIns="45720" rIns="45720" anchor="t">
            <a:spAutoFit/>
          </a:bodyPr>
          <a:lstStyle/>
          <a:p>
            <a:pPr algn="l"/>
            <a:endParaRPr/>
          </a:p>
        </p:txBody>
      </p:sp>
      <p:sp>
        <p:nvSpPr>
          <p:cNvPr id="52" name="Rounded Rectangle 51"/>
          <p:cNvSpPr/>
          <p:nvPr/>
        </p:nvSpPr>
        <p:spPr>
          <a:xfrm>
            <a:off x="9244584" y="3438144"/>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9445752" y="3639312"/>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9</a:t>
            </a:r>
          </a:p>
        </p:txBody>
      </p:sp>
      <p:sp>
        <p:nvSpPr>
          <p:cNvPr id="54" name="TextBox 53"/>
          <p:cNvSpPr txBox="1"/>
          <p:nvPr/>
        </p:nvSpPr>
        <p:spPr>
          <a:xfrm>
            <a:off x="9902952" y="3602736"/>
            <a:ext cx="1106423" cy="310896"/>
          </a:xfrm>
          <a:prstGeom prst="rect">
            <a:avLst/>
          </a:prstGeom>
          <a:noFill/>
        </p:spPr>
        <p:txBody>
          <a:bodyPr wrap="square" lIns="45720" rIns="45720" anchor="t">
            <a:spAutoFit/>
          </a:bodyPr>
          <a:lstStyle/>
          <a:p>
            <a:pPr algn="l"/>
            <a:r>
              <a:rPr sz="1150" b="1">
                <a:solidFill>
                  <a:srgbClr val="34425F"/>
                </a:solidFill>
                <a:latin typeface="Aptos"/>
              </a:rPr>
              <a:t>RBAC</a:t>
            </a:r>
          </a:p>
        </p:txBody>
      </p:sp>
      <p:sp>
        <p:nvSpPr>
          <p:cNvPr id="55" name="TextBox 54"/>
          <p:cNvSpPr txBox="1"/>
          <p:nvPr/>
        </p:nvSpPr>
        <p:spPr>
          <a:xfrm>
            <a:off x="9445752" y="4032504"/>
            <a:ext cx="1499616" cy="73151"/>
          </a:xfrm>
          <a:prstGeom prst="rect">
            <a:avLst/>
          </a:prstGeom>
          <a:noFill/>
        </p:spPr>
        <p:txBody>
          <a:bodyPr wrap="square" lIns="45720" rIns="45720" anchor="t">
            <a:spAutoFit/>
          </a:bodyPr>
          <a:lstStyle/>
          <a:p>
            <a:pPr algn="l"/>
            <a:endParaRPr/>
          </a:p>
        </p:txBody>
      </p:sp>
      <p:sp>
        <p:nvSpPr>
          <p:cNvPr id="56" name="Rounded Rectangle 55"/>
          <p:cNvSpPr/>
          <p:nvPr/>
        </p:nvSpPr>
        <p:spPr>
          <a:xfrm>
            <a:off x="4892040" y="4471416"/>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5093207" y="4672583"/>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10</a:t>
            </a:r>
          </a:p>
        </p:txBody>
      </p:sp>
      <p:sp>
        <p:nvSpPr>
          <p:cNvPr id="58" name="TextBox 57"/>
          <p:cNvSpPr txBox="1"/>
          <p:nvPr/>
        </p:nvSpPr>
        <p:spPr>
          <a:xfrm>
            <a:off x="5550407" y="4636007"/>
            <a:ext cx="1106424" cy="310896"/>
          </a:xfrm>
          <a:prstGeom prst="rect">
            <a:avLst/>
          </a:prstGeom>
          <a:noFill/>
        </p:spPr>
        <p:txBody>
          <a:bodyPr wrap="square" lIns="45720" rIns="45720" anchor="t">
            <a:spAutoFit/>
          </a:bodyPr>
          <a:lstStyle/>
          <a:p>
            <a:pPr algn="l"/>
            <a:r>
              <a:rPr sz="1150" b="1">
                <a:solidFill>
                  <a:srgbClr val="34425F"/>
                </a:solidFill>
                <a:latin typeface="Aptos"/>
              </a:rPr>
              <a:t>Audit Logging</a:t>
            </a:r>
          </a:p>
        </p:txBody>
      </p:sp>
      <p:sp>
        <p:nvSpPr>
          <p:cNvPr id="59" name="TextBox 58"/>
          <p:cNvSpPr txBox="1"/>
          <p:nvPr/>
        </p:nvSpPr>
        <p:spPr>
          <a:xfrm>
            <a:off x="5093207" y="5065776"/>
            <a:ext cx="1499616" cy="73151"/>
          </a:xfrm>
          <a:prstGeom prst="rect">
            <a:avLst/>
          </a:prstGeom>
          <a:noFill/>
        </p:spPr>
        <p:txBody>
          <a:bodyPr wrap="square" lIns="45720" rIns="45720" anchor="t">
            <a:spAutoFit/>
          </a:bodyPr>
          <a:lstStyle/>
          <a:p>
            <a:pPr algn="l"/>
            <a:endParaRPr/>
          </a:p>
        </p:txBody>
      </p:sp>
      <p:sp>
        <p:nvSpPr>
          <p:cNvPr id="60" name="Rounded Rectangle 59"/>
          <p:cNvSpPr/>
          <p:nvPr/>
        </p:nvSpPr>
        <p:spPr>
          <a:xfrm>
            <a:off x="7068312" y="4471416"/>
            <a:ext cx="1901952"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269479" y="4672583"/>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11</a:t>
            </a:r>
          </a:p>
        </p:txBody>
      </p:sp>
      <p:sp>
        <p:nvSpPr>
          <p:cNvPr id="62" name="TextBox 61"/>
          <p:cNvSpPr txBox="1"/>
          <p:nvPr/>
        </p:nvSpPr>
        <p:spPr>
          <a:xfrm>
            <a:off x="7726679" y="4636007"/>
            <a:ext cx="1106424" cy="310896"/>
          </a:xfrm>
          <a:prstGeom prst="rect">
            <a:avLst/>
          </a:prstGeom>
          <a:noFill/>
        </p:spPr>
        <p:txBody>
          <a:bodyPr wrap="square" lIns="45720" rIns="45720" anchor="t">
            <a:spAutoFit/>
          </a:bodyPr>
          <a:lstStyle/>
          <a:p>
            <a:pPr algn="l"/>
            <a:r>
              <a:rPr sz="1150" b="1">
                <a:solidFill>
                  <a:srgbClr val="34425F"/>
                </a:solidFill>
                <a:latin typeface="Aptos"/>
              </a:rPr>
              <a:t>AI Product Images</a:t>
            </a:r>
          </a:p>
        </p:txBody>
      </p:sp>
      <p:sp>
        <p:nvSpPr>
          <p:cNvPr id="63" name="TextBox 62"/>
          <p:cNvSpPr txBox="1"/>
          <p:nvPr/>
        </p:nvSpPr>
        <p:spPr>
          <a:xfrm>
            <a:off x="7269479" y="5065776"/>
            <a:ext cx="1499616" cy="73151"/>
          </a:xfrm>
          <a:prstGeom prst="rect">
            <a:avLst/>
          </a:prstGeom>
          <a:noFill/>
        </p:spPr>
        <p:txBody>
          <a:bodyPr wrap="square" lIns="45720" rIns="45720" anchor="t">
            <a:spAutoFit/>
          </a:bodyPr>
          <a:lstStyle/>
          <a:p>
            <a:pPr algn="l"/>
            <a:endParaRPr/>
          </a:p>
        </p:txBody>
      </p:sp>
      <p:sp>
        <p:nvSpPr>
          <p:cNvPr id="64" name="TextBox 63"/>
          <p:cNvSpPr txBox="1"/>
          <p:nvPr/>
        </p:nvSpPr>
        <p:spPr>
          <a:xfrm>
            <a:off x="4892040" y="5623560"/>
            <a:ext cx="1188720" cy="182880"/>
          </a:xfrm>
          <a:prstGeom prst="rect">
            <a:avLst/>
          </a:prstGeom>
          <a:noFill/>
        </p:spPr>
        <p:txBody>
          <a:bodyPr wrap="square" lIns="45720" rIns="45720" anchor="t">
            <a:spAutoFit/>
          </a:bodyPr>
          <a:lstStyle/>
          <a:p>
            <a:pPr algn="l"/>
            <a:r>
              <a:rPr sz="850" b="1">
                <a:solidFill>
                  <a:srgbClr val="677082"/>
                </a:solidFill>
                <a:latin typeface="Aptos"/>
              </a:rPr>
              <a:t>TECHNOLOGIES</a:t>
            </a:r>
          </a:p>
        </p:txBody>
      </p:sp>
      <p:sp>
        <p:nvSpPr>
          <p:cNvPr id="65" name="Rounded Rectangle 64"/>
          <p:cNvSpPr/>
          <p:nvPr/>
        </p:nvSpPr>
        <p:spPr>
          <a:xfrm>
            <a:off x="6144768" y="5559552"/>
            <a:ext cx="914400" cy="3474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172200" y="5650992"/>
            <a:ext cx="859536" cy="137160"/>
          </a:xfrm>
          <a:prstGeom prst="rect">
            <a:avLst/>
          </a:prstGeom>
          <a:noFill/>
        </p:spPr>
        <p:txBody>
          <a:bodyPr wrap="square" lIns="45720" rIns="45720" anchor="t">
            <a:spAutoFit/>
          </a:bodyPr>
          <a:lstStyle/>
          <a:p>
            <a:pPr algn="ctr"/>
            <a:r>
              <a:rPr sz="770" b="1">
                <a:solidFill>
                  <a:srgbClr val="34425F"/>
                </a:solidFill>
                <a:latin typeface="Aptos"/>
              </a:rPr>
              <a:t>PHP</a:t>
            </a:r>
          </a:p>
        </p:txBody>
      </p:sp>
      <p:sp>
        <p:nvSpPr>
          <p:cNvPr id="67" name="Rounded Rectangle 66"/>
          <p:cNvSpPr/>
          <p:nvPr/>
        </p:nvSpPr>
        <p:spPr>
          <a:xfrm>
            <a:off x="7168896" y="5559552"/>
            <a:ext cx="914400" cy="3474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196328" y="5650992"/>
            <a:ext cx="859536" cy="137160"/>
          </a:xfrm>
          <a:prstGeom prst="rect">
            <a:avLst/>
          </a:prstGeom>
          <a:noFill/>
        </p:spPr>
        <p:txBody>
          <a:bodyPr wrap="square" lIns="45720" rIns="45720" anchor="t">
            <a:spAutoFit/>
          </a:bodyPr>
          <a:lstStyle/>
          <a:p>
            <a:pPr algn="ctr"/>
            <a:r>
              <a:rPr sz="770" b="1">
                <a:solidFill>
                  <a:srgbClr val="34425F"/>
                </a:solidFill>
                <a:latin typeface="Aptos"/>
              </a:rPr>
              <a:t>MySQL</a:t>
            </a:r>
          </a:p>
        </p:txBody>
      </p:sp>
      <p:sp>
        <p:nvSpPr>
          <p:cNvPr id="69" name="Rounded Rectangle 68"/>
          <p:cNvSpPr/>
          <p:nvPr/>
        </p:nvSpPr>
        <p:spPr>
          <a:xfrm>
            <a:off x="8193024" y="5559552"/>
            <a:ext cx="914400" cy="3474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20456" y="5650992"/>
            <a:ext cx="859536" cy="137160"/>
          </a:xfrm>
          <a:prstGeom prst="rect">
            <a:avLst/>
          </a:prstGeom>
          <a:noFill/>
        </p:spPr>
        <p:txBody>
          <a:bodyPr wrap="square" lIns="45720" rIns="45720" anchor="t">
            <a:spAutoFit/>
          </a:bodyPr>
          <a:lstStyle/>
          <a:p>
            <a:pPr algn="ctr"/>
            <a:r>
              <a:rPr sz="770" b="1">
                <a:solidFill>
                  <a:srgbClr val="34425F"/>
                </a:solidFill>
                <a:latin typeface="Aptos"/>
              </a:rPr>
              <a:t>JavaScript</a:t>
            </a:r>
          </a:p>
        </p:txBody>
      </p:sp>
      <p:sp>
        <p:nvSpPr>
          <p:cNvPr id="71" name="Rounded Rectangle 70"/>
          <p:cNvSpPr/>
          <p:nvPr/>
        </p:nvSpPr>
        <p:spPr>
          <a:xfrm>
            <a:off x="9217152" y="5559552"/>
            <a:ext cx="914400" cy="3474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244584" y="5650992"/>
            <a:ext cx="859536" cy="137160"/>
          </a:xfrm>
          <a:prstGeom prst="rect">
            <a:avLst/>
          </a:prstGeom>
          <a:noFill/>
        </p:spPr>
        <p:txBody>
          <a:bodyPr wrap="square" lIns="45720" rIns="45720" anchor="t">
            <a:spAutoFit/>
          </a:bodyPr>
          <a:lstStyle/>
          <a:p>
            <a:pPr algn="ctr"/>
            <a:r>
              <a:rPr sz="770" b="1">
                <a:solidFill>
                  <a:srgbClr val="34425F"/>
                </a:solidFill>
                <a:latin typeface="Aptos"/>
              </a:rPr>
              <a:t>CSS</a:t>
            </a:r>
          </a:p>
        </p:txBody>
      </p:sp>
      <p:sp>
        <p:nvSpPr>
          <p:cNvPr id="73" name="Rounded Rectangle 72"/>
          <p:cNvSpPr/>
          <p:nvPr/>
        </p:nvSpPr>
        <p:spPr>
          <a:xfrm>
            <a:off x="10241280" y="5559552"/>
            <a:ext cx="914400" cy="3474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0268712" y="5650992"/>
            <a:ext cx="859536" cy="137160"/>
          </a:xfrm>
          <a:prstGeom prst="rect">
            <a:avLst/>
          </a:prstGeom>
          <a:noFill/>
        </p:spPr>
        <p:txBody>
          <a:bodyPr wrap="square" lIns="45720" rIns="45720" anchor="t">
            <a:spAutoFit/>
          </a:bodyPr>
          <a:lstStyle/>
          <a:p>
            <a:pPr algn="ctr"/>
            <a:r>
              <a:rPr sz="770" b="1">
                <a:solidFill>
                  <a:srgbClr val="34425F"/>
                </a:solidFill>
                <a:latin typeface="Aptos"/>
              </a:rPr>
              <a:t>AI Integration</a:t>
            </a:r>
          </a:p>
        </p:txBody>
      </p:sp>
      <p:cxnSp>
        <p:nvCxnSpPr>
          <p:cNvPr id="75" name="Connector 74"/>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77" name="TextBox 76"/>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07</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Advanced Security Implementation</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Security controls integrated throughout authentication, sessions and database access</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1353312" cy="786384"/>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 y="1645919"/>
            <a:ext cx="1243584" cy="411480"/>
          </a:xfrm>
          <a:prstGeom prst="rect">
            <a:avLst/>
          </a:prstGeom>
          <a:noFill/>
        </p:spPr>
        <p:txBody>
          <a:bodyPr wrap="square" lIns="45720" rIns="45720" anchor="ctr">
            <a:spAutoFit/>
          </a:bodyPr>
          <a:lstStyle/>
          <a:p>
            <a:pPr algn="ctr"/>
            <a:r>
              <a:rPr sz="850" b="1">
                <a:solidFill>
                  <a:srgbClr val="34425F"/>
                </a:solidFill>
                <a:latin typeface="Aptos"/>
              </a:rPr>
              <a:t>User Login</a:t>
            </a:r>
          </a:p>
        </p:txBody>
      </p:sp>
      <p:sp>
        <p:nvSpPr>
          <p:cNvPr id="9" name="TextBox 8"/>
          <p:cNvSpPr txBox="1"/>
          <p:nvPr/>
        </p:nvSpPr>
        <p:spPr>
          <a:xfrm>
            <a:off x="2093976" y="1746504"/>
            <a:ext cx="219456" cy="219456"/>
          </a:xfrm>
          <a:prstGeom prst="rect">
            <a:avLst/>
          </a:prstGeom>
          <a:noFill/>
        </p:spPr>
        <p:txBody>
          <a:bodyPr wrap="square" lIns="45720" rIns="45720" anchor="t">
            <a:spAutoFit/>
          </a:bodyPr>
          <a:lstStyle/>
          <a:p>
            <a:pPr algn="ctr"/>
            <a:r>
              <a:rPr sz="1300" b="1">
                <a:solidFill>
                  <a:srgbClr val="4AB2D0"/>
                </a:solidFill>
                <a:latin typeface="Aptos"/>
              </a:rPr>
              <a:t>→</a:t>
            </a:r>
          </a:p>
        </p:txBody>
      </p:sp>
      <p:sp>
        <p:nvSpPr>
          <p:cNvPr id="10" name="Rounded Rectangle 9"/>
          <p:cNvSpPr/>
          <p:nvPr/>
        </p:nvSpPr>
        <p:spPr>
          <a:xfrm>
            <a:off x="2340864" y="1508760"/>
            <a:ext cx="1353312" cy="786384"/>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95728" y="1645919"/>
            <a:ext cx="1243584" cy="411480"/>
          </a:xfrm>
          <a:prstGeom prst="rect">
            <a:avLst/>
          </a:prstGeom>
          <a:noFill/>
        </p:spPr>
        <p:txBody>
          <a:bodyPr wrap="square" lIns="45720" rIns="45720" anchor="ctr">
            <a:spAutoFit/>
          </a:bodyPr>
          <a:lstStyle/>
          <a:p>
            <a:pPr algn="ctr"/>
            <a:r>
              <a:rPr sz="850" b="1">
                <a:solidFill>
                  <a:srgbClr val="34425F"/>
                </a:solidFill>
                <a:latin typeface="Aptos"/>
              </a:rPr>
              <a:t>CSRF Validation</a:t>
            </a:r>
          </a:p>
        </p:txBody>
      </p:sp>
      <p:sp>
        <p:nvSpPr>
          <p:cNvPr id="12" name="TextBox 11"/>
          <p:cNvSpPr txBox="1"/>
          <p:nvPr/>
        </p:nvSpPr>
        <p:spPr>
          <a:xfrm>
            <a:off x="3703320" y="1746504"/>
            <a:ext cx="219456" cy="219456"/>
          </a:xfrm>
          <a:prstGeom prst="rect">
            <a:avLst/>
          </a:prstGeom>
          <a:noFill/>
        </p:spPr>
        <p:txBody>
          <a:bodyPr wrap="square" lIns="45720" rIns="45720" anchor="t">
            <a:spAutoFit/>
          </a:bodyPr>
          <a:lstStyle/>
          <a:p>
            <a:pPr algn="ctr"/>
            <a:r>
              <a:rPr sz="1300" b="1">
                <a:solidFill>
                  <a:srgbClr val="4AB2D0"/>
                </a:solidFill>
                <a:latin typeface="Aptos"/>
              </a:rPr>
              <a:t>→</a:t>
            </a:r>
          </a:p>
        </p:txBody>
      </p:sp>
      <p:sp>
        <p:nvSpPr>
          <p:cNvPr id="13" name="Rounded Rectangle 12"/>
          <p:cNvSpPr/>
          <p:nvPr/>
        </p:nvSpPr>
        <p:spPr>
          <a:xfrm>
            <a:off x="3950208" y="1508760"/>
            <a:ext cx="1353312" cy="786384"/>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05072" y="1645919"/>
            <a:ext cx="1243584" cy="411480"/>
          </a:xfrm>
          <a:prstGeom prst="rect">
            <a:avLst/>
          </a:prstGeom>
          <a:noFill/>
        </p:spPr>
        <p:txBody>
          <a:bodyPr wrap="square" lIns="45720" rIns="45720" anchor="ctr">
            <a:spAutoFit/>
          </a:bodyPr>
          <a:lstStyle/>
          <a:p>
            <a:pPr algn="ctr"/>
            <a:r>
              <a:rPr sz="850" b="1">
                <a:solidFill>
                  <a:srgbClr val="34425F"/>
                </a:solidFill>
                <a:latin typeface="Aptos"/>
              </a:rPr>
              <a:t>Rate Limiting</a:t>
            </a:r>
          </a:p>
        </p:txBody>
      </p:sp>
      <p:sp>
        <p:nvSpPr>
          <p:cNvPr id="15" name="TextBox 14"/>
          <p:cNvSpPr txBox="1"/>
          <p:nvPr/>
        </p:nvSpPr>
        <p:spPr>
          <a:xfrm>
            <a:off x="5312664" y="1746504"/>
            <a:ext cx="219456" cy="219456"/>
          </a:xfrm>
          <a:prstGeom prst="rect">
            <a:avLst/>
          </a:prstGeom>
          <a:noFill/>
        </p:spPr>
        <p:txBody>
          <a:bodyPr wrap="square" lIns="45720" rIns="45720" anchor="t">
            <a:spAutoFit/>
          </a:bodyPr>
          <a:lstStyle/>
          <a:p>
            <a:pPr algn="ctr"/>
            <a:r>
              <a:rPr sz="1300" b="1">
                <a:solidFill>
                  <a:srgbClr val="4AB2D0"/>
                </a:solidFill>
                <a:latin typeface="Aptos"/>
              </a:rPr>
              <a:t>→</a:t>
            </a:r>
          </a:p>
        </p:txBody>
      </p:sp>
      <p:sp>
        <p:nvSpPr>
          <p:cNvPr id="16" name="Rounded Rectangle 15"/>
          <p:cNvSpPr/>
          <p:nvPr/>
        </p:nvSpPr>
        <p:spPr>
          <a:xfrm>
            <a:off x="5559552" y="1508760"/>
            <a:ext cx="1353312" cy="786384"/>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14416" y="1645919"/>
            <a:ext cx="1243584" cy="411480"/>
          </a:xfrm>
          <a:prstGeom prst="rect">
            <a:avLst/>
          </a:prstGeom>
          <a:noFill/>
        </p:spPr>
        <p:txBody>
          <a:bodyPr wrap="square" lIns="45720" rIns="45720" anchor="ctr">
            <a:spAutoFit/>
          </a:bodyPr>
          <a:lstStyle/>
          <a:p>
            <a:pPr algn="ctr"/>
            <a:r>
              <a:rPr sz="850" b="1">
                <a:solidFill>
                  <a:srgbClr val="34425F"/>
                </a:solidFill>
                <a:latin typeface="Aptos"/>
              </a:rPr>
              <a:t>Password Verification</a:t>
            </a:r>
          </a:p>
        </p:txBody>
      </p:sp>
      <p:sp>
        <p:nvSpPr>
          <p:cNvPr id="18" name="TextBox 17"/>
          <p:cNvSpPr txBox="1"/>
          <p:nvPr/>
        </p:nvSpPr>
        <p:spPr>
          <a:xfrm>
            <a:off x="6922008" y="1746504"/>
            <a:ext cx="219456" cy="219456"/>
          </a:xfrm>
          <a:prstGeom prst="rect">
            <a:avLst/>
          </a:prstGeom>
          <a:noFill/>
        </p:spPr>
        <p:txBody>
          <a:bodyPr wrap="square" lIns="45720" rIns="45720" anchor="t">
            <a:spAutoFit/>
          </a:bodyPr>
          <a:lstStyle/>
          <a:p>
            <a:pPr algn="ctr"/>
            <a:r>
              <a:rPr sz="1300" b="1">
                <a:solidFill>
                  <a:srgbClr val="4AB2D0"/>
                </a:solidFill>
                <a:latin typeface="Aptos"/>
              </a:rPr>
              <a:t>→</a:t>
            </a:r>
          </a:p>
        </p:txBody>
      </p:sp>
      <p:sp>
        <p:nvSpPr>
          <p:cNvPr id="19" name="Rounded Rectangle 18"/>
          <p:cNvSpPr/>
          <p:nvPr/>
        </p:nvSpPr>
        <p:spPr>
          <a:xfrm>
            <a:off x="7168896" y="1508760"/>
            <a:ext cx="1353312" cy="786384"/>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23759" y="1645919"/>
            <a:ext cx="1243584" cy="411480"/>
          </a:xfrm>
          <a:prstGeom prst="rect">
            <a:avLst/>
          </a:prstGeom>
          <a:noFill/>
        </p:spPr>
        <p:txBody>
          <a:bodyPr wrap="square" lIns="45720" rIns="45720" anchor="ctr">
            <a:spAutoFit/>
          </a:bodyPr>
          <a:lstStyle/>
          <a:p>
            <a:pPr algn="ctr"/>
            <a:r>
              <a:rPr sz="850" b="1">
                <a:solidFill>
                  <a:srgbClr val="34425F"/>
                </a:solidFill>
                <a:latin typeface="Aptos"/>
              </a:rPr>
              <a:t>Session Regeneration</a:t>
            </a:r>
          </a:p>
        </p:txBody>
      </p:sp>
      <p:sp>
        <p:nvSpPr>
          <p:cNvPr id="21" name="TextBox 20"/>
          <p:cNvSpPr txBox="1"/>
          <p:nvPr/>
        </p:nvSpPr>
        <p:spPr>
          <a:xfrm>
            <a:off x="8531352" y="1746504"/>
            <a:ext cx="219456" cy="219456"/>
          </a:xfrm>
          <a:prstGeom prst="rect">
            <a:avLst/>
          </a:prstGeom>
          <a:noFill/>
        </p:spPr>
        <p:txBody>
          <a:bodyPr wrap="square" lIns="45720" rIns="45720" anchor="t">
            <a:spAutoFit/>
          </a:bodyPr>
          <a:lstStyle/>
          <a:p>
            <a:pPr algn="ctr"/>
            <a:r>
              <a:rPr sz="1300" b="1">
                <a:solidFill>
                  <a:srgbClr val="4AB2D0"/>
                </a:solidFill>
                <a:latin typeface="Aptos"/>
              </a:rPr>
              <a:t>→</a:t>
            </a:r>
          </a:p>
        </p:txBody>
      </p:sp>
      <p:sp>
        <p:nvSpPr>
          <p:cNvPr id="22" name="Rounded Rectangle 21"/>
          <p:cNvSpPr/>
          <p:nvPr/>
        </p:nvSpPr>
        <p:spPr>
          <a:xfrm>
            <a:off x="8778240" y="1508760"/>
            <a:ext cx="1353312" cy="786384"/>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33104" y="1645919"/>
            <a:ext cx="1243584" cy="411480"/>
          </a:xfrm>
          <a:prstGeom prst="rect">
            <a:avLst/>
          </a:prstGeom>
          <a:noFill/>
        </p:spPr>
        <p:txBody>
          <a:bodyPr wrap="square" lIns="45720" rIns="45720" anchor="ctr">
            <a:spAutoFit/>
          </a:bodyPr>
          <a:lstStyle/>
          <a:p>
            <a:pPr algn="ctr"/>
            <a:r>
              <a:rPr sz="850" b="1">
                <a:solidFill>
                  <a:srgbClr val="34425F"/>
                </a:solidFill>
                <a:latin typeface="Aptos"/>
              </a:rPr>
              <a:t>Device Registration</a:t>
            </a:r>
          </a:p>
        </p:txBody>
      </p:sp>
      <p:sp>
        <p:nvSpPr>
          <p:cNvPr id="24" name="TextBox 23"/>
          <p:cNvSpPr txBox="1"/>
          <p:nvPr/>
        </p:nvSpPr>
        <p:spPr>
          <a:xfrm>
            <a:off x="10140696" y="1746504"/>
            <a:ext cx="219456" cy="219456"/>
          </a:xfrm>
          <a:prstGeom prst="rect">
            <a:avLst/>
          </a:prstGeom>
          <a:noFill/>
        </p:spPr>
        <p:txBody>
          <a:bodyPr wrap="square" lIns="45720" rIns="45720" anchor="t">
            <a:spAutoFit/>
          </a:bodyPr>
          <a:lstStyle/>
          <a:p>
            <a:pPr algn="ctr"/>
            <a:r>
              <a:rPr sz="1300" b="1">
                <a:solidFill>
                  <a:srgbClr val="4AB2D0"/>
                </a:solidFill>
                <a:latin typeface="Aptos"/>
              </a:rPr>
              <a:t>→</a:t>
            </a:r>
          </a:p>
        </p:txBody>
      </p:sp>
      <p:sp>
        <p:nvSpPr>
          <p:cNvPr id="25" name="Rounded Rectangle 24"/>
          <p:cNvSpPr/>
          <p:nvPr/>
        </p:nvSpPr>
        <p:spPr>
          <a:xfrm>
            <a:off x="10387584" y="1508760"/>
            <a:ext cx="1353312" cy="786384"/>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442448" y="1645919"/>
            <a:ext cx="1243584" cy="411480"/>
          </a:xfrm>
          <a:prstGeom prst="rect">
            <a:avLst/>
          </a:prstGeom>
          <a:noFill/>
        </p:spPr>
        <p:txBody>
          <a:bodyPr wrap="square" lIns="45720" rIns="45720" anchor="ctr">
            <a:spAutoFit/>
          </a:bodyPr>
          <a:lstStyle/>
          <a:p>
            <a:pPr algn="ctr"/>
            <a:r>
              <a:rPr sz="850" b="1">
                <a:solidFill>
                  <a:srgbClr val="34425F"/>
                </a:solidFill>
                <a:latin typeface="Aptos"/>
              </a:rPr>
              <a:t>Audit Logging</a:t>
            </a:r>
          </a:p>
        </p:txBody>
      </p:sp>
      <p:sp>
        <p:nvSpPr>
          <p:cNvPr id="27" name="Rounded Rectangle 26"/>
          <p:cNvSpPr/>
          <p:nvPr/>
        </p:nvSpPr>
        <p:spPr>
          <a:xfrm>
            <a:off x="777240" y="27889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78408" y="29900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29" name="TextBox 28"/>
          <p:cNvSpPr txBox="1"/>
          <p:nvPr/>
        </p:nvSpPr>
        <p:spPr>
          <a:xfrm>
            <a:off x="1435607" y="2953512"/>
            <a:ext cx="1673352" cy="310896"/>
          </a:xfrm>
          <a:prstGeom prst="rect">
            <a:avLst/>
          </a:prstGeom>
          <a:noFill/>
        </p:spPr>
        <p:txBody>
          <a:bodyPr wrap="square" lIns="45720" rIns="45720" anchor="t">
            <a:spAutoFit/>
          </a:bodyPr>
          <a:lstStyle/>
          <a:p>
            <a:pPr algn="l"/>
            <a:r>
              <a:rPr sz="1150" b="1">
                <a:solidFill>
                  <a:srgbClr val="34425F"/>
                </a:solidFill>
                <a:latin typeface="Aptos"/>
              </a:rPr>
              <a:t>Password Hashing</a:t>
            </a:r>
          </a:p>
        </p:txBody>
      </p:sp>
      <p:sp>
        <p:nvSpPr>
          <p:cNvPr id="30" name="TextBox 29"/>
          <p:cNvSpPr txBox="1"/>
          <p:nvPr/>
        </p:nvSpPr>
        <p:spPr>
          <a:xfrm>
            <a:off x="978408" y="3383279"/>
            <a:ext cx="2066544" cy="320039"/>
          </a:xfrm>
          <a:prstGeom prst="rect">
            <a:avLst/>
          </a:prstGeom>
          <a:noFill/>
        </p:spPr>
        <p:txBody>
          <a:bodyPr wrap="square" lIns="45720" rIns="45720" anchor="t">
            <a:spAutoFit/>
          </a:bodyPr>
          <a:lstStyle/>
          <a:p>
            <a:pPr algn="l"/>
            <a:r>
              <a:rPr sz="919" b="0">
                <a:solidFill>
                  <a:srgbClr val="677082"/>
                </a:solidFill>
                <a:latin typeface="Aptos"/>
              </a:rPr>
              <a:t>Protected credential storage</a:t>
            </a:r>
          </a:p>
        </p:txBody>
      </p:sp>
      <p:sp>
        <p:nvSpPr>
          <p:cNvPr id="31" name="Rounded Rectangle 30"/>
          <p:cNvSpPr/>
          <p:nvPr/>
        </p:nvSpPr>
        <p:spPr>
          <a:xfrm>
            <a:off x="3593592" y="27889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794760" y="29900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33" name="TextBox 32"/>
          <p:cNvSpPr txBox="1"/>
          <p:nvPr/>
        </p:nvSpPr>
        <p:spPr>
          <a:xfrm>
            <a:off x="4251960" y="2953512"/>
            <a:ext cx="1673352" cy="310896"/>
          </a:xfrm>
          <a:prstGeom prst="rect">
            <a:avLst/>
          </a:prstGeom>
          <a:noFill/>
        </p:spPr>
        <p:txBody>
          <a:bodyPr wrap="square" lIns="45720" rIns="45720" anchor="t">
            <a:spAutoFit/>
          </a:bodyPr>
          <a:lstStyle/>
          <a:p>
            <a:pPr algn="l"/>
            <a:r>
              <a:rPr sz="1150" b="1">
                <a:solidFill>
                  <a:srgbClr val="34425F"/>
                </a:solidFill>
                <a:latin typeface="Aptos"/>
              </a:rPr>
              <a:t>Timing-Safe Login</a:t>
            </a:r>
          </a:p>
        </p:txBody>
      </p:sp>
      <p:sp>
        <p:nvSpPr>
          <p:cNvPr id="34" name="TextBox 33"/>
          <p:cNvSpPr txBox="1"/>
          <p:nvPr/>
        </p:nvSpPr>
        <p:spPr>
          <a:xfrm>
            <a:off x="3794760" y="3383279"/>
            <a:ext cx="2066544" cy="320039"/>
          </a:xfrm>
          <a:prstGeom prst="rect">
            <a:avLst/>
          </a:prstGeom>
          <a:noFill/>
        </p:spPr>
        <p:txBody>
          <a:bodyPr wrap="square" lIns="45720" rIns="45720" anchor="t">
            <a:spAutoFit/>
          </a:bodyPr>
          <a:lstStyle/>
          <a:p>
            <a:pPr algn="l"/>
            <a:r>
              <a:rPr sz="919" b="0">
                <a:solidFill>
                  <a:srgbClr val="677082"/>
                </a:solidFill>
                <a:latin typeface="Aptos"/>
              </a:rPr>
              <a:t>Reduced comparison timing risks</a:t>
            </a:r>
          </a:p>
        </p:txBody>
      </p:sp>
      <p:sp>
        <p:nvSpPr>
          <p:cNvPr id="35" name="Rounded Rectangle 34"/>
          <p:cNvSpPr/>
          <p:nvPr/>
        </p:nvSpPr>
        <p:spPr>
          <a:xfrm>
            <a:off x="6409944" y="27889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611112" y="29900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37" name="TextBox 36"/>
          <p:cNvSpPr txBox="1"/>
          <p:nvPr/>
        </p:nvSpPr>
        <p:spPr>
          <a:xfrm>
            <a:off x="7068312" y="2953512"/>
            <a:ext cx="1673352" cy="310896"/>
          </a:xfrm>
          <a:prstGeom prst="rect">
            <a:avLst/>
          </a:prstGeom>
          <a:noFill/>
        </p:spPr>
        <p:txBody>
          <a:bodyPr wrap="square" lIns="45720" rIns="45720" anchor="t">
            <a:spAutoFit/>
          </a:bodyPr>
          <a:lstStyle/>
          <a:p>
            <a:pPr algn="l"/>
            <a:r>
              <a:rPr sz="1150" b="1">
                <a:solidFill>
                  <a:srgbClr val="34425F"/>
                </a:solidFill>
                <a:latin typeface="Aptos"/>
              </a:rPr>
              <a:t>Account Lockout</a:t>
            </a:r>
          </a:p>
        </p:txBody>
      </p:sp>
      <p:sp>
        <p:nvSpPr>
          <p:cNvPr id="38" name="TextBox 37"/>
          <p:cNvSpPr txBox="1"/>
          <p:nvPr/>
        </p:nvSpPr>
        <p:spPr>
          <a:xfrm>
            <a:off x="6611112" y="3383279"/>
            <a:ext cx="2066544" cy="320039"/>
          </a:xfrm>
          <a:prstGeom prst="rect">
            <a:avLst/>
          </a:prstGeom>
          <a:noFill/>
        </p:spPr>
        <p:txBody>
          <a:bodyPr wrap="square" lIns="45720" rIns="45720" anchor="t">
            <a:spAutoFit/>
          </a:bodyPr>
          <a:lstStyle/>
          <a:p>
            <a:pPr algn="l"/>
            <a:r>
              <a:rPr sz="919" b="0">
                <a:solidFill>
                  <a:srgbClr val="677082"/>
                </a:solidFill>
                <a:latin typeface="Aptos"/>
              </a:rPr>
              <a:t>Mitigates repeated attempts</a:t>
            </a:r>
          </a:p>
        </p:txBody>
      </p:sp>
      <p:sp>
        <p:nvSpPr>
          <p:cNvPr id="39" name="Rounded Rectangle 38"/>
          <p:cNvSpPr/>
          <p:nvPr/>
        </p:nvSpPr>
        <p:spPr>
          <a:xfrm>
            <a:off x="9226296" y="27889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9427464" y="29900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41" name="TextBox 40"/>
          <p:cNvSpPr txBox="1"/>
          <p:nvPr/>
        </p:nvSpPr>
        <p:spPr>
          <a:xfrm>
            <a:off x="9884664" y="2953512"/>
            <a:ext cx="1673351" cy="310896"/>
          </a:xfrm>
          <a:prstGeom prst="rect">
            <a:avLst/>
          </a:prstGeom>
          <a:noFill/>
        </p:spPr>
        <p:txBody>
          <a:bodyPr wrap="square" lIns="45720" rIns="45720" anchor="t">
            <a:spAutoFit/>
          </a:bodyPr>
          <a:lstStyle/>
          <a:p>
            <a:pPr algn="l"/>
            <a:r>
              <a:rPr sz="1150" b="1">
                <a:solidFill>
                  <a:srgbClr val="34425F"/>
                </a:solidFill>
                <a:latin typeface="Aptos"/>
              </a:rPr>
              <a:t>RBAC</a:t>
            </a:r>
          </a:p>
        </p:txBody>
      </p:sp>
      <p:sp>
        <p:nvSpPr>
          <p:cNvPr id="42" name="TextBox 41"/>
          <p:cNvSpPr txBox="1"/>
          <p:nvPr/>
        </p:nvSpPr>
        <p:spPr>
          <a:xfrm>
            <a:off x="9427464" y="3383279"/>
            <a:ext cx="2066544" cy="320039"/>
          </a:xfrm>
          <a:prstGeom prst="rect">
            <a:avLst/>
          </a:prstGeom>
          <a:noFill/>
        </p:spPr>
        <p:txBody>
          <a:bodyPr wrap="square" lIns="45720" rIns="45720" anchor="t">
            <a:spAutoFit/>
          </a:bodyPr>
          <a:lstStyle/>
          <a:p>
            <a:pPr algn="l"/>
            <a:r>
              <a:rPr sz="919" b="0">
                <a:solidFill>
                  <a:srgbClr val="677082"/>
                </a:solidFill>
                <a:latin typeface="Aptos"/>
              </a:rPr>
              <a:t>Controls permissions by role</a:t>
            </a:r>
          </a:p>
        </p:txBody>
      </p:sp>
      <p:sp>
        <p:nvSpPr>
          <p:cNvPr id="43" name="Rounded Rectangle 42"/>
          <p:cNvSpPr/>
          <p:nvPr/>
        </p:nvSpPr>
        <p:spPr>
          <a:xfrm>
            <a:off x="777240" y="420624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78408" y="440740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5</a:t>
            </a:r>
          </a:p>
        </p:txBody>
      </p:sp>
      <p:sp>
        <p:nvSpPr>
          <p:cNvPr id="45" name="TextBox 44"/>
          <p:cNvSpPr txBox="1"/>
          <p:nvPr/>
        </p:nvSpPr>
        <p:spPr>
          <a:xfrm>
            <a:off x="1435607" y="4370831"/>
            <a:ext cx="1673352" cy="310896"/>
          </a:xfrm>
          <a:prstGeom prst="rect">
            <a:avLst/>
          </a:prstGeom>
          <a:noFill/>
        </p:spPr>
        <p:txBody>
          <a:bodyPr wrap="square" lIns="45720" rIns="45720" anchor="t">
            <a:spAutoFit/>
          </a:bodyPr>
          <a:lstStyle/>
          <a:p>
            <a:pPr algn="l"/>
            <a:r>
              <a:rPr sz="1150" b="1">
                <a:solidFill>
                  <a:srgbClr val="34425F"/>
                </a:solidFill>
                <a:latin typeface="Aptos"/>
              </a:rPr>
              <a:t>Secure Tokens</a:t>
            </a:r>
          </a:p>
        </p:txBody>
      </p:sp>
      <p:sp>
        <p:nvSpPr>
          <p:cNvPr id="46" name="TextBox 45"/>
          <p:cNvSpPr txBox="1"/>
          <p:nvPr/>
        </p:nvSpPr>
        <p:spPr>
          <a:xfrm>
            <a:off x="978408" y="4800600"/>
            <a:ext cx="2066544" cy="320039"/>
          </a:xfrm>
          <a:prstGeom prst="rect">
            <a:avLst/>
          </a:prstGeom>
          <a:noFill/>
        </p:spPr>
        <p:txBody>
          <a:bodyPr wrap="square" lIns="45720" rIns="45720" anchor="t">
            <a:spAutoFit/>
          </a:bodyPr>
          <a:lstStyle/>
          <a:p>
            <a:pPr algn="l"/>
            <a:r>
              <a:rPr sz="919" b="0">
                <a:solidFill>
                  <a:srgbClr val="677082"/>
                </a:solidFill>
                <a:latin typeface="Aptos"/>
              </a:rPr>
              <a:t>Remember-me token handling</a:t>
            </a:r>
          </a:p>
        </p:txBody>
      </p:sp>
      <p:sp>
        <p:nvSpPr>
          <p:cNvPr id="47" name="Rounded Rectangle 46"/>
          <p:cNvSpPr/>
          <p:nvPr/>
        </p:nvSpPr>
        <p:spPr>
          <a:xfrm>
            <a:off x="3593592" y="420624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3794760" y="440740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6</a:t>
            </a:r>
          </a:p>
        </p:txBody>
      </p:sp>
      <p:sp>
        <p:nvSpPr>
          <p:cNvPr id="49" name="TextBox 48"/>
          <p:cNvSpPr txBox="1"/>
          <p:nvPr/>
        </p:nvSpPr>
        <p:spPr>
          <a:xfrm>
            <a:off x="4251960" y="4370831"/>
            <a:ext cx="1673352" cy="310896"/>
          </a:xfrm>
          <a:prstGeom prst="rect">
            <a:avLst/>
          </a:prstGeom>
          <a:noFill/>
        </p:spPr>
        <p:txBody>
          <a:bodyPr wrap="square" lIns="45720" rIns="45720" anchor="t">
            <a:spAutoFit/>
          </a:bodyPr>
          <a:lstStyle/>
          <a:p>
            <a:pPr algn="l"/>
            <a:r>
              <a:rPr sz="1150" b="1">
                <a:solidFill>
                  <a:srgbClr val="34425F"/>
                </a:solidFill>
                <a:latin typeface="Aptos"/>
              </a:rPr>
              <a:t>Prepared SQL</a:t>
            </a:r>
          </a:p>
        </p:txBody>
      </p:sp>
      <p:sp>
        <p:nvSpPr>
          <p:cNvPr id="50" name="TextBox 49"/>
          <p:cNvSpPr txBox="1"/>
          <p:nvPr/>
        </p:nvSpPr>
        <p:spPr>
          <a:xfrm>
            <a:off x="3794760" y="4800600"/>
            <a:ext cx="2066544" cy="320039"/>
          </a:xfrm>
          <a:prstGeom prst="rect">
            <a:avLst/>
          </a:prstGeom>
          <a:noFill/>
        </p:spPr>
        <p:txBody>
          <a:bodyPr wrap="square" lIns="45720" rIns="45720" anchor="t">
            <a:spAutoFit/>
          </a:bodyPr>
          <a:lstStyle/>
          <a:p>
            <a:pPr algn="l"/>
            <a:r>
              <a:rPr sz="919" b="0">
                <a:solidFill>
                  <a:srgbClr val="677082"/>
                </a:solidFill>
                <a:latin typeface="Aptos"/>
              </a:rPr>
              <a:t>Safer database operations</a:t>
            </a:r>
          </a:p>
        </p:txBody>
      </p:sp>
      <p:sp>
        <p:nvSpPr>
          <p:cNvPr id="51" name="Rounded Rectangle 50"/>
          <p:cNvSpPr/>
          <p:nvPr/>
        </p:nvSpPr>
        <p:spPr>
          <a:xfrm>
            <a:off x="6409944" y="420624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611112" y="440740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7</a:t>
            </a:r>
          </a:p>
        </p:txBody>
      </p:sp>
      <p:sp>
        <p:nvSpPr>
          <p:cNvPr id="53" name="TextBox 52"/>
          <p:cNvSpPr txBox="1"/>
          <p:nvPr/>
        </p:nvSpPr>
        <p:spPr>
          <a:xfrm>
            <a:off x="7068312" y="4370831"/>
            <a:ext cx="1673352" cy="310896"/>
          </a:xfrm>
          <a:prstGeom prst="rect">
            <a:avLst/>
          </a:prstGeom>
          <a:noFill/>
        </p:spPr>
        <p:txBody>
          <a:bodyPr wrap="square" lIns="45720" rIns="45720" anchor="t">
            <a:spAutoFit/>
          </a:bodyPr>
          <a:lstStyle/>
          <a:p>
            <a:pPr algn="l"/>
            <a:r>
              <a:rPr sz="1150" b="1">
                <a:solidFill>
                  <a:srgbClr val="34425F"/>
                </a:solidFill>
                <a:latin typeface="Aptos"/>
              </a:rPr>
              <a:t>Security Headers</a:t>
            </a:r>
          </a:p>
        </p:txBody>
      </p:sp>
      <p:sp>
        <p:nvSpPr>
          <p:cNvPr id="54" name="TextBox 53"/>
          <p:cNvSpPr txBox="1"/>
          <p:nvPr/>
        </p:nvSpPr>
        <p:spPr>
          <a:xfrm>
            <a:off x="6611112" y="4800600"/>
            <a:ext cx="2066544" cy="320039"/>
          </a:xfrm>
          <a:prstGeom prst="rect">
            <a:avLst/>
          </a:prstGeom>
          <a:noFill/>
        </p:spPr>
        <p:txBody>
          <a:bodyPr wrap="square" lIns="45720" rIns="45720" anchor="t">
            <a:spAutoFit/>
          </a:bodyPr>
          <a:lstStyle/>
          <a:p>
            <a:pPr algn="l"/>
            <a:r>
              <a:rPr sz="919" b="0">
                <a:solidFill>
                  <a:srgbClr val="677082"/>
                </a:solidFill>
                <a:latin typeface="Aptos"/>
              </a:rPr>
              <a:t>Browser protection controls</a:t>
            </a:r>
          </a:p>
        </p:txBody>
      </p:sp>
      <p:sp>
        <p:nvSpPr>
          <p:cNvPr id="55" name="Rounded Rectangle 54"/>
          <p:cNvSpPr/>
          <p:nvPr/>
        </p:nvSpPr>
        <p:spPr>
          <a:xfrm>
            <a:off x="9226296" y="420624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427464" y="440740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8</a:t>
            </a:r>
          </a:p>
        </p:txBody>
      </p:sp>
      <p:sp>
        <p:nvSpPr>
          <p:cNvPr id="57" name="TextBox 56"/>
          <p:cNvSpPr txBox="1"/>
          <p:nvPr/>
        </p:nvSpPr>
        <p:spPr>
          <a:xfrm>
            <a:off x="9884664" y="4370831"/>
            <a:ext cx="1673351" cy="310896"/>
          </a:xfrm>
          <a:prstGeom prst="rect">
            <a:avLst/>
          </a:prstGeom>
          <a:noFill/>
        </p:spPr>
        <p:txBody>
          <a:bodyPr wrap="square" lIns="45720" rIns="45720" anchor="t">
            <a:spAutoFit/>
          </a:bodyPr>
          <a:lstStyle/>
          <a:p>
            <a:pPr algn="l"/>
            <a:r>
              <a:rPr sz="1150" b="1">
                <a:solidFill>
                  <a:srgbClr val="34425F"/>
                </a:solidFill>
                <a:latin typeface="Aptos"/>
              </a:rPr>
              <a:t>Audit Logging</a:t>
            </a:r>
          </a:p>
        </p:txBody>
      </p:sp>
      <p:sp>
        <p:nvSpPr>
          <p:cNvPr id="58" name="TextBox 57"/>
          <p:cNvSpPr txBox="1"/>
          <p:nvPr/>
        </p:nvSpPr>
        <p:spPr>
          <a:xfrm>
            <a:off x="9427464" y="4800600"/>
            <a:ext cx="2066544" cy="320039"/>
          </a:xfrm>
          <a:prstGeom prst="rect">
            <a:avLst/>
          </a:prstGeom>
          <a:noFill/>
        </p:spPr>
        <p:txBody>
          <a:bodyPr wrap="square" lIns="45720" rIns="45720" anchor="t">
            <a:spAutoFit/>
          </a:bodyPr>
          <a:lstStyle/>
          <a:p>
            <a:pPr algn="l"/>
            <a:r>
              <a:rPr sz="919" b="0">
                <a:solidFill>
                  <a:srgbClr val="677082"/>
                </a:solidFill>
                <a:latin typeface="Aptos"/>
              </a:rPr>
              <a:t>Traceability of key actions</a:t>
            </a:r>
          </a:p>
        </p:txBody>
      </p:sp>
      <p:sp>
        <p:nvSpPr>
          <p:cNvPr id="59" name="Rounded Rectangle 58"/>
          <p:cNvSpPr/>
          <p:nvPr/>
        </p:nvSpPr>
        <p:spPr>
          <a:xfrm>
            <a:off x="777240" y="5650992"/>
            <a:ext cx="10698480" cy="411480"/>
          </a:xfrm>
          <a:prstGeom prst="roundRect">
            <a:avLst/>
          </a:prstGeom>
          <a:solidFill>
            <a:srgbClr val="E7ECF5"/>
          </a:solidFill>
          <a:ln w="8890">
            <a:solidFill>
              <a:srgbClr val="E7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05840" y="5751576"/>
            <a:ext cx="10058400" cy="182880"/>
          </a:xfrm>
          <a:prstGeom prst="rect">
            <a:avLst/>
          </a:prstGeom>
          <a:noFill/>
        </p:spPr>
        <p:txBody>
          <a:bodyPr wrap="square" lIns="45720" rIns="45720" anchor="t">
            <a:spAutoFit/>
          </a:bodyPr>
          <a:lstStyle/>
          <a:p>
            <a:pPr algn="ctr"/>
            <a:r>
              <a:rPr sz="980" b="1">
                <a:solidFill>
                  <a:srgbClr val="34425F"/>
                </a:solidFill>
                <a:latin typeface="Aptos"/>
              </a:rPr>
              <a:t>Security was treated as an engineering layer—not a final add-on.</a:t>
            </a:r>
          </a:p>
        </p:txBody>
      </p:sp>
      <p:cxnSp>
        <p:nvCxnSpPr>
          <p:cNvPr id="61" name="Connector 60"/>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63" name="TextBox 62"/>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08</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Generative AI Integration — FLUX.1</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Automated product imagery through a controlled generation and caching workflow</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1417320"/>
            <a:ext cx="166878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 y="1536192"/>
            <a:ext cx="1559052" cy="493776"/>
          </a:xfrm>
          <a:prstGeom prst="rect">
            <a:avLst/>
          </a:prstGeom>
          <a:noFill/>
        </p:spPr>
        <p:txBody>
          <a:bodyPr wrap="square" lIns="45720" rIns="45720" anchor="ctr">
            <a:spAutoFit/>
          </a:bodyPr>
          <a:lstStyle/>
          <a:p>
            <a:pPr algn="ctr"/>
            <a:r>
              <a:rPr sz="919" b="1">
                <a:solidFill>
                  <a:srgbClr val="34425F"/>
                </a:solidFill>
                <a:latin typeface="Aptos"/>
              </a:rPr>
              <a:t>Product Name + Category</a:t>
            </a:r>
          </a:p>
        </p:txBody>
      </p:sp>
      <p:sp>
        <p:nvSpPr>
          <p:cNvPr id="9" name="TextBox 8"/>
          <p:cNvSpPr txBox="1"/>
          <p:nvPr/>
        </p:nvSpPr>
        <p:spPr>
          <a:xfrm>
            <a:off x="2382012" y="158191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0" name="Rounded Rectangle 9"/>
          <p:cNvSpPr/>
          <p:nvPr/>
        </p:nvSpPr>
        <p:spPr>
          <a:xfrm>
            <a:off x="2519172" y="1417320"/>
            <a:ext cx="166878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74036" y="1536192"/>
            <a:ext cx="1559052" cy="493776"/>
          </a:xfrm>
          <a:prstGeom prst="rect">
            <a:avLst/>
          </a:prstGeom>
          <a:noFill/>
        </p:spPr>
        <p:txBody>
          <a:bodyPr wrap="square" lIns="45720" rIns="45720" anchor="ctr">
            <a:spAutoFit/>
          </a:bodyPr>
          <a:lstStyle/>
          <a:p>
            <a:pPr algn="ctr"/>
            <a:r>
              <a:rPr sz="919" b="1">
                <a:solidFill>
                  <a:srgbClr val="34425F"/>
                </a:solidFill>
                <a:latin typeface="Aptos"/>
              </a:rPr>
              <a:t>Prompt Generation</a:t>
            </a:r>
          </a:p>
        </p:txBody>
      </p:sp>
      <p:sp>
        <p:nvSpPr>
          <p:cNvPr id="12" name="TextBox 11"/>
          <p:cNvSpPr txBox="1"/>
          <p:nvPr/>
        </p:nvSpPr>
        <p:spPr>
          <a:xfrm>
            <a:off x="4215384" y="158191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3" name="Rounded Rectangle 12"/>
          <p:cNvSpPr/>
          <p:nvPr/>
        </p:nvSpPr>
        <p:spPr>
          <a:xfrm>
            <a:off x="4352544" y="1417320"/>
            <a:ext cx="166878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07407" y="1536192"/>
            <a:ext cx="1559052" cy="493776"/>
          </a:xfrm>
          <a:prstGeom prst="rect">
            <a:avLst/>
          </a:prstGeom>
          <a:noFill/>
        </p:spPr>
        <p:txBody>
          <a:bodyPr wrap="square" lIns="45720" rIns="45720" anchor="ctr">
            <a:spAutoFit/>
          </a:bodyPr>
          <a:lstStyle/>
          <a:p>
            <a:pPr algn="ctr"/>
            <a:r>
              <a:rPr sz="919" b="1">
                <a:solidFill>
                  <a:srgbClr val="34425F"/>
                </a:solidFill>
                <a:latin typeface="Aptos"/>
              </a:rPr>
              <a:t>FLUX.1 AI</a:t>
            </a:r>
          </a:p>
        </p:txBody>
      </p:sp>
      <p:sp>
        <p:nvSpPr>
          <p:cNvPr id="15" name="TextBox 14"/>
          <p:cNvSpPr txBox="1"/>
          <p:nvPr/>
        </p:nvSpPr>
        <p:spPr>
          <a:xfrm>
            <a:off x="6048756" y="158191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6" name="Rounded Rectangle 15"/>
          <p:cNvSpPr/>
          <p:nvPr/>
        </p:nvSpPr>
        <p:spPr>
          <a:xfrm>
            <a:off x="6185916" y="1417320"/>
            <a:ext cx="166878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40779" y="1536192"/>
            <a:ext cx="1559052" cy="493776"/>
          </a:xfrm>
          <a:prstGeom prst="rect">
            <a:avLst/>
          </a:prstGeom>
          <a:noFill/>
        </p:spPr>
        <p:txBody>
          <a:bodyPr wrap="square" lIns="45720" rIns="45720" anchor="ctr">
            <a:spAutoFit/>
          </a:bodyPr>
          <a:lstStyle/>
          <a:p>
            <a:pPr algn="ctr"/>
            <a:r>
              <a:rPr sz="919" b="1">
                <a:solidFill>
                  <a:srgbClr val="34425F"/>
                </a:solidFill>
                <a:latin typeface="Aptos"/>
              </a:rPr>
              <a:t>Cloudflare Worker</a:t>
            </a:r>
          </a:p>
        </p:txBody>
      </p:sp>
      <p:sp>
        <p:nvSpPr>
          <p:cNvPr id="18" name="TextBox 17"/>
          <p:cNvSpPr txBox="1"/>
          <p:nvPr/>
        </p:nvSpPr>
        <p:spPr>
          <a:xfrm>
            <a:off x="7882127" y="158191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9" name="Rounded Rectangle 18"/>
          <p:cNvSpPr/>
          <p:nvPr/>
        </p:nvSpPr>
        <p:spPr>
          <a:xfrm>
            <a:off x="8019288" y="1417320"/>
            <a:ext cx="166878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74152" y="1536192"/>
            <a:ext cx="1559052" cy="493776"/>
          </a:xfrm>
          <a:prstGeom prst="rect">
            <a:avLst/>
          </a:prstGeom>
          <a:noFill/>
        </p:spPr>
        <p:txBody>
          <a:bodyPr wrap="square" lIns="45720" rIns="45720" anchor="ctr">
            <a:spAutoFit/>
          </a:bodyPr>
          <a:lstStyle/>
          <a:p>
            <a:pPr algn="ctr"/>
            <a:r>
              <a:rPr sz="919" b="1">
                <a:solidFill>
                  <a:srgbClr val="34425F"/>
                </a:solidFill>
                <a:latin typeface="Aptos"/>
              </a:rPr>
              <a:t>Generated Image</a:t>
            </a:r>
          </a:p>
        </p:txBody>
      </p:sp>
      <p:sp>
        <p:nvSpPr>
          <p:cNvPr id="21" name="TextBox 20"/>
          <p:cNvSpPr txBox="1"/>
          <p:nvPr/>
        </p:nvSpPr>
        <p:spPr>
          <a:xfrm>
            <a:off x="9715499" y="158191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22" name="Rounded Rectangle 21"/>
          <p:cNvSpPr/>
          <p:nvPr/>
        </p:nvSpPr>
        <p:spPr>
          <a:xfrm>
            <a:off x="9852659" y="1417320"/>
            <a:ext cx="166878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07524" y="1536192"/>
            <a:ext cx="1559052" cy="493776"/>
          </a:xfrm>
          <a:prstGeom prst="rect">
            <a:avLst/>
          </a:prstGeom>
          <a:noFill/>
        </p:spPr>
        <p:txBody>
          <a:bodyPr wrap="square" lIns="45720" rIns="45720" anchor="ctr">
            <a:spAutoFit/>
          </a:bodyPr>
          <a:lstStyle/>
          <a:p>
            <a:pPr algn="ctr"/>
            <a:r>
              <a:rPr sz="919" b="1">
                <a:solidFill>
                  <a:srgbClr val="34425F"/>
                </a:solidFill>
                <a:latin typeface="Aptos"/>
              </a:rPr>
              <a:t>Cache + Display</a:t>
            </a:r>
          </a:p>
        </p:txBody>
      </p:sp>
      <p:sp>
        <p:nvSpPr>
          <p:cNvPr id="24" name="Rounded Rectangle 23"/>
          <p:cNvSpPr/>
          <p:nvPr/>
        </p:nvSpPr>
        <p:spPr>
          <a:xfrm>
            <a:off x="731520" y="2514600"/>
            <a:ext cx="3246120" cy="228600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32688" y="27157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01</a:t>
            </a:r>
          </a:p>
        </p:txBody>
      </p:sp>
      <p:sp>
        <p:nvSpPr>
          <p:cNvPr id="26" name="TextBox 25"/>
          <p:cNvSpPr txBox="1"/>
          <p:nvPr/>
        </p:nvSpPr>
        <p:spPr>
          <a:xfrm>
            <a:off x="1389888" y="2679192"/>
            <a:ext cx="2450592" cy="310896"/>
          </a:xfrm>
          <a:prstGeom prst="rect">
            <a:avLst/>
          </a:prstGeom>
          <a:noFill/>
        </p:spPr>
        <p:txBody>
          <a:bodyPr wrap="square" lIns="45720" rIns="45720" anchor="t">
            <a:spAutoFit/>
          </a:bodyPr>
          <a:lstStyle/>
          <a:p>
            <a:pPr algn="l"/>
            <a:r>
              <a:rPr sz="1150" b="1">
                <a:solidFill>
                  <a:srgbClr val="34425F"/>
                </a:solidFill>
                <a:latin typeface="Aptos"/>
              </a:rPr>
              <a:t>Prompt Engineering</a:t>
            </a:r>
          </a:p>
        </p:txBody>
      </p:sp>
      <p:sp>
        <p:nvSpPr>
          <p:cNvPr id="27" name="TextBox 26"/>
          <p:cNvSpPr txBox="1"/>
          <p:nvPr/>
        </p:nvSpPr>
        <p:spPr>
          <a:xfrm>
            <a:off x="932688" y="3108960"/>
            <a:ext cx="2843784" cy="1554480"/>
          </a:xfrm>
          <a:prstGeom prst="rect">
            <a:avLst/>
          </a:prstGeom>
          <a:noFill/>
        </p:spPr>
        <p:txBody>
          <a:bodyPr wrap="square" lIns="45720" rIns="45720" anchor="t">
            <a:spAutoFit/>
          </a:bodyPr>
          <a:lstStyle/>
          <a:p>
            <a:pPr algn="l"/>
            <a:r>
              <a:rPr sz="919" b="0">
                <a:solidFill>
                  <a:srgbClr val="677082"/>
                </a:solidFill>
                <a:latin typeface="Aptos"/>
              </a:rPr>
              <a:t>Transforms product context into generation-ready instructions for consistent output.</a:t>
            </a:r>
          </a:p>
        </p:txBody>
      </p:sp>
      <p:sp>
        <p:nvSpPr>
          <p:cNvPr id="28" name="Rounded Rectangle 27"/>
          <p:cNvSpPr/>
          <p:nvPr/>
        </p:nvSpPr>
        <p:spPr>
          <a:xfrm>
            <a:off x="4251960" y="2514600"/>
            <a:ext cx="3246120" cy="228600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453128" y="27157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02</a:t>
            </a:r>
          </a:p>
        </p:txBody>
      </p:sp>
      <p:sp>
        <p:nvSpPr>
          <p:cNvPr id="30" name="TextBox 29"/>
          <p:cNvSpPr txBox="1"/>
          <p:nvPr/>
        </p:nvSpPr>
        <p:spPr>
          <a:xfrm>
            <a:off x="4910328" y="2679192"/>
            <a:ext cx="2450592" cy="310896"/>
          </a:xfrm>
          <a:prstGeom prst="rect">
            <a:avLst/>
          </a:prstGeom>
          <a:noFill/>
        </p:spPr>
        <p:txBody>
          <a:bodyPr wrap="square" lIns="45720" rIns="45720" anchor="t">
            <a:spAutoFit/>
          </a:bodyPr>
          <a:lstStyle/>
          <a:p>
            <a:pPr algn="l"/>
            <a:r>
              <a:rPr sz="1150" b="1">
                <a:solidFill>
                  <a:srgbClr val="34425F"/>
                </a:solidFill>
                <a:latin typeface="Aptos"/>
              </a:rPr>
              <a:t>API Integration</a:t>
            </a:r>
          </a:p>
        </p:txBody>
      </p:sp>
      <p:sp>
        <p:nvSpPr>
          <p:cNvPr id="31" name="TextBox 30"/>
          <p:cNvSpPr txBox="1"/>
          <p:nvPr/>
        </p:nvSpPr>
        <p:spPr>
          <a:xfrm>
            <a:off x="4453128" y="3108960"/>
            <a:ext cx="2843784" cy="1554480"/>
          </a:xfrm>
          <a:prstGeom prst="rect">
            <a:avLst/>
          </a:prstGeom>
          <a:noFill/>
        </p:spPr>
        <p:txBody>
          <a:bodyPr wrap="square" lIns="45720" rIns="45720" anchor="t">
            <a:spAutoFit/>
          </a:bodyPr>
          <a:lstStyle/>
          <a:p>
            <a:pPr algn="l"/>
            <a:r>
              <a:rPr sz="919" b="0">
                <a:solidFill>
                  <a:srgbClr val="677082"/>
                </a:solidFill>
                <a:latin typeface="Aptos"/>
              </a:rPr>
              <a:t>Connects application logic with the generative AI service and response handling.</a:t>
            </a:r>
          </a:p>
        </p:txBody>
      </p:sp>
      <p:sp>
        <p:nvSpPr>
          <p:cNvPr id="32" name="Rounded Rectangle 31"/>
          <p:cNvSpPr/>
          <p:nvPr/>
        </p:nvSpPr>
        <p:spPr>
          <a:xfrm>
            <a:off x="7772400" y="2514600"/>
            <a:ext cx="3246120" cy="228600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973568" y="27157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03</a:t>
            </a:r>
          </a:p>
        </p:txBody>
      </p:sp>
      <p:sp>
        <p:nvSpPr>
          <p:cNvPr id="34" name="TextBox 33"/>
          <p:cNvSpPr txBox="1"/>
          <p:nvPr/>
        </p:nvSpPr>
        <p:spPr>
          <a:xfrm>
            <a:off x="8430768" y="2679192"/>
            <a:ext cx="2450591" cy="310896"/>
          </a:xfrm>
          <a:prstGeom prst="rect">
            <a:avLst/>
          </a:prstGeom>
          <a:noFill/>
        </p:spPr>
        <p:txBody>
          <a:bodyPr wrap="square" lIns="45720" rIns="45720" anchor="t">
            <a:spAutoFit/>
          </a:bodyPr>
          <a:lstStyle/>
          <a:p>
            <a:pPr algn="l"/>
            <a:r>
              <a:rPr sz="1150" b="1">
                <a:solidFill>
                  <a:srgbClr val="34425F"/>
                </a:solidFill>
                <a:latin typeface="Aptos"/>
              </a:rPr>
              <a:t>Performance Control</a:t>
            </a:r>
          </a:p>
        </p:txBody>
      </p:sp>
      <p:sp>
        <p:nvSpPr>
          <p:cNvPr id="35" name="TextBox 34"/>
          <p:cNvSpPr txBox="1"/>
          <p:nvPr/>
        </p:nvSpPr>
        <p:spPr>
          <a:xfrm>
            <a:off x="7973568" y="3108960"/>
            <a:ext cx="2843784" cy="1554480"/>
          </a:xfrm>
          <a:prstGeom prst="rect">
            <a:avLst/>
          </a:prstGeom>
          <a:noFill/>
        </p:spPr>
        <p:txBody>
          <a:bodyPr wrap="square" lIns="45720" rIns="45720" anchor="t">
            <a:spAutoFit/>
          </a:bodyPr>
          <a:lstStyle/>
          <a:p>
            <a:pPr algn="l"/>
            <a:r>
              <a:rPr sz="919" b="0">
                <a:solidFill>
                  <a:srgbClr val="677082"/>
                </a:solidFill>
                <a:latin typeface="Aptos"/>
              </a:rPr>
              <a:t>SHA-256 caching and rate limiting reduce repeated generation and unnecessary calls.</a:t>
            </a:r>
          </a:p>
        </p:txBody>
      </p:sp>
      <p:sp>
        <p:nvSpPr>
          <p:cNvPr id="36" name="Rounded Rectangle 35"/>
          <p:cNvSpPr/>
          <p:nvPr/>
        </p:nvSpPr>
        <p:spPr>
          <a:xfrm>
            <a:off x="731520" y="5138928"/>
            <a:ext cx="10287000" cy="73152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87552" y="5358384"/>
            <a:ext cx="2011680" cy="182880"/>
          </a:xfrm>
          <a:prstGeom prst="rect">
            <a:avLst/>
          </a:prstGeom>
          <a:noFill/>
        </p:spPr>
        <p:txBody>
          <a:bodyPr wrap="square" lIns="45720" rIns="45720" anchor="t">
            <a:spAutoFit/>
          </a:bodyPr>
          <a:lstStyle/>
          <a:p>
            <a:pPr algn="l"/>
            <a:r>
              <a:rPr sz="880" b="1">
                <a:solidFill>
                  <a:srgbClr val="34425F"/>
                </a:solidFill>
                <a:latin typeface="Aptos"/>
              </a:rPr>
              <a:t>KEY ENGINEERING OUTCOMES</a:t>
            </a:r>
          </a:p>
        </p:txBody>
      </p:sp>
      <p:sp>
        <p:nvSpPr>
          <p:cNvPr id="38" name="TextBox 37"/>
          <p:cNvSpPr txBox="1"/>
          <p:nvPr/>
        </p:nvSpPr>
        <p:spPr>
          <a:xfrm>
            <a:off x="2834640" y="5294376"/>
            <a:ext cx="7635240" cy="310896"/>
          </a:xfrm>
          <a:prstGeom prst="rect">
            <a:avLst/>
          </a:prstGeom>
          <a:noFill/>
        </p:spPr>
        <p:txBody>
          <a:bodyPr wrap="square" lIns="45720" rIns="45720" anchor="t">
            <a:spAutoFit/>
          </a:bodyPr>
          <a:lstStyle/>
          <a:p>
            <a:pPr algn="l"/>
            <a:r>
              <a:rPr sz="1030" b="0">
                <a:solidFill>
                  <a:srgbClr val="677082"/>
                </a:solidFill>
                <a:latin typeface="Aptos"/>
              </a:rPr>
              <a:t>Automated generation • Reusable cache • API workflow • Prompt design • Controlled request handling</a:t>
            </a:r>
          </a:p>
        </p:txBody>
      </p:sp>
      <p:cxnSp>
        <p:nvCxnSpPr>
          <p:cNvPr id="39" name="Connector 38"/>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41" name="TextBox 40"/>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09</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OmniStock Digital Twin</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A browser-based 3D representation of warehouse infrastructure</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664208"/>
            <a:ext cx="2194560" cy="228600"/>
          </a:xfrm>
          <a:prstGeom prst="rect">
            <a:avLst/>
          </a:prstGeom>
          <a:noFill/>
        </p:spPr>
        <p:txBody>
          <a:bodyPr wrap="square" lIns="45720" rIns="45720" anchor="t">
            <a:spAutoFit/>
          </a:bodyPr>
          <a:lstStyle/>
          <a:p>
            <a:pPr algn="l"/>
            <a:r>
              <a:rPr sz="900" b="1">
                <a:solidFill>
                  <a:srgbClr val="D7E0F0"/>
                </a:solidFill>
                <a:latin typeface="Aptos"/>
              </a:rPr>
              <a:t>3D WAREHOUSE VIEW</a:t>
            </a:r>
          </a:p>
        </p:txBody>
      </p:sp>
      <p:sp>
        <p:nvSpPr>
          <p:cNvPr id="9" name="Rounded Rectangle 8"/>
          <p:cNvSpPr/>
          <p:nvPr/>
        </p:nvSpPr>
        <p:spPr>
          <a:xfrm>
            <a:off x="1097280" y="2148840"/>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938528" y="2148840"/>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779776" y="2148840"/>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21024" y="2148840"/>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97280" y="2807208"/>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938528" y="2807208"/>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79776" y="2807208"/>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621024" y="2807208"/>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97280" y="3465576"/>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938528" y="3465576"/>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779776" y="3465576"/>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621024" y="3465576"/>
            <a:ext cx="621792" cy="384048"/>
          </a:xfrm>
          <a:prstGeom prst="roundRect">
            <a:avLst/>
          </a:prstGeom>
          <a:solidFill>
            <a:srgbClr val="465474"/>
          </a:solidFill>
          <a:ln w="8890">
            <a:solidFill>
              <a:srgbClr val="4654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1097280" y="2971800"/>
            <a:ext cx="3611880" cy="1508760"/>
          </a:xfrm>
          <a:prstGeom prst="line">
            <a:avLst/>
          </a:prstGeom>
          <a:ln w="15240">
            <a:solidFill>
              <a:srgbClr val="D7E1F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069080" y="4160520"/>
            <a:ext cx="310896" cy="310896"/>
          </a:xfrm>
          <a:prstGeom prst="ellipse">
            <a:avLst/>
          </a:prstGeom>
          <a:solidFill>
            <a:srgbClr val="4AB2D0"/>
          </a:solidFill>
          <a:ln>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00" b="1">
                <a:solidFill>
                  <a:srgbClr val="FFFFFF"/>
                </a:solidFill>
              </a:rPr>
              <a:t>V</a:t>
            </a:r>
          </a:p>
        </p:txBody>
      </p:sp>
      <p:sp>
        <p:nvSpPr>
          <p:cNvPr id="23" name="TextBox 22"/>
          <p:cNvSpPr txBox="1"/>
          <p:nvPr/>
        </p:nvSpPr>
        <p:spPr>
          <a:xfrm>
            <a:off x="1024128" y="5074920"/>
            <a:ext cx="3886200" cy="457200"/>
          </a:xfrm>
          <a:prstGeom prst="rect">
            <a:avLst/>
          </a:prstGeom>
          <a:noFill/>
        </p:spPr>
        <p:txBody>
          <a:bodyPr wrap="square" lIns="45720" rIns="45720" anchor="t">
            <a:spAutoFit/>
          </a:bodyPr>
          <a:lstStyle/>
          <a:p>
            <a:pPr algn="l"/>
            <a:r>
              <a:rPr sz="950" b="0" dirty="0">
                <a:solidFill>
                  <a:srgbClr val="DCE4F0"/>
                </a:solidFill>
                <a:latin typeface="Aptos"/>
              </a:rPr>
              <a:t>Interactive WebGL scene with zones, racks, vehicles and synchronized warehouse state.</a:t>
            </a:r>
          </a:p>
        </p:txBody>
      </p:sp>
      <p:sp>
        <p:nvSpPr>
          <p:cNvPr id="24" name="Rounded Rectangle 23"/>
          <p:cNvSpPr/>
          <p:nvPr/>
        </p:nvSpPr>
        <p:spPr>
          <a:xfrm>
            <a:off x="5623560" y="14173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824728" y="16184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26" name="TextBox 25"/>
          <p:cNvSpPr txBox="1"/>
          <p:nvPr/>
        </p:nvSpPr>
        <p:spPr>
          <a:xfrm>
            <a:off x="6281928" y="1581912"/>
            <a:ext cx="1673352" cy="310896"/>
          </a:xfrm>
          <a:prstGeom prst="rect">
            <a:avLst/>
          </a:prstGeom>
          <a:noFill/>
        </p:spPr>
        <p:txBody>
          <a:bodyPr wrap="square" lIns="45720" rIns="45720" anchor="t">
            <a:spAutoFit/>
          </a:bodyPr>
          <a:lstStyle/>
          <a:p>
            <a:pPr algn="l"/>
            <a:r>
              <a:rPr sz="1150" b="1">
                <a:solidFill>
                  <a:srgbClr val="34425F"/>
                </a:solidFill>
                <a:latin typeface="Aptos"/>
              </a:rPr>
              <a:t>3D Visualization</a:t>
            </a:r>
          </a:p>
        </p:txBody>
      </p:sp>
      <p:sp>
        <p:nvSpPr>
          <p:cNvPr id="27" name="TextBox 26"/>
          <p:cNvSpPr txBox="1"/>
          <p:nvPr/>
        </p:nvSpPr>
        <p:spPr>
          <a:xfrm>
            <a:off x="5824728" y="2011680"/>
            <a:ext cx="2066544" cy="320039"/>
          </a:xfrm>
          <a:prstGeom prst="rect">
            <a:avLst/>
          </a:prstGeom>
          <a:noFill/>
        </p:spPr>
        <p:txBody>
          <a:bodyPr wrap="square" lIns="45720" rIns="45720" anchor="t">
            <a:spAutoFit/>
          </a:bodyPr>
          <a:lstStyle/>
          <a:p>
            <a:pPr algn="l"/>
            <a:r>
              <a:rPr sz="919" b="0">
                <a:solidFill>
                  <a:srgbClr val="677082"/>
                </a:solidFill>
                <a:latin typeface="Aptos"/>
              </a:rPr>
              <a:t>Warehouse structure and spatial context</a:t>
            </a:r>
          </a:p>
        </p:txBody>
      </p:sp>
      <p:sp>
        <p:nvSpPr>
          <p:cNvPr id="28" name="Rounded Rectangle 27"/>
          <p:cNvSpPr/>
          <p:nvPr/>
        </p:nvSpPr>
        <p:spPr>
          <a:xfrm>
            <a:off x="8412480" y="14173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613648" y="16184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30" name="TextBox 29"/>
          <p:cNvSpPr txBox="1"/>
          <p:nvPr/>
        </p:nvSpPr>
        <p:spPr>
          <a:xfrm>
            <a:off x="9070848" y="1581912"/>
            <a:ext cx="1673351" cy="310896"/>
          </a:xfrm>
          <a:prstGeom prst="rect">
            <a:avLst/>
          </a:prstGeom>
          <a:noFill/>
        </p:spPr>
        <p:txBody>
          <a:bodyPr wrap="square" lIns="45720" rIns="45720" anchor="t">
            <a:spAutoFit/>
          </a:bodyPr>
          <a:lstStyle/>
          <a:p>
            <a:pPr algn="l"/>
            <a:r>
              <a:rPr sz="1150" b="1">
                <a:solidFill>
                  <a:srgbClr val="34425F"/>
                </a:solidFill>
                <a:latin typeface="Aptos"/>
              </a:rPr>
              <a:t>Interactive Controls</a:t>
            </a:r>
          </a:p>
        </p:txBody>
      </p:sp>
      <p:sp>
        <p:nvSpPr>
          <p:cNvPr id="31" name="TextBox 30"/>
          <p:cNvSpPr txBox="1"/>
          <p:nvPr/>
        </p:nvSpPr>
        <p:spPr>
          <a:xfrm>
            <a:off x="8613648" y="2011680"/>
            <a:ext cx="2066544" cy="320039"/>
          </a:xfrm>
          <a:prstGeom prst="rect">
            <a:avLst/>
          </a:prstGeom>
          <a:noFill/>
        </p:spPr>
        <p:txBody>
          <a:bodyPr wrap="square" lIns="45720" rIns="45720" anchor="t">
            <a:spAutoFit/>
          </a:bodyPr>
          <a:lstStyle/>
          <a:p>
            <a:pPr algn="l"/>
            <a:r>
              <a:rPr sz="919" b="0">
                <a:solidFill>
                  <a:srgbClr val="677082"/>
                </a:solidFill>
                <a:latin typeface="Aptos"/>
              </a:rPr>
              <a:t>Camera movement and scene exploration</a:t>
            </a:r>
          </a:p>
        </p:txBody>
      </p:sp>
      <p:sp>
        <p:nvSpPr>
          <p:cNvPr id="32" name="Rounded Rectangle 31"/>
          <p:cNvSpPr/>
          <p:nvPr/>
        </p:nvSpPr>
        <p:spPr>
          <a:xfrm>
            <a:off x="5623560" y="27889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824728" y="29900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34" name="TextBox 33"/>
          <p:cNvSpPr txBox="1"/>
          <p:nvPr/>
        </p:nvSpPr>
        <p:spPr>
          <a:xfrm>
            <a:off x="6281928" y="2953512"/>
            <a:ext cx="1673352" cy="310896"/>
          </a:xfrm>
          <a:prstGeom prst="rect">
            <a:avLst/>
          </a:prstGeom>
          <a:noFill/>
        </p:spPr>
        <p:txBody>
          <a:bodyPr wrap="square" lIns="45720" rIns="45720" anchor="t">
            <a:spAutoFit/>
          </a:bodyPr>
          <a:lstStyle/>
          <a:p>
            <a:pPr algn="l"/>
            <a:r>
              <a:rPr sz="1150" b="1">
                <a:solidFill>
                  <a:srgbClr val="34425F"/>
                </a:solidFill>
                <a:latin typeface="Aptos"/>
              </a:rPr>
              <a:t>Physics</a:t>
            </a:r>
          </a:p>
        </p:txBody>
      </p:sp>
      <p:sp>
        <p:nvSpPr>
          <p:cNvPr id="35" name="TextBox 34"/>
          <p:cNvSpPr txBox="1"/>
          <p:nvPr/>
        </p:nvSpPr>
        <p:spPr>
          <a:xfrm>
            <a:off x="5824728" y="3383279"/>
            <a:ext cx="2066544" cy="320039"/>
          </a:xfrm>
          <a:prstGeom prst="rect">
            <a:avLst/>
          </a:prstGeom>
          <a:noFill/>
        </p:spPr>
        <p:txBody>
          <a:bodyPr wrap="square" lIns="45720" rIns="45720" anchor="t">
            <a:spAutoFit/>
          </a:bodyPr>
          <a:lstStyle/>
          <a:p>
            <a:pPr algn="l"/>
            <a:r>
              <a:rPr sz="919" b="0">
                <a:solidFill>
                  <a:srgbClr val="677082"/>
                </a:solidFill>
                <a:latin typeface="Aptos"/>
              </a:rPr>
              <a:t>Cannon-ES experimentation</a:t>
            </a:r>
          </a:p>
        </p:txBody>
      </p:sp>
      <p:sp>
        <p:nvSpPr>
          <p:cNvPr id="36" name="Rounded Rectangle 35"/>
          <p:cNvSpPr/>
          <p:nvPr/>
        </p:nvSpPr>
        <p:spPr>
          <a:xfrm>
            <a:off x="8412480" y="27889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613648" y="29900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38" name="TextBox 37"/>
          <p:cNvSpPr txBox="1"/>
          <p:nvPr/>
        </p:nvSpPr>
        <p:spPr>
          <a:xfrm>
            <a:off x="9070848" y="2953512"/>
            <a:ext cx="1673351" cy="310896"/>
          </a:xfrm>
          <a:prstGeom prst="rect">
            <a:avLst/>
          </a:prstGeom>
          <a:noFill/>
        </p:spPr>
        <p:txBody>
          <a:bodyPr wrap="square" lIns="45720" rIns="45720" anchor="t">
            <a:spAutoFit/>
          </a:bodyPr>
          <a:lstStyle/>
          <a:p>
            <a:pPr algn="l"/>
            <a:r>
              <a:rPr sz="1150" b="1">
                <a:solidFill>
                  <a:srgbClr val="34425F"/>
                </a:solidFill>
                <a:latin typeface="Aptos"/>
              </a:rPr>
              <a:t>REST Integration</a:t>
            </a:r>
          </a:p>
        </p:txBody>
      </p:sp>
      <p:sp>
        <p:nvSpPr>
          <p:cNvPr id="39" name="TextBox 38"/>
          <p:cNvSpPr txBox="1"/>
          <p:nvPr/>
        </p:nvSpPr>
        <p:spPr>
          <a:xfrm>
            <a:off x="8613648" y="3383279"/>
            <a:ext cx="2066544" cy="320039"/>
          </a:xfrm>
          <a:prstGeom prst="rect">
            <a:avLst/>
          </a:prstGeom>
          <a:noFill/>
        </p:spPr>
        <p:txBody>
          <a:bodyPr wrap="square" lIns="45720" rIns="45720" anchor="t">
            <a:spAutoFit/>
          </a:bodyPr>
          <a:lstStyle/>
          <a:p>
            <a:pPr algn="l"/>
            <a:r>
              <a:rPr sz="919" b="0">
                <a:solidFill>
                  <a:srgbClr val="677082"/>
                </a:solidFill>
                <a:latin typeface="Aptos"/>
              </a:rPr>
              <a:t>Backend data connected to the scene</a:t>
            </a:r>
          </a:p>
        </p:txBody>
      </p:sp>
      <p:sp>
        <p:nvSpPr>
          <p:cNvPr id="40" name="Rounded Rectangle 39"/>
          <p:cNvSpPr/>
          <p:nvPr/>
        </p:nvSpPr>
        <p:spPr>
          <a:xfrm>
            <a:off x="5623560" y="41605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824728" y="43616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5</a:t>
            </a:r>
          </a:p>
        </p:txBody>
      </p:sp>
      <p:sp>
        <p:nvSpPr>
          <p:cNvPr id="42" name="TextBox 41"/>
          <p:cNvSpPr txBox="1"/>
          <p:nvPr/>
        </p:nvSpPr>
        <p:spPr>
          <a:xfrm>
            <a:off x="6281928" y="4325112"/>
            <a:ext cx="1673352" cy="310896"/>
          </a:xfrm>
          <a:prstGeom prst="rect">
            <a:avLst/>
          </a:prstGeom>
          <a:noFill/>
        </p:spPr>
        <p:txBody>
          <a:bodyPr wrap="square" lIns="45720" rIns="45720" anchor="t">
            <a:spAutoFit/>
          </a:bodyPr>
          <a:lstStyle/>
          <a:p>
            <a:pPr algn="l"/>
            <a:r>
              <a:rPr sz="1150" b="1">
                <a:solidFill>
                  <a:srgbClr val="34425F"/>
                </a:solidFill>
                <a:latin typeface="Aptos"/>
              </a:rPr>
              <a:t>Synchronization</a:t>
            </a:r>
          </a:p>
        </p:txBody>
      </p:sp>
      <p:sp>
        <p:nvSpPr>
          <p:cNvPr id="43" name="TextBox 42"/>
          <p:cNvSpPr txBox="1"/>
          <p:nvPr/>
        </p:nvSpPr>
        <p:spPr>
          <a:xfrm>
            <a:off x="5824728" y="4754880"/>
            <a:ext cx="2066544" cy="320039"/>
          </a:xfrm>
          <a:prstGeom prst="rect">
            <a:avLst/>
          </a:prstGeom>
          <a:noFill/>
        </p:spPr>
        <p:txBody>
          <a:bodyPr wrap="square" lIns="45720" rIns="45720" anchor="t">
            <a:spAutoFit/>
          </a:bodyPr>
          <a:lstStyle/>
          <a:p>
            <a:pPr algn="l"/>
            <a:r>
              <a:rPr sz="919" b="0">
                <a:solidFill>
                  <a:srgbClr val="677082"/>
                </a:solidFill>
                <a:latin typeface="Aptos"/>
              </a:rPr>
              <a:t>Digital representation of system state</a:t>
            </a:r>
          </a:p>
        </p:txBody>
      </p:sp>
      <p:sp>
        <p:nvSpPr>
          <p:cNvPr id="44" name="Rounded Rectangle 43"/>
          <p:cNvSpPr/>
          <p:nvPr/>
        </p:nvSpPr>
        <p:spPr>
          <a:xfrm>
            <a:off x="8412480" y="4160520"/>
            <a:ext cx="24688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8613648" y="43616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6</a:t>
            </a:r>
          </a:p>
        </p:txBody>
      </p:sp>
      <p:sp>
        <p:nvSpPr>
          <p:cNvPr id="46" name="TextBox 45"/>
          <p:cNvSpPr txBox="1"/>
          <p:nvPr/>
        </p:nvSpPr>
        <p:spPr>
          <a:xfrm>
            <a:off x="9070848" y="4325112"/>
            <a:ext cx="1673351" cy="310896"/>
          </a:xfrm>
          <a:prstGeom prst="rect">
            <a:avLst/>
          </a:prstGeom>
          <a:noFill/>
        </p:spPr>
        <p:txBody>
          <a:bodyPr wrap="square" lIns="45720" rIns="45720" anchor="t">
            <a:spAutoFit/>
          </a:bodyPr>
          <a:lstStyle/>
          <a:p>
            <a:pPr algn="l"/>
            <a:r>
              <a:rPr sz="1150" b="1">
                <a:solidFill>
                  <a:srgbClr val="34425F"/>
                </a:solidFill>
                <a:latin typeface="Aptos"/>
              </a:rPr>
              <a:t>WebGL Rendering</a:t>
            </a:r>
          </a:p>
        </p:txBody>
      </p:sp>
      <p:sp>
        <p:nvSpPr>
          <p:cNvPr id="47" name="TextBox 46"/>
          <p:cNvSpPr txBox="1"/>
          <p:nvPr/>
        </p:nvSpPr>
        <p:spPr>
          <a:xfrm>
            <a:off x="8613648" y="4754880"/>
            <a:ext cx="2066544" cy="320039"/>
          </a:xfrm>
          <a:prstGeom prst="rect">
            <a:avLst/>
          </a:prstGeom>
          <a:noFill/>
        </p:spPr>
        <p:txBody>
          <a:bodyPr wrap="square" lIns="45720" rIns="45720" anchor="t">
            <a:spAutoFit/>
          </a:bodyPr>
          <a:lstStyle/>
          <a:p>
            <a:pPr algn="l"/>
            <a:r>
              <a:rPr sz="919" b="0">
                <a:solidFill>
                  <a:srgbClr val="677082"/>
                </a:solidFill>
                <a:latin typeface="Aptos"/>
              </a:rPr>
              <a:t>Browser-native 3D experience</a:t>
            </a:r>
          </a:p>
        </p:txBody>
      </p:sp>
      <p:cxnSp>
        <p:nvCxnSpPr>
          <p:cNvPr id="48" name="Connector 47"/>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50" name="TextBox 49"/>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pic>
        <p:nvPicPr>
          <p:cNvPr id="53" name="Picture 52">
            <a:extLst>
              <a:ext uri="{FF2B5EF4-FFF2-40B4-BE49-F238E27FC236}">
                <a16:creationId xmlns:a16="http://schemas.microsoft.com/office/drawing/2014/main" id="{15D6E223-91F1-F83A-C022-B7EF0D976648}"/>
              </a:ext>
            </a:extLst>
          </p:cNvPr>
          <p:cNvPicPr>
            <a:picLocks noChangeAspect="1"/>
          </p:cNvPicPr>
          <p:nvPr/>
        </p:nvPicPr>
        <p:blipFill>
          <a:blip r:embed="rId3"/>
          <a:stretch>
            <a:fillRect/>
          </a:stretch>
        </p:blipFill>
        <p:spPr>
          <a:xfrm>
            <a:off x="300735" y="1618488"/>
            <a:ext cx="5229005" cy="32363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10</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Digital Twin Architecture</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Layered architecture connecting user experience, application logic, domain entities and infrastructure</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874519" y="1325880"/>
            <a:ext cx="800100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30552" y="1453895"/>
            <a:ext cx="2377440" cy="219456"/>
          </a:xfrm>
          <a:prstGeom prst="rect">
            <a:avLst/>
          </a:prstGeom>
          <a:noFill/>
        </p:spPr>
        <p:txBody>
          <a:bodyPr wrap="square" lIns="45720" rIns="45720" anchor="t">
            <a:spAutoFit/>
          </a:bodyPr>
          <a:lstStyle/>
          <a:p>
            <a:pPr algn="l"/>
            <a:r>
              <a:rPr sz="1100" b="1">
                <a:solidFill>
                  <a:srgbClr val="34425F"/>
                </a:solidFill>
                <a:latin typeface="Aptos"/>
              </a:rPr>
              <a:t>Presentation Layer</a:t>
            </a:r>
          </a:p>
        </p:txBody>
      </p:sp>
      <p:sp>
        <p:nvSpPr>
          <p:cNvPr id="9" name="TextBox 8"/>
          <p:cNvSpPr txBox="1"/>
          <p:nvPr/>
        </p:nvSpPr>
        <p:spPr>
          <a:xfrm>
            <a:off x="4709160" y="1463039"/>
            <a:ext cx="4937760" cy="228600"/>
          </a:xfrm>
          <a:prstGeom prst="rect">
            <a:avLst/>
          </a:prstGeom>
          <a:noFill/>
        </p:spPr>
        <p:txBody>
          <a:bodyPr wrap="square" lIns="45720" rIns="45720" anchor="t">
            <a:spAutoFit/>
          </a:bodyPr>
          <a:lstStyle/>
          <a:p>
            <a:pPr algn="l"/>
            <a:r>
              <a:rPr sz="950" b="0">
                <a:solidFill>
                  <a:srgbClr val="677082"/>
                </a:solidFill>
                <a:latin typeface="Aptos"/>
              </a:rPr>
              <a:t>User Interface + Three.js Visualization</a:t>
            </a:r>
          </a:p>
        </p:txBody>
      </p:sp>
      <p:sp>
        <p:nvSpPr>
          <p:cNvPr id="10" name="TextBox 9"/>
          <p:cNvSpPr txBox="1"/>
          <p:nvPr/>
        </p:nvSpPr>
        <p:spPr>
          <a:xfrm>
            <a:off x="5879592" y="1993391"/>
            <a:ext cx="320040" cy="201168"/>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11" name="Rounded Rectangle 10"/>
          <p:cNvSpPr/>
          <p:nvPr/>
        </p:nvSpPr>
        <p:spPr>
          <a:xfrm>
            <a:off x="2331720" y="2221991"/>
            <a:ext cx="708660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87752" y="2350008"/>
            <a:ext cx="2377440" cy="219456"/>
          </a:xfrm>
          <a:prstGeom prst="rect">
            <a:avLst/>
          </a:prstGeom>
          <a:noFill/>
        </p:spPr>
        <p:txBody>
          <a:bodyPr wrap="square" lIns="45720" rIns="45720" anchor="t">
            <a:spAutoFit/>
          </a:bodyPr>
          <a:lstStyle/>
          <a:p>
            <a:pPr algn="l"/>
            <a:r>
              <a:rPr sz="1100" b="1">
                <a:solidFill>
                  <a:srgbClr val="34425F"/>
                </a:solidFill>
                <a:latin typeface="Aptos"/>
              </a:rPr>
              <a:t>Application Layer</a:t>
            </a:r>
          </a:p>
        </p:txBody>
      </p:sp>
      <p:sp>
        <p:nvSpPr>
          <p:cNvPr id="13" name="TextBox 12"/>
          <p:cNvSpPr txBox="1"/>
          <p:nvPr/>
        </p:nvSpPr>
        <p:spPr>
          <a:xfrm>
            <a:off x="5166360" y="2359151"/>
            <a:ext cx="4023360" cy="228600"/>
          </a:xfrm>
          <a:prstGeom prst="rect">
            <a:avLst/>
          </a:prstGeom>
          <a:noFill/>
        </p:spPr>
        <p:txBody>
          <a:bodyPr wrap="square" lIns="45720" rIns="45720" anchor="t">
            <a:spAutoFit/>
          </a:bodyPr>
          <a:lstStyle/>
          <a:p>
            <a:pPr algn="l"/>
            <a:r>
              <a:rPr sz="950" b="0">
                <a:solidFill>
                  <a:srgbClr val="677082"/>
                </a:solidFill>
                <a:latin typeface="Aptos"/>
              </a:rPr>
              <a:t>Business Logic + Application Services</a:t>
            </a:r>
          </a:p>
        </p:txBody>
      </p:sp>
      <p:sp>
        <p:nvSpPr>
          <p:cNvPr id="14" name="TextBox 13"/>
          <p:cNvSpPr txBox="1"/>
          <p:nvPr/>
        </p:nvSpPr>
        <p:spPr>
          <a:xfrm>
            <a:off x="5879592" y="2889503"/>
            <a:ext cx="320040" cy="201168"/>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15" name="Rounded Rectangle 14"/>
          <p:cNvSpPr/>
          <p:nvPr/>
        </p:nvSpPr>
        <p:spPr>
          <a:xfrm>
            <a:off x="1874519" y="3118104"/>
            <a:ext cx="800100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30552" y="3246120"/>
            <a:ext cx="2377440" cy="219456"/>
          </a:xfrm>
          <a:prstGeom prst="rect">
            <a:avLst/>
          </a:prstGeom>
          <a:noFill/>
        </p:spPr>
        <p:txBody>
          <a:bodyPr wrap="square" lIns="45720" rIns="45720" anchor="t">
            <a:spAutoFit/>
          </a:bodyPr>
          <a:lstStyle/>
          <a:p>
            <a:pPr algn="l"/>
            <a:r>
              <a:rPr sz="1100" b="1">
                <a:solidFill>
                  <a:srgbClr val="34425F"/>
                </a:solidFill>
                <a:latin typeface="Aptos"/>
              </a:rPr>
              <a:t>Domain Layer</a:t>
            </a:r>
          </a:p>
        </p:txBody>
      </p:sp>
      <p:sp>
        <p:nvSpPr>
          <p:cNvPr id="17" name="TextBox 16"/>
          <p:cNvSpPr txBox="1"/>
          <p:nvPr/>
        </p:nvSpPr>
        <p:spPr>
          <a:xfrm>
            <a:off x="4709160" y="3255264"/>
            <a:ext cx="4937760" cy="228600"/>
          </a:xfrm>
          <a:prstGeom prst="rect">
            <a:avLst/>
          </a:prstGeom>
          <a:noFill/>
        </p:spPr>
        <p:txBody>
          <a:bodyPr wrap="square" lIns="45720" rIns="45720" anchor="t">
            <a:spAutoFit/>
          </a:bodyPr>
          <a:lstStyle/>
          <a:p>
            <a:pPr algn="l"/>
            <a:r>
              <a:rPr sz="950" b="0">
                <a:solidFill>
                  <a:srgbClr val="677082"/>
                </a:solidFill>
                <a:latin typeface="Aptos"/>
              </a:rPr>
              <a:t>Warehouse + Digital Twin Entities</a:t>
            </a:r>
          </a:p>
        </p:txBody>
      </p:sp>
      <p:sp>
        <p:nvSpPr>
          <p:cNvPr id="18" name="TextBox 17"/>
          <p:cNvSpPr txBox="1"/>
          <p:nvPr/>
        </p:nvSpPr>
        <p:spPr>
          <a:xfrm>
            <a:off x="5879592" y="3785616"/>
            <a:ext cx="320040" cy="201168"/>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19" name="Rounded Rectangle 18"/>
          <p:cNvSpPr/>
          <p:nvPr/>
        </p:nvSpPr>
        <p:spPr>
          <a:xfrm>
            <a:off x="2331720" y="4014215"/>
            <a:ext cx="708660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87752" y="4142231"/>
            <a:ext cx="2377440" cy="219456"/>
          </a:xfrm>
          <a:prstGeom prst="rect">
            <a:avLst/>
          </a:prstGeom>
          <a:noFill/>
        </p:spPr>
        <p:txBody>
          <a:bodyPr wrap="square" lIns="45720" rIns="45720" anchor="t">
            <a:spAutoFit/>
          </a:bodyPr>
          <a:lstStyle/>
          <a:p>
            <a:pPr algn="l"/>
            <a:r>
              <a:rPr sz="1100" b="1">
                <a:solidFill>
                  <a:srgbClr val="34425F"/>
                </a:solidFill>
                <a:latin typeface="Aptos"/>
              </a:rPr>
              <a:t>Infrastructure Layer</a:t>
            </a:r>
          </a:p>
        </p:txBody>
      </p:sp>
      <p:sp>
        <p:nvSpPr>
          <p:cNvPr id="21" name="TextBox 20"/>
          <p:cNvSpPr txBox="1"/>
          <p:nvPr/>
        </p:nvSpPr>
        <p:spPr>
          <a:xfrm>
            <a:off x="5166360" y="4151376"/>
            <a:ext cx="4023360" cy="228600"/>
          </a:xfrm>
          <a:prstGeom prst="rect">
            <a:avLst/>
          </a:prstGeom>
          <a:noFill/>
        </p:spPr>
        <p:txBody>
          <a:bodyPr wrap="square" lIns="45720" rIns="45720" anchor="t">
            <a:spAutoFit/>
          </a:bodyPr>
          <a:lstStyle/>
          <a:p>
            <a:pPr algn="l"/>
            <a:r>
              <a:rPr sz="950" b="0">
                <a:solidFill>
                  <a:srgbClr val="677082"/>
                </a:solidFill>
                <a:latin typeface="Aptos"/>
              </a:rPr>
              <a:t>Database + External Services</a:t>
            </a:r>
          </a:p>
        </p:txBody>
      </p:sp>
      <p:sp>
        <p:nvSpPr>
          <p:cNvPr id="22" name="TextBox 21"/>
          <p:cNvSpPr txBox="1"/>
          <p:nvPr/>
        </p:nvSpPr>
        <p:spPr>
          <a:xfrm>
            <a:off x="5879592" y="4681727"/>
            <a:ext cx="320040" cy="201168"/>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23" name="Rounded Rectangle 22"/>
          <p:cNvSpPr/>
          <p:nvPr/>
        </p:nvSpPr>
        <p:spPr>
          <a:xfrm>
            <a:off x="1874519" y="4910328"/>
            <a:ext cx="8001000"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30552" y="5038344"/>
            <a:ext cx="2377440" cy="219456"/>
          </a:xfrm>
          <a:prstGeom prst="rect">
            <a:avLst/>
          </a:prstGeom>
          <a:noFill/>
        </p:spPr>
        <p:txBody>
          <a:bodyPr wrap="square" lIns="45720" rIns="45720" anchor="t">
            <a:spAutoFit/>
          </a:bodyPr>
          <a:lstStyle/>
          <a:p>
            <a:pPr algn="l"/>
            <a:r>
              <a:rPr sz="1100" b="1">
                <a:solidFill>
                  <a:srgbClr val="34425F"/>
                </a:solidFill>
                <a:latin typeface="Aptos"/>
              </a:rPr>
              <a:t>MySQL Database</a:t>
            </a:r>
          </a:p>
        </p:txBody>
      </p:sp>
      <p:sp>
        <p:nvSpPr>
          <p:cNvPr id="25" name="TextBox 24"/>
          <p:cNvSpPr txBox="1"/>
          <p:nvPr/>
        </p:nvSpPr>
        <p:spPr>
          <a:xfrm>
            <a:off x="4709160" y="5047488"/>
            <a:ext cx="4937760" cy="228600"/>
          </a:xfrm>
          <a:prstGeom prst="rect">
            <a:avLst/>
          </a:prstGeom>
          <a:noFill/>
        </p:spPr>
        <p:txBody>
          <a:bodyPr wrap="square" lIns="45720" rIns="45720" anchor="t">
            <a:spAutoFit/>
          </a:bodyPr>
          <a:lstStyle/>
          <a:p>
            <a:pPr algn="l"/>
            <a:r>
              <a:rPr sz="950" b="0">
                <a:solidFill>
                  <a:srgbClr val="677082"/>
                </a:solidFill>
                <a:latin typeface="Aptos"/>
              </a:rPr>
              <a:t>Persistent warehouse and system data</a:t>
            </a:r>
          </a:p>
        </p:txBody>
      </p:sp>
      <p:sp>
        <p:nvSpPr>
          <p:cNvPr id="26" name="Rounded Rectangle 25"/>
          <p:cNvSpPr/>
          <p:nvPr/>
        </p:nvSpPr>
        <p:spPr>
          <a:xfrm>
            <a:off x="914400" y="5870448"/>
            <a:ext cx="1901952" cy="3474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5961888"/>
            <a:ext cx="1810512" cy="146304"/>
          </a:xfrm>
          <a:prstGeom prst="rect">
            <a:avLst/>
          </a:prstGeom>
          <a:noFill/>
        </p:spPr>
        <p:txBody>
          <a:bodyPr wrap="square" lIns="45720" rIns="45720" anchor="t">
            <a:spAutoFit/>
          </a:bodyPr>
          <a:lstStyle/>
          <a:p>
            <a:pPr algn="ctr"/>
            <a:r>
              <a:rPr sz="800" b="1">
                <a:solidFill>
                  <a:srgbClr val="34425F"/>
                </a:solidFill>
                <a:latin typeface="Aptos"/>
              </a:rPr>
              <a:t>DDD-Inspired</a:t>
            </a:r>
          </a:p>
        </p:txBody>
      </p:sp>
      <p:sp>
        <p:nvSpPr>
          <p:cNvPr id="28" name="Rounded Rectangle 27"/>
          <p:cNvSpPr/>
          <p:nvPr/>
        </p:nvSpPr>
        <p:spPr>
          <a:xfrm>
            <a:off x="3063240" y="5870448"/>
            <a:ext cx="1901952" cy="3474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108960" y="5961888"/>
            <a:ext cx="1810512" cy="146304"/>
          </a:xfrm>
          <a:prstGeom prst="rect">
            <a:avLst/>
          </a:prstGeom>
          <a:noFill/>
        </p:spPr>
        <p:txBody>
          <a:bodyPr wrap="square" lIns="45720" rIns="45720" anchor="t">
            <a:spAutoFit/>
          </a:bodyPr>
          <a:lstStyle/>
          <a:p>
            <a:pPr algn="ctr"/>
            <a:r>
              <a:rPr sz="800" b="1">
                <a:solidFill>
                  <a:srgbClr val="34425F"/>
                </a:solidFill>
                <a:latin typeface="Aptos"/>
              </a:rPr>
              <a:t>RESTful API</a:t>
            </a:r>
          </a:p>
        </p:txBody>
      </p:sp>
      <p:sp>
        <p:nvSpPr>
          <p:cNvPr id="30" name="Rounded Rectangle 29"/>
          <p:cNvSpPr/>
          <p:nvPr/>
        </p:nvSpPr>
        <p:spPr>
          <a:xfrm>
            <a:off x="5212080" y="5870448"/>
            <a:ext cx="1901952" cy="3474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57800" y="5961888"/>
            <a:ext cx="1810512" cy="146304"/>
          </a:xfrm>
          <a:prstGeom prst="rect">
            <a:avLst/>
          </a:prstGeom>
          <a:noFill/>
        </p:spPr>
        <p:txBody>
          <a:bodyPr wrap="square" lIns="45720" rIns="45720" anchor="t">
            <a:spAutoFit/>
          </a:bodyPr>
          <a:lstStyle/>
          <a:p>
            <a:pPr algn="ctr"/>
            <a:r>
              <a:rPr sz="800" b="1">
                <a:solidFill>
                  <a:srgbClr val="34425F"/>
                </a:solidFill>
                <a:latin typeface="Aptos"/>
              </a:rPr>
              <a:t>WebGL</a:t>
            </a:r>
          </a:p>
        </p:txBody>
      </p:sp>
      <p:sp>
        <p:nvSpPr>
          <p:cNvPr id="32" name="Rounded Rectangle 31"/>
          <p:cNvSpPr/>
          <p:nvPr/>
        </p:nvSpPr>
        <p:spPr>
          <a:xfrm>
            <a:off x="7360920" y="5870448"/>
            <a:ext cx="1901952" cy="3474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06640" y="5961888"/>
            <a:ext cx="1810512" cy="146304"/>
          </a:xfrm>
          <a:prstGeom prst="rect">
            <a:avLst/>
          </a:prstGeom>
          <a:noFill/>
        </p:spPr>
        <p:txBody>
          <a:bodyPr wrap="square" lIns="45720" rIns="45720" anchor="t">
            <a:spAutoFit/>
          </a:bodyPr>
          <a:lstStyle/>
          <a:p>
            <a:pPr algn="ctr"/>
            <a:r>
              <a:rPr sz="800" b="1">
                <a:solidFill>
                  <a:srgbClr val="34425F"/>
                </a:solidFill>
                <a:latin typeface="Aptos"/>
              </a:rPr>
              <a:t>3D Visualization</a:t>
            </a:r>
          </a:p>
        </p:txBody>
      </p:sp>
      <p:sp>
        <p:nvSpPr>
          <p:cNvPr id="34" name="Rounded Rectangle 33"/>
          <p:cNvSpPr/>
          <p:nvPr/>
        </p:nvSpPr>
        <p:spPr>
          <a:xfrm>
            <a:off x="9509760" y="5870448"/>
            <a:ext cx="1901952" cy="347472"/>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555480" y="5961888"/>
            <a:ext cx="1810512" cy="146304"/>
          </a:xfrm>
          <a:prstGeom prst="rect">
            <a:avLst/>
          </a:prstGeom>
          <a:noFill/>
        </p:spPr>
        <p:txBody>
          <a:bodyPr wrap="square" lIns="45720" rIns="45720" anchor="t">
            <a:spAutoFit/>
          </a:bodyPr>
          <a:lstStyle/>
          <a:p>
            <a:pPr algn="ctr"/>
            <a:r>
              <a:rPr sz="800" b="1">
                <a:solidFill>
                  <a:srgbClr val="34425F"/>
                </a:solidFill>
                <a:latin typeface="Aptos"/>
              </a:rPr>
              <a:t>Physics Engine</a:t>
            </a:r>
          </a:p>
        </p:txBody>
      </p:sp>
      <p:cxnSp>
        <p:nvCxnSpPr>
          <p:cNvPr id="36" name="Connector 35"/>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38" name="TextBox 37"/>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11</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AI-Powered SMS Emergency Gateway</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Converting unstructured emergency messages into structured incident information</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417320"/>
            <a:ext cx="3794760" cy="452628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91640"/>
            <a:ext cx="2103120" cy="256032"/>
          </a:xfrm>
          <a:prstGeom prst="rect">
            <a:avLst/>
          </a:prstGeom>
          <a:noFill/>
        </p:spPr>
        <p:txBody>
          <a:bodyPr wrap="square" lIns="45720" rIns="45720" anchor="t">
            <a:spAutoFit/>
          </a:bodyPr>
          <a:lstStyle/>
          <a:p>
            <a:pPr algn="l"/>
            <a:r>
              <a:rPr sz="1100" b="1">
                <a:solidFill>
                  <a:srgbClr val="34425F"/>
                </a:solidFill>
                <a:latin typeface="Aptos"/>
              </a:rPr>
              <a:t>Example Incoming SMS</a:t>
            </a:r>
          </a:p>
        </p:txBody>
      </p:sp>
      <p:sp>
        <p:nvSpPr>
          <p:cNvPr id="9" name="Rounded Rectangle 8"/>
          <p:cNvSpPr/>
          <p:nvPr/>
        </p:nvSpPr>
        <p:spPr>
          <a:xfrm>
            <a:off x="1051560" y="2148840"/>
            <a:ext cx="3154680"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2359152"/>
            <a:ext cx="2697480" cy="621792"/>
          </a:xfrm>
          <a:prstGeom prst="rect">
            <a:avLst/>
          </a:prstGeom>
          <a:noFill/>
        </p:spPr>
        <p:txBody>
          <a:bodyPr wrap="square" lIns="45720" rIns="45720" anchor="ctr">
            <a:spAutoFit/>
          </a:bodyPr>
          <a:lstStyle/>
          <a:p>
            <a:pPr algn="ctr"/>
            <a:r>
              <a:rPr sz="1050" b="0">
                <a:solidFill>
                  <a:srgbClr val="262F42"/>
                </a:solidFill>
                <a:latin typeface="Aptos"/>
              </a:rPr>
              <a:t>“Help! I am trapped in flood. 12 people are affected and 2 are injured.”</a:t>
            </a:r>
          </a:p>
        </p:txBody>
      </p:sp>
      <p:sp>
        <p:nvSpPr>
          <p:cNvPr id="11" name="TextBox 10"/>
          <p:cNvSpPr txBox="1"/>
          <p:nvPr/>
        </p:nvSpPr>
        <p:spPr>
          <a:xfrm>
            <a:off x="1051560" y="3657600"/>
            <a:ext cx="914400" cy="219456"/>
          </a:xfrm>
          <a:prstGeom prst="rect">
            <a:avLst/>
          </a:prstGeom>
          <a:noFill/>
        </p:spPr>
        <p:txBody>
          <a:bodyPr wrap="square" lIns="45720" rIns="45720" anchor="t">
            <a:spAutoFit/>
          </a:bodyPr>
          <a:lstStyle/>
          <a:p>
            <a:pPr algn="l"/>
            <a:r>
              <a:rPr sz="1000" b="1">
                <a:solidFill>
                  <a:srgbClr val="34425F"/>
                </a:solidFill>
                <a:latin typeface="Aptos"/>
              </a:rPr>
              <a:t>Problem</a:t>
            </a:r>
          </a:p>
        </p:txBody>
      </p:sp>
      <p:sp>
        <p:nvSpPr>
          <p:cNvPr id="12" name="TextBox 11"/>
          <p:cNvSpPr txBox="1"/>
          <p:nvPr/>
        </p:nvSpPr>
        <p:spPr>
          <a:xfrm>
            <a:off x="1051560" y="3968496"/>
            <a:ext cx="2971800" cy="566928"/>
          </a:xfrm>
          <a:prstGeom prst="rect">
            <a:avLst/>
          </a:prstGeom>
          <a:noFill/>
        </p:spPr>
        <p:txBody>
          <a:bodyPr wrap="square" lIns="45720" rIns="45720" anchor="t">
            <a:spAutoFit/>
          </a:bodyPr>
          <a:lstStyle/>
          <a:p>
            <a:pPr algn="l"/>
            <a:r>
              <a:rPr sz="950" b="0">
                <a:solidFill>
                  <a:srgbClr val="677082"/>
                </a:solidFill>
                <a:latin typeface="Aptos"/>
              </a:rPr>
              <a:t>Emergency messages are often unstructured, incomplete and time-sensitive.</a:t>
            </a:r>
          </a:p>
        </p:txBody>
      </p:sp>
      <p:sp>
        <p:nvSpPr>
          <p:cNvPr id="13" name="TextBox 12"/>
          <p:cNvSpPr txBox="1"/>
          <p:nvPr/>
        </p:nvSpPr>
        <p:spPr>
          <a:xfrm>
            <a:off x="1051560" y="4709160"/>
            <a:ext cx="914400" cy="219456"/>
          </a:xfrm>
          <a:prstGeom prst="rect">
            <a:avLst/>
          </a:prstGeom>
          <a:noFill/>
        </p:spPr>
        <p:txBody>
          <a:bodyPr wrap="square" lIns="45720" rIns="45720" anchor="t">
            <a:spAutoFit/>
          </a:bodyPr>
          <a:lstStyle/>
          <a:p>
            <a:pPr algn="l"/>
            <a:r>
              <a:rPr sz="1000" b="1">
                <a:solidFill>
                  <a:srgbClr val="34425F"/>
                </a:solidFill>
                <a:latin typeface="Aptos"/>
              </a:rPr>
              <a:t>Solution</a:t>
            </a:r>
          </a:p>
        </p:txBody>
      </p:sp>
      <p:sp>
        <p:nvSpPr>
          <p:cNvPr id="14" name="TextBox 13"/>
          <p:cNvSpPr txBox="1"/>
          <p:nvPr/>
        </p:nvSpPr>
        <p:spPr>
          <a:xfrm>
            <a:off x="1051560" y="5010912"/>
            <a:ext cx="2971800" cy="548640"/>
          </a:xfrm>
          <a:prstGeom prst="rect">
            <a:avLst/>
          </a:prstGeom>
          <a:noFill/>
        </p:spPr>
        <p:txBody>
          <a:bodyPr wrap="square" lIns="45720" rIns="45720" anchor="t">
            <a:spAutoFit/>
          </a:bodyPr>
          <a:lstStyle/>
          <a:p>
            <a:pPr algn="l"/>
            <a:r>
              <a:rPr sz="950" b="0">
                <a:solidFill>
                  <a:srgbClr val="677082"/>
                </a:solidFill>
                <a:latin typeface="Aptos"/>
              </a:rPr>
              <a:t>A hybrid processing pipeline extracts useful incident fields for faster coordination.</a:t>
            </a:r>
          </a:p>
        </p:txBody>
      </p:sp>
      <p:sp>
        <p:nvSpPr>
          <p:cNvPr id="15" name="Rounded Rectangle 14"/>
          <p:cNvSpPr/>
          <p:nvPr/>
        </p:nvSpPr>
        <p:spPr>
          <a:xfrm>
            <a:off x="4983480" y="1417320"/>
            <a:ext cx="2743200"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166360" y="1618488"/>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1</a:t>
            </a:r>
          </a:p>
        </p:txBody>
      </p:sp>
      <p:sp>
        <p:nvSpPr>
          <p:cNvPr id="17" name="TextBox 16"/>
          <p:cNvSpPr txBox="1"/>
          <p:nvPr/>
        </p:nvSpPr>
        <p:spPr>
          <a:xfrm>
            <a:off x="5696712" y="1664208"/>
            <a:ext cx="1828800" cy="228600"/>
          </a:xfrm>
          <a:prstGeom prst="rect">
            <a:avLst/>
          </a:prstGeom>
          <a:noFill/>
        </p:spPr>
        <p:txBody>
          <a:bodyPr wrap="square" lIns="45720" rIns="45720" anchor="t">
            <a:spAutoFit/>
          </a:bodyPr>
          <a:lstStyle/>
          <a:p>
            <a:pPr algn="l"/>
            <a:r>
              <a:rPr sz="1000" b="1">
                <a:solidFill>
                  <a:srgbClr val="34425F"/>
                </a:solidFill>
                <a:latin typeface="Aptos"/>
              </a:rPr>
              <a:t>Disaster Type</a:t>
            </a:r>
          </a:p>
        </p:txBody>
      </p:sp>
      <p:sp>
        <p:nvSpPr>
          <p:cNvPr id="18" name="Rounded Rectangle 17"/>
          <p:cNvSpPr/>
          <p:nvPr/>
        </p:nvSpPr>
        <p:spPr>
          <a:xfrm>
            <a:off x="8046720" y="1417320"/>
            <a:ext cx="2743200"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29600" y="1618488"/>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2</a:t>
            </a:r>
          </a:p>
        </p:txBody>
      </p:sp>
      <p:sp>
        <p:nvSpPr>
          <p:cNvPr id="20" name="TextBox 19"/>
          <p:cNvSpPr txBox="1"/>
          <p:nvPr/>
        </p:nvSpPr>
        <p:spPr>
          <a:xfrm>
            <a:off x="8759952" y="1664208"/>
            <a:ext cx="1828800" cy="228600"/>
          </a:xfrm>
          <a:prstGeom prst="rect">
            <a:avLst/>
          </a:prstGeom>
          <a:noFill/>
        </p:spPr>
        <p:txBody>
          <a:bodyPr wrap="square" lIns="45720" rIns="45720" anchor="t">
            <a:spAutoFit/>
          </a:bodyPr>
          <a:lstStyle/>
          <a:p>
            <a:pPr algn="l"/>
            <a:r>
              <a:rPr sz="1000" b="1">
                <a:solidFill>
                  <a:srgbClr val="34425F"/>
                </a:solidFill>
                <a:latin typeface="Aptos"/>
              </a:rPr>
              <a:t>Location</a:t>
            </a:r>
          </a:p>
        </p:txBody>
      </p:sp>
      <p:sp>
        <p:nvSpPr>
          <p:cNvPr id="21" name="Rounded Rectangle 20"/>
          <p:cNvSpPr/>
          <p:nvPr/>
        </p:nvSpPr>
        <p:spPr>
          <a:xfrm>
            <a:off x="4983480" y="2496312"/>
            <a:ext cx="2743200"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166360" y="2697480"/>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3</a:t>
            </a:r>
          </a:p>
        </p:txBody>
      </p:sp>
      <p:sp>
        <p:nvSpPr>
          <p:cNvPr id="23" name="TextBox 22"/>
          <p:cNvSpPr txBox="1"/>
          <p:nvPr/>
        </p:nvSpPr>
        <p:spPr>
          <a:xfrm>
            <a:off x="5696712" y="2743200"/>
            <a:ext cx="1828800" cy="228600"/>
          </a:xfrm>
          <a:prstGeom prst="rect">
            <a:avLst/>
          </a:prstGeom>
          <a:noFill/>
        </p:spPr>
        <p:txBody>
          <a:bodyPr wrap="square" lIns="45720" rIns="45720" anchor="t">
            <a:spAutoFit/>
          </a:bodyPr>
          <a:lstStyle/>
          <a:p>
            <a:pPr algn="l"/>
            <a:r>
              <a:rPr sz="1000" b="1">
                <a:solidFill>
                  <a:srgbClr val="34425F"/>
                </a:solidFill>
                <a:latin typeface="Aptos"/>
              </a:rPr>
              <a:t>People Affected</a:t>
            </a:r>
          </a:p>
        </p:txBody>
      </p:sp>
      <p:sp>
        <p:nvSpPr>
          <p:cNvPr id="24" name="Rounded Rectangle 23"/>
          <p:cNvSpPr/>
          <p:nvPr/>
        </p:nvSpPr>
        <p:spPr>
          <a:xfrm>
            <a:off x="8046720" y="2496312"/>
            <a:ext cx="2743200"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229600" y="2697480"/>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4</a:t>
            </a:r>
          </a:p>
        </p:txBody>
      </p:sp>
      <p:sp>
        <p:nvSpPr>
          <p:cNvPr id="26" name="TextBox 25"/>
          <p:cNvSpPr txBox="1"/>
          <p:nvPr/>
        </p:nvSpPr>
        <p:spPr>
          <a:xfrm>
            <a:off x="8759952" y="2743200"/>
            <a:ext cx="1828800" cy="228600"/>
          </a:xfrm>
          <a:prstGeom prst="rect">
            <a:avLst/>
          </a:prstGeom>
          <a:noFill/>
        </p:spPr>
        <p:txBody>
          <a:bodyPr wrap="square" lIns="45720" rIns="45720" anchor="t">
            <a:spAutoFit/>
          </a:bodyPr>
          <a:lstStyle/>
          <a:p>
            <a:pPr algn="l"/>
            <a:r>
              <a:rPr sz="1000" b="1">
                <a:solidFill>
                  <a:srgbClr val="34425F"/>
                </a:solidFill>
                <a:latin typeface="Aptos"/>
              </a:rPr>
              <a:t>Injured Count</a:t>
            </a:r>
          </a:p>
        </p:txBody>
      </p:sp>
      <p:sp>
        <p:nvSpPr>
          <p:cNvPr id="27" name="Rounded Rectangle 26"/>
          <p:cNvSpPr/>
          <p:nvPr/>
        </p:nvSpPr>
        <p:spPr>
          <a:xfrm>
            <a:off x="4983480" y="3575304"/>
            <a:ext cx="2743200"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166360" y="3776472"/>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5</a:t>
            </a:r>
          </a:p>
        </p:txBody>
      </p:sp>
      <p:sp>
        <p:nvSpPr>
          <p:cNvPr id="29" name="TextBox 28"/>
          <p:cNvSpPr txBox="1"/>
          <p:nvPr/>
        </p:nvSpPr>
        <p:spPr>
          <a:xfrm>
            <a:off x="5696712" y="3822191"/>
            <a:ext cx="1828800" cy="228600"/>
          </a:xfrm>
          <a:prstGeom prst="rect">
            <a:avLst/>
          </a:prstGeom>
          <a:noFill/>
        </p:spPr>
        <p:txBody>
          <a:bodyPr wrap="square" lIns="45720" rIns="45720" anchor="t">
            <a:spAutoFit/>
          </a:bodyPr>
          <a:lstStyle/>
          <a:p>
            <a:pPr algn="l"/>
            <a:r>
              <a:rPr sz="1000" b="1">
                <a:solidFill>
                  <a:srgbClr val="34425F"/>
                </a:solidFill>
                <a:latin typeface="Aptos"/>
              </a:rPr>
              <a:t>Required Help</a:t>
            </a:r>
          </a:p>
        </p:txBody>
      </p:sp>
      <p:sp>
        <p:nvSpPr>
          <p:cNvPr id="30" name="Rounded Rectangle 29"/>
          <p:cNvSpPr/>
          <p:nvPr/>
        </p:nvSpPr>
        <p:spPr>
          <a:xfrm>
            <a:off x="8046720" y="3575304"/>
            <a:ext cx="2743200"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229600" y="3776472"/>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6</a:t>
            </a:r>
          </a:p>
        </p:txBody>
      </p:sp>
      <p:sp>
        <p:nvSpPr>
          <p:cNvPr id="32" name="TextBox 31"/>
          <p:cNvSpPr txBox="1"/>
          <p:nvPr/>
        </p:nvSpPr>
        <p:spPr>
          <a:xfrm>
            <a:off x="8759952" y="3822191"/>
            <a:ext cx="1828800" cy="228600"/>
          </a:xfrm>
          <a:prstGeom prst="rect">
            <a:avLst/>
          </a:prstGeom>
          <a:noFill/>
        </p:spPr>
        <p:txBody>
          <a:bodyPr wrap="square" lIns="45720" rIns="45720" anchor="t">
            <a:spAutoFit/>
          </a:bodyPr>
          <a:lstStyle/>
          <a:p>
            <a:pPr algn="l"/>
            <a:r>
              <a:rPr sz="1000" b="1">
                <a:solidFill>
                  <a:srgbClr val="34425F"/>
                </a:solidFill>
                <a:latin typeface="Aptos"/>
              </a:rPr>
              <a:t>Priority Level</a:t>
            </a:r>
          </a:p>
        </p:txBody>
      </p:sp>
      <p:sp>
        <p:nvSpPr>
          <p:cNvPr id="33" name="Rounded Rectangle 32"/>
          <p:cNvSpPr/>
          <p:nvPr/>
        </p:nvSpPr>
        <p:spPr>
          <a:xfrm>
            <a:off x="4983480" y="4654296"/>
            <a:ext cx="2743200" cy="804672"/>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166360" y="4855464"/>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7</a:t>
            </a:r>
          </a:p>
        </p:txBody>
      </p:sp>
      <p:sp>
        <p:nvSpPr>
          <p:cNvPr id="35" name="TextBox 34"/>
          <p:cNvSpPr txBox="1"/>
          <p:nvPr/>
        </p:nvSpPr>
        <p:spPr>
          <a:xfrm>
            <a:off x="5696712" y="4901183"/>
            <a:ext cx="1828800" cy="228600"/>
          </a:xfrm>
          <a:prstGeom prst="rect">
            <a:avLst/>
          </a:prstGeom>
          <a:noFill/>
        </p:spPr>
        <p:txBody>
          <a:bodyPr wrap="square" lIns="45720" rIns="45720" anchor="t">
            <a:spAutoFit/>
          </a:bodyPr>
          <a:lstStyle/>
          <a:p>
            <a:pPr algn="l"/>
            <a:r>
              <a:rPr sz="1000" b="1">
                <a:solidFill>
                  <a:srgbClr val="34425F"/>
                </a:solidFill>
                <a:latin typeface="Aptos"/>
              </a:rPr>
              <a:t>Confidence Score</a:t>
            </a:r>
          </a:p>
        </p:txBody>
      </p:sp>
      <p:cxnSp>
        <p:nvCxnSpPr>
          <p:cNvPr id="36" name="Connector 35"/>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38" name="TextBox 37"/>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12</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Hybrid Emergency Message Processing Pipeline</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Rule-based extraction handles predictable patterns; AI acts as an intelligent fallback</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554480"/>
            <a:ext cx="1298448"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719072"/>
            <a:ext cx="1115568" cy="228600"/>
          </a:xfrm>
          <a:prstGeom prst="rect">
            <a:avLst/>
          </a:prstGeom>
          <a:noFill/>
        </p:spPr>
        <p:txBody>
          <a:bodyPr wrap="square" lIns="45720" rIns="45720" anchor="t">
            <a:spAutoFit/>
          </a:bodyPr>
          <a:lstStyle/>
          <a:p>
            <a:pPr algn="ctr"/>
            <a:r>
              <a:rPr sz="930" b="1">
                <a:solidFill>
                  <a:srgbClr val="34425F"/>
                </a:solidFill>
                <a:latin typeface="Aptos"/>
              </a:rPr>
              <a:t>Incoming SMS</a:t>
            </a:r>
          </a:p>
        </p:txBody>
      </p:sp>
      <p:sp>
        <p:nvSpPr>
          <p:cNvPr id="9" name="TextBox 8"/>
          <p:cNvSpPr txBox="1"/>
          <p:nvPr/>
        </p:nvSpPr>
        <p:spPr>
          <a:xfrm>
            <a:off x="868680" y="2039112"/>
            <a:ext cx="1115568" cy="329184"/>
          </a:xfrm>
          <a:prstGeom prst="rect">
            <a:avLst/>
          </a:prstGeom>
          <a:noFill/>
        </p:spPr>
        <p:txBody>
          <a:bodyPr wrap="square" lIns="45720" rIns="45720" anchor="t">
            <a:spAutoFit/>
          </a:bodyPr>
          <a:lstStyle/>
          <a:p>
            <a:pPr algn="ctr"/>
            <a:r>
              <a:rPr sz="770" b="0">
                <a:solidFill>
                  <a:srgbClr val="677082"/>
                </a:solidFill>
                <a:latin typeface="Aptos"/>
              </a:rPr>
              <a:t>Raw citizen message</a:t>
            </a:r>
          </a:p>
        </p:txBody>
      </p:sp>
      <p:sp>
        <p:nvSpPr>
          <p:cNvPr id="10" name="TextBox 9"/>
          <p:cNvSpPr txBox="1"/>
          <p:nvPr/>
        </p:nvSpPr>
        <p:spPr>
          <a:xfrm>
            <a:off x="2084831" y="1901952"/>
            <a:ext cx="228600" cy="219456"/>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11" name="Rounded Rectangle 10"/>
          <p:cNvSpPr/>
          <p:nvPr/>
        </p:nvSpPr>
        <p:spPr>
          <a:xfrm>
            <a:off x="2377440" y="1554480"/>
            <a:ext cx="1298448"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68880" y="1719072"/>
            <a:ext cx="1115568" cy="228600"/>
          </a:xfrm>
          <a:prstGeom prst="rect">
            <a:avLst/>
          </a:prstGeom>
          <a:noFill/>
        </p:spPr>
        <p:txBody>
          <a:bodyPr wrap="square" lIns="45720" rIns="45720" anchor="t">
            <a:spAutoFit/>
          </a:bodyPr>
          <a:lstStyle/>
          <a:p>
            <a:pPr algn="ctr"/>
            <a:r>
              <a:rPr sz="930" b="1">
                <a:solidFill>
                  <a:srgbClr val="34425F"/>
                </a:solidFill>
                <a:latin typeface="Aptos"/>
              </a:rPr>
              <a:t>Level 1</a:t>
            </a:r>
          </a:p>
        </p:txBody>
      </p:sp>
      <p:sp>
        <p:nvSpPr>
          <p:cNvPr id="13" name="TextBox 12"/>
          <p:cNvSpPr txBox="1"/>
          <p:nvPr/>
        </p:nvSpPr>
        <p:spPr>
          <a:xfrm>
            <a:off x="2468880" y="2039112"/>
            <a:ext cx="1115568" cy="329184"/>
          </a:xfrm>
          <a:prstGeom prst="rect">
            <a:avLst/>
          </a:prstGeom>
          <a:noFill/>
        </p:spPr>
        <p:txBody>
          <a:bodyPr wrap="square" lIns="45720" rIns="45720" anchor="t">
            <a:spAutoFit/>
          </a:bodyPr>
          <a:lstStyle/>
          <a:p>
            <a:pPr algn="ctr"/>
            <a:r>
              <a:rPr sz="770" b="0">
                <a:solidFill>
                  <a:srgbClr val="677082"/>
                </a:solidFill>
                <a:latin typeface="Aptos"/>
              </a:rPr>
              <a:t>Structured Message Parser</a:t>
            </a:r>
          </a:p>
        </p:txBody>
      </p:sp>
      <p:sp>
        <p:nvSpPr>
          <p:cNvPr id="14" name="TextBox 13"/>
          <p:cNvSpPr txBox="1"/>
          <p:nvPr/>
        </p:nvSpPr>
        <p:spPr>
          <a:xfrm>
            <a:off x="3685032" y="1901952"/>
            <a:ext cx="228600" cy="219456"/>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15" name="Rounded Rectangle 14"/>
          <p:cNvSpPr/>
          <p:nvPr/>
        </p:nvSpPr>
        <p:spPr>
          <a:xfrm>
            <a:off x="3977639" y="1554480"/>
            <a:ext cx="1298448"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69079" y="1719072"/>
            <a:ext cx="1115568" cy="228600"/>
          </a:xfrm>
          <a:prstGeom prst="rect">
            <a:avLst/>
          </a:prstGeom>
          <a:noFill/>
        </p:spPr>
        <p:txBody>
          <a:bodyPr wrap="square" lIns="45720" rIns="45720" anchor="t">
            <a:spAutoFit/>
          </a:bodyPr>
          <a:lstStyle/>
          <a:p>
            <a:pPr algn="ctr"/>
            <a:r>
              <a:rPr sz="930" b="1">
                <a:solidFill>
                  <a:srgbClr val="34425F"/>
                </a:solidFill>
                <a:latin typeface="Aptos"/>
              </a:rPr>
              <a:t>Level 2</a:t>
            </a:r>
          </a:p>
        </p:txBody>
      </p:sp>
      <p:sp>
        <p:nvSpPr>
          <p:cNvPr id="17" name="TextBox 16"/>
          <p:cNvSpPr txBox="1"/>
          <p:nvPr/>
        </p:nvSpPr>
        <p:spPr>
          <a:xfrm>
            <a:off x="4069079" y="2039112"/>
            <a:ext cx="1115568" cy="329184"/>
          </a:xfrm>
          <a:prstGeom prst="rect">
            <a:avLst/>
          </a:prstGeom>
          <a:noFill/>
        </p:spPr>
        <p:txBody>
          <a:bodyPr wrap="square" lIns="45720" rIns="45720" anchor="t">
            <a:spAutoFit/>
          </a:bodyPr>
          <a:lstStyle/>
          <a:p>
            <a:pPr algn="ctr"/>
            <a:r>
              <a:rPr sz="770" b="0">
                <a:solidFill>
                  <a:srgbClr val="677082"/>
                </a:solidFill>
                <a:latin typeface="Aptos"/>
              </a:rPr>
              <a:t>Rule-Based NLP + Regex</a:t>
            </a:r>
          </a:p>
        </p:txBody>
      </p:sp>
      <p:sp>
        <p:nvSpPr>
          <p:cNvPr id="18" name="TextBox 17"/>
          <p:cNvSpPr txBox="1"/>
          <p:nvPr/>
        </p:nvSpPr>
        <p:spPr>
          <a:xfrm>
            <a:off x="5285231" y="1901952"/>
            <a:ext cx="228600" cy="219456"/>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19" name="Rounded Rectangle 18"/>
          <p:cNvSpPr/>
          <p:nvPr/>
        </p:nvSpPr>
        <p:spPr>
          <a:xfrm>
            <a:off x="5577840" y="1554480"/>
            <a:ext cx="1298448"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79" y="1719072"/>
            <a:ext cx="1115568" cy="228600"/>
          </a:xfrm>
          <a:prstGeom prst="rect">
            <a:avLst/>
          </a:prstGeom>
          <a:noFill/>
        </p:spPr>
        <p:txBody>
          <a:bodyPr wrap="square" lIns="45720" rIns="45720" anchor="t">
            <a:spAutoFit/>
          </a:bodyPr>
          <a:lstStyle/>
          <a:p>
            <a:pPr algn="ctr"/>
            <a:r>
              <a:rPr sz="930" b="1">
                <a:solidFill>
                  <a:srgbClr val="34425F"/>
                </a:solidFill>
                <a:latin typeface="Aptos"/>
              </a:rPr>
              <a:t>Level 3</a:t>
            </a:r>
          </a:p>
        </p:txBody>
      </p:sp>
      <p:sp>
        <p:nvSpPr>
          <p:cNvPr id="21" name="TextBox 20"/>
          <p:cNvSpPr txBox="1"/>
          <p:nvPr/>
        </p:nvSpPr>
        <p:spPr>
          <a:xfrm>
            <a:off x="5669279" y="2039112"/>
            <a:ext cx="1115568" cy="329184"/>
          </a:xfrm>
          <a:prstGeom prst="rect">
            <a:avLst/>
          </a:prstGeom>
          <a:noFill/>
        </p:spPr>
        <p:txBody>
          <a:bodyPr wrap="square" lIns="45720" rIns="45720" anchor="t">
            <a:spAutoFit/>
          </a:bodyPr>
          <a:lstStyle/>
          <a:p>
            <a:pPr algn="ctr"/>
            <a:r>
              <a:rPr sz="770" b="0">
                <a:solidFill>
                  <a:srgbClr val="677082"/>
                </a:solidFill>
                <a:latin typeface="Aptos"/>
              </a:rPr>
              <a:t>Gemini AI Fallback</a:t>
            </a:r>
          </a:p>
        </p:txBody>
      </p:sp>
      <p:sp>
        <p:nvSpPr>
          <p:cNvPr id="22" name="TextBox 21"/>
          <p:cNvSpPr txBox="1"/>
          <p:nvPr/>
        </p:nvSpPr>
        <p:spPr>
          <a:xfrm>
            <a:off x="6885431" y="1901952"/>
            <a:ext cx="228600" cy="219456"/>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23" name="Rounded Rectangle 22"/>
          <p:cNvSpPr/>
          <p:nvPr/>
        </p:nvSpPr>
        <p:spPr>
          <a:xfrm>
            <a:off x="7178040" y="1554480"/>
            <a:ext cx="1298448"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69479" y="1719072"/>
            <a:ext cx="1115568" cy="228600"/>
          </a:xfrm>
          <a:prstGeom prst="rect">
            <a:avLst/>
          </a:prstGeom>
          <a:noFill/>
        </p:spPr>
        <p:txBody>
          <a:bodyPr wrap="square" lIns="45720" rIns="45720" anchor="t">
            <a:spAutoFit/>
          </a:bodyPr>
          <a:lstStyle/>
          <a:p>
            <a:pPr algn="ctr"/>
            <a:r>
              <a:rPr sz="930" b="1">
                <a:solidFill>
                  <a:srgbClr val="34425F"/>
                </a:solidFill>
                <a:latin typeface="Aptos"/>
              </a:rPr>
              <a:t>Structured JSON</a:t>
            </a:r>
          </a:p>
        </p:txBody>
      </p:sp>
      <p:sp>
        <p:nvSpPr>
          <p:cNvPr id="25" name="TextBox 24"/>
          <p:cNvSpPr txBox="1"/>
          <p:nvPr/>
        </p:nvSpPr>
        <p:spPr>
          <a:xfrm>
            <a:off x="7269479" y="2039112"/>
            <a:ext cx="1115568" cy="329184"/>
          </a:xfrm>
          <a:prstGeom prst="rect">
            <a:avLst/>
          </a:prstGeom>
          <a:noFill/>
        </p:spPr>
        <p:txBody>
          <a:bodyPr wrap="square" lIns="45720" rIns="45720" anchor="t">
            <a:spAutoFit/>
          </a:bodyPr>
          <a:lstStyle/>
          <a:p>
            <a:pPr algn="ctr"/>
            <a:r>
              <a:rPr sz="770" b="0">
                <a:solidFill>
                  <a:srgbClr val="677082"/>
                </a:solidFill>
                <a:latin typeface="Aptos"/>
              </a:rPr>
              <a:t>Normalized incident record</a:t>
            </a:r>
          </a:p>
        </p:txBody>
      </p:sp>
      <p:sp>
        <p:nvSpPr>
          <p:cNvPr id="26" name="TextBox 25"/>
          <p:cNvSpPr txBox="1"/>
          <p:nvPr/>
        </p:nvSpPr>
        <p:spPr>
          <a:xfrm>
            <a:off x="8485632" y="1901952"/>
            <a:ext cx="228600" cy="219456"/>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27" name="Rounded Rectangle 26"/>
          <p:cNvSpPr/>
          <p:nvPr/>
        </p:nvSpPr>
        <p:spPr>
          <a:xfrm>
            <a:off x="8778240" y="1554480"/>
            <a:ext cx="1298448"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869680" y="1719072"/>
            <a:ext cx="1115568" cy="228600"/>
          </a:xfrm>
          <a:prstGeom prst="rect">
            <a:avLst/>
          </a:prstGeom>
          <a:noFill/>
        </p:spPr>
        <p:txBody>
          <a:bodyPr wrap="square" lIns="45720" rIns="45720" anchor="t">
            <a:spAutoFit/>
          </a:bodyPr>
          <a:lstStyle/>
          <a:p>
            <a:pPr algn="ctr"/>
            <a:r>
              <a:rPr sz="930" b="1">
                <a:solidFill>
                  <a:srgbClr val="34425F"/>
                </a:solidFill>
                <a:latin typeface="Aptos"/>
              </a:rPr>
              <a:t>Emergency DB</a:t>
            </a:r>
          </a:p>
        </p:txBody>
      </p:sp>
      <p:sp>
        <p:nvSpPr>
          <p:cNvPr id="29" name="TextBox 28"/>
          <p:cNvSpPr txBox="1"/>
          <p:nvPr/>
        </p:nvSpPr>
        <p:spPr>
          <a:xfrm>
            <a:off x="8869680" y="2039112"/>
            <a:ext cx="1115568" cy="329184"/>
          </a:xfrm>
          <a:prstGeom prst="rect">
            <a:avLst/>
          </a:prstGeom>
          <a:noFill/>
        </p:spPr>
        <p:txBody>
          <a:bodyPr wrap="square" lIns="45720" rIns="45720" anchor="t">
            <a:spAutoFit/>
          </a:bodyPr>
          <a:lstStyle/>
          <a:p>
            <a:pPr algn="ctr"/>
            <a:r>
              <a:rPr sz="770" b="0">
                <a:solidFill>
                  <a:srgbClr val="677082"/>
                </a:solidFill>
                <a:latin typeface="Aptos"/>
              </a:rPr>
              <a:t>Persistent incident data</a:t>
            </a:r>
          </a:p>
        </p:txBody>
      </p:sp>
      <p:sp>
        <p:nvSpPr>
          <p:cNvPr id="30" name="TextBox 29"/>
          <p:cNvSpPr txBox="1"/>
          <p:nvPr/>
        </p:nvSpPr>
        <p:spPr>
          <a:xfrm>
            <a:off x="10085832" y="1901952"/>
            <a:ext cx="228600" cy="219456"/>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31" name="Rounded Rectangle 30"/>
          <p:cNvSpPr/>
          <p:nvPr/>
        </p:nvSpPr>
        <p:spPr>
          <a:xfrm>
            <a:off x="10378440" y="1554480"/>
            <a:ext cx="1298448" cy="105156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69880" y="1719072"/>
            <a:ext cx="1115568" cy="228600"/>
          </a:xfrm>
          <a:prstGeom prst="rect">
            <a:avLst/>
          </a:prstGeom>
          <a:noFill/>
        </p:spPr>
        <p:txBody>
          <a:bodyPr wrap="square" lIns="45720" rIns="45720" anchor="t">
            <a:spAutoFit/>
          </a:bodyPr>
          <a:lstStyle/>
          <a:p>
            <a:pPr algn="ctr"/>
            <a:r>
              <a:rPr sz="930" b="1">
                <a:solidFill>
                  <a:srgbClr val="34425F"/>
                </a:solidFill>
                <a:latin typeface="Aptos"/>
              </a:rPr>
              <a:t>Admin Dashboard</a:t>
            </a:r>
          </a:p>
        </p:txBody>
      </p:sp>
      <p:sp>
        <p:nvSpPr>
          <p:cNvPr id="33" name="TextBox 32"/>
          <p:cNvSpPr txBox="1"/>
          <p:nvPr/>
        </p:nvSpPr>
        <p:spPr>
          <a:xfrm>
            <a:off x="10469880" y="2039112"/>
            <a:ext cx="1115568" cy="329184"/>
          </a:xfrm>
          <a:prstGeom prst="rect">
            <a:avLst/>
          </a:prstGeom>
          <a:noFill/>
        </p:spPr>
        <p:txBody>
          <a:bodyPr wrap="square" lIns="45720" rIns="45720" anchor="t">
            <a:spAutoFit/>
          </a:bodyPr>
          <a:lstStyle/>
          <a:p>
            <a:pPr algn="ctr"/>
            <a:r>
              <a:rPr sz="770" b="0">
                <a:solidFill>
                  <a:srgbClr val="677082"/>
                </a:solidFill>
                <a:latin typeface="Aptos"/>
              </a:rPr>
              <a:t>Coordinator visibility</a:t>
            </a:r>
          </a:p>
        </p:txBody>
      </p:sp>
      <p:sp>
        <p:nvSpPr>
          <p:cNvPr id="34" name="Rounded Rectangle 33"/>
          <p:cNvSpPr/>
          <p:nvPr/>
        </p:nvSpPr>
        <p:spPr>
          <a:xfrm>
            <a:off x="868680" y="3246120"/>
            <a:ext cx="2487168" cy="141732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69848" y="34472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36" name="TextBox 35"/>
          <p:cNvSpPr txBox="1"/>
          <p:nvPr/>
        </p:nvSpPr>
        <p:spPr>
          <a:xfrm>
            <a:off x="1527048" y="3410712"/>
            <a:ext cx="1691640" cy="310896"/>
          </a:xfrm>
          <a:prstGeom prst="rect">
            <a:avLst/>
          </a:prstGeom>
          <a:noFill/>
        </p:spPr>
        <p:txBody>
          <a:bodyPr wrap="square" lIns="45720" rIns="45720" anchor="t">
            <a:spAutoFit/>
          </a:bodyPr>
          <a:lstStyle/>
          <a:p>
            <a:pPr algn="l"/>
            <a:r>
              <a:rPr sz="1150" b="1">
                <a:solidFill>
                  <a:srgbClr val="34425F"/>
                </a:solidFill>
                <a:latin typeface="Aptos"/>
              </a:rPr>
              <a:t>Graceful AI Fallback</a:t>
            </a:r>
          </a:p>
        </p:txBody>
      </p:sp>
      <p:sp>
        <p:nvSpPr>
          <p:cNvPr id="37" name="TextBox 36"/>
          <p:cNvSpPr txBox="1"/>
          <p:nvPr/>
        </p:nvSpPr>
        <p:spPr>
          <a:xfrm>
            <a:off x="1069848" y="3840480"/>
            <a:ext cx="2084832" cy="685800"/>
          </a:xfrm>
          <a:prstGeom prst="rect">
            <a:avLst/>
          </a:prstGeom>
          <a:noFill/>
        </p:spPr>
        <p:txBody>
          <a:bodyPr wrap="square" lIns="45720" rIns="45720" anchor="t">
            <a:spAutoFit/>
          </a:bodyPr>
          <a:lstStyle/>
          <a:p>
            <a:pPr algn="l"/>
            <a:r>
              <a:rPr sz="919" b="0">
                <a:solidFill>
                  <a:srgbClr val="677082"/>
                </a:solidFill>
                <a:latin typeface="Aptos"/>
              </a:rPr>
              <a:t>AI is used when deterministic extraction is insufficient.</a:t>
            </a:r>
          </a:p>
        </p:txBody>
      </p:sp>
      <p:sp>
        <p:nvSpPr>
          <p:cNvPr id="38" name="Rounded Rectangle 37"/>
          <p:cNvSpPr/>
          <p:nvPr/>
        </p:nvSpPr>
        <p:spPr>
          <a:xfrm>
            <a:off x="3630168" y="3246120"/>
            <a:ext cx="2487168" cy="141732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831335" y="34472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40" name="TextBox 39"/>
          <p:cNvSpPr txBox="1"/>
          <p:nvPr/>
        </p:nvSpPr>
        <p:spPr>
          <a:xfrm>
            <a:off x="4288536" y="3410712"/>
            <a:ext cx="1691640" cy="310896"/>
          </a:xfrm>
          <a:prstGeom prst="rect">
            <a:avLst/>
          </a:prstGeom>
          <a:noFill/>
        </p:spPr>
        <p:txBody>
          <a:bodyPr wrap="square" lIns="45720" rIns="45720" anchor="t">
            <a:spAutoFit/>
          </a:bodyPr>
          <a:lstStyle/>
          <a:p>
            <a:pPr algn="l"/>
            <a:r>
              <a:rPr sz="1150" b="1">
                <a:solidFill>
                  <a:srgbClr val="34425F"/>
                </a:solidFill>
                <a:latin typeface="Aptos"/>
              </a:rPr>
              <a:t>Confidence Scoring</a:t>
            </a:r>
          </a:p>
        </p:txBody>
      </p:sp>
      <p:sp>
        <p:nvSpPr>
          <p:cNvPr id="41" name="TextBox 40"/>
          <p:cNvSpPr txBox="1"/>
          <p:nvPr/>
        </p:nvSpPr>
        <p:spPr>
          <a:xfrm>
            <a:off x="3831335" y="3840480"/>
            <a:ext cx="2084832" cy="685800"/>
          </a:xfrm>
          <a:prstGeom prst="rect">
            <a:avLst/>
          </a:prstGeom>
          <a:noFill/>
        </p:spPr>
        <p:txBody>
          <a:bodyPr wrap="square" lIns="45720" rIns="45720" anchor="t">
            <a:spAutoFit/>
          </a:bodyPr>
          <a:lstStyle/>
          <a:p>
            <a:pPr algn="l"/>
            <a:r>
              <a:rPr sz="919" b="0">
                <a:solidFill>
                  <a:srgbClr val="677082"/>
                </a:solidFill>
                <a:latin typeface="Aptos"/>
              </a:rPr>
              <a:t>Supports evaluation of extraction reliability.</a:t>
            </a:r>
          </a:p>
        </p:txBody>
      </p:sp>
      <p:sp>
        <p:nvSpPr>
          <p:cNvPr id="42" name="Rounded Rectangle 41"/>
          <p:cNvSpPr/>
          <p:nvPr/>
        </p:nvSpPr>
        <p:spPr>
          <a:xfrm>
            <a:off x="6391656" y="3246120"/>
            <a:ext cx="2487168" cy="141732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592824" y="34472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44" name="TextBox 43"/>
          <p:cNvSpPr txBox="1"/>
          <p:nvPr/>
        </p:nvSpPr>
        <p:spPr>
          <a:xfrm>
            <a:off x="7050024" y="3410712"/>
            <a:ext cx="1691640" cy="310896"/>
          </a:xfrm>
          <a:prstGeom prst="rect">
            <a:avLst/>
          </a:prstGeom>
          <a:noFill/>
        </p:spPr>
        <p:txBody>
          <a:bodyPr wrap="square" lIns="45720" rIns="45720" anchor="t">
            <a:spAutoFit/>
          </a:bodyPr>
          <a:lstStyle/>
          <a:p>
            <a:pPr algn="l"/>
            <a:r>
              <a:rPr sz="1150" b="1">
                <a:solidFill>
                  <a:srgbClr val="34425F"/>
                </a:solidFill>
                <a:latin typeface="Aptos"/>
              </a:rPr>
              <a:t>Structured Output</a:t>
            </a:r>
          </a:p>
        </p:txBody>
      </p:sp>
      <p:sp>
        <p:nvSpPr>
          <p:cNvPr id="45" name="TextBox 44"/>
          <p:cNvSpPr txBox="1"/>
          <p:nvPr/>
        </p:nvSpPr>
        <p:spPr>
          <a:xfrm>
            <a:off x="6592824" y="3840480"/>
            <a:ext cx="2084832" cy="685800"/>
          </a:xfrm>
          <a:prstGeom prst="rect">
            <a:avLst/>
          </a:prstGeom>
          <a:noFill/>
        </p:spPr>
        <p:txBody>
          <a:bodyPr wrap="square" lIns="45720" rIns="45720" anchor="t">
            <a:spAutoFit/>
          </a:bodyPr>
          <a:lstStyle/>
          <a:p>
            <a:pPr algn="l"/>
            <a:r>
              <a:rPr sz="919" b="0">
                <a:solidFill>
                  <a:srgbClr val="677082"/>
                </a:solidFill>
                <a:latin typeface="Aptos"/>
              </a:rPr>
              <a:t>Normalizes data for downstream systems.</a:t>
            </a:r>
          </a:p>
        </p:txBody>
      </p:sp>
      <p:sp>
        <p:nvSpPr>
          <p:cNvPr id="46" name="Rounded Rectangle 45"/>
          <p:cNvSpPr/>
          <p:nvPr/>
        </p:nvSpPr>
        <p:spPr>
          <a:xfrm>
            <a:off x="9153144" y="3246120"/>
            <a:ext cx="2487168" cy="141732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354312" y="34472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48" name="TextBox 47"/>
          <p:cNvSpPr txBox="1"/>
          <p:nvPr/>
        </p:nvSpPr>
        <p:spPr>
          <a:xfrm>
            <a:off x="9811512" y="3410712"/>
            <a:ext cx="1691639" cy="310896"/>
          </a:xfrm>
          <a:prstGeom prst="rect">
            <a:avLst/>
          </a:prstGeom>
          <a:noFill/>
        </p:spPr>
        <p:txBody>
          <a:bodyPr wrap="square" lIns="45720" rIns="45720" anchor="t">
            <a:spAutoFit/>
          </a:bodyPr>
          <a:lstStyle/>
          <a:p>
            <a:pPr algn="l"/>
            <a:r>
              <a:rPr sz="1150" b="1">
                <a:solidFill>
                  <a:srgbClr val="34425F"/>
                </a:solidFill>
                <a:latin typeface="Aptos"/>
              </a:rPr>
              <a:t>Emergency Prioritization</a:t>
            </a:r>
          </a:p>
        </p:txBody>
      </p:sp>
      <p:sp>
        <p:nvSpPr>
          <p:cNvPr id="49" name="TextBox 48"/>
          <p:cNvSpPr txBox="1"/>
          <p:nvPr/>
        </p:nvSpPr>
        <p:spPr>
          <a:xfrm>
            <a:off x="9354312" y="3840480"/>
            <a:ext cx="2084832" cy="685800"/>
          </a:xfrm>
          <a:prstGeom prst="rect">
            <a:avLst/>
          </a:prstGeom>
          <a:noFill/>
        </p:spPr>
        <p:txBody>
          <a:bodyPr wrap="square" lIns="45720" rIns="45720" anchor="t">
            <a:spAutoFit/>
          </a:bodyPr>
          <a:lstStyle/>
          <a:p>
            <a:pPr algn="l"/>
            <a:r>
              <a:rPr sz="919" b="0">
                <a:solidFill>
                  <a:srgbClr val="677082"/>
                </a:solidFill>
                <a:latin typeface="Aptos"/>
              </a:rPr>
              <a:t>Helps surface urgent incidents.</a:t>
            </a:r>
          </a:p>
        </p:txBody>
      </p:sp>
      <p:sp>
        <p:nvSpPr>
          <p:cNvPr id="50" name="Rounded Rectangle 49"/>
          <p:cNvSpPr/>
          <p:nvPr/>
        </p:nvSpPr>
        <p:spPr>
          <a:xfrm>
            <a:off x="868680" y="5074920"/>
            <a:ext cx="10561320" cy="658368"/>
          </a:xfrm>
          <a:prstGeom prst="roundRect">
            <a:avLst/>
          </a:prstGeom>
          <a:solidFill>
            <a:srgbClr val="E7ECF5"/>
          </a:solidFill>
          <a:ln w="8890">
            <a:solidFill>
              <a:srgbClr val="E7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97280" y="5285232"/>
            <a:ext cx="10058400" cy="201168"/>
          </a:xfrm>
          <a:prstGeom prst="rect">
            <a:avLst/>
          </a:prstGeom>
          <a:noFill/>
        </p:spPr>
        <p:txBody>
          <a:bodyPr wrap="square" lIns="45720" rIns="45720" anchor="t">
            <a:spAutoFit/>
          </a:bodyPr>
          <a:lstStyle/>
          <a:p>
            <a:pPr algn="ctr"/>
            <a:r>
              <a:rPr sz="1050" b="1">
                <a:solidFill>
                  <a:srgbClr val="34425F"/>
                </a:solidFill>
                <a:latin typeface="Aptos"/>
              </a:rPr>
              <a:t>Hybrid architecture = predictable processing first, intelligent AI assistance when required.</a:t>
            </a:r>
          </a:p>
        </p:txBody>
      </p:sp>
      <p:cxnSp>
        <p:nvCxnSpPr>
          <p:cNvPr id="52" name="Connector 51"/>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54" name="TextBox 53"/>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13</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Android Phone as an Emergency SMS Gateway</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Using an Android device as a physical bridge between cellular SMS and the web backend</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554480"/>
            <a:ext cx="1432995"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1673352"/>
            <a:ext cx="1323267" cy="493776"/>
          </a:xfrm>
          <a:prstGeom prst="rect">
            <a:avLst/>
          </a:prstGeom>
          <a:noFill/>
        </p:spPr>
        <p:txBody>
          <a:bodyPr wrap="square" lIns="45720" rIns="45720" anchor="ctr">
            <a:spAutoFit/>
          </a:bodyPr>
          <a:lstStyle/>
          <a:p>
            <a:pPr algn="ctr"/>
            <a:r>
              <a:rPr sz="919" b="1">
                <a:solidFill>
                  <a:srgbClr val="34425F"/>
                </a:solidFill>
                <a:latin typeface="Aptos"/>
              </a:rPr>
              <a:t>Citizen</a:t>
            </a:r>
          </a:p>
        </p:txBody>
      </p:sp>
      <p:sp>
        <p:nvSpPr>
          <p:cNvPr id="9" name="TextBox 8"/>
          <p:cNvSpPr txBox="1"/>
          <p:nvPr/>
        </p:nvSpPr>
        <p:spPr>
          <a:xfrm>
            <a:off x="2054787" y="171907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0" name="Rounded Rectangle 9"/>
          <p:cNvSpPr/>
          <p:nvPr/>
        </p:nvSpPr>
        <p:spPr>
          <a:xfrm>
            <a:off x="2191947" y="1554480"/>
            <a:ext cx="1432995"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46811" y="1673352"/>
            <a:ext cx="1323267" cy="493776"/>
          </a:xfrm>
          <a:prstGeom prst="rect">
            <a:avLst/>
          </a:prstGeom>
          <a:noFill/>
        </p:spPr>
        <p:txBody>
          <a:bodyPr wrap="square" lIns="45720" rIns="45720" anchor="ctr">
            <a:spAutoFit/>
          </a:bodyPr>
          <a:lstStyle/>
          <a:p>
            <a:pPr algn="ctr"/>
            <a:r>
              <a:rPr sz="919" b="1">
                <a:solidFill>
                  <a:srgbClr val="34425F"/>
                </a:solidFill>
                <a:latin typeface="Aptos"/>
              </a:rPr>
              <a:t>SMS</a:t>
            </a:r>
          </a:p>
        </p:txBody>
      </p:sp>
      <p:sp>
        <p:nvSpPr>
          <p:cNvPr id="12" name="TextBox 11"/>
          <p:cNvSpPr txBox="1"/>
          <p:nvPr/>
        </p:nvSpPr>
        <p:spPr>
          <a:xfrm>
            <a:off x="3652374" y="171907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3" name="Rounded Rectangle 12"/>
          <p:cNvSpPr/>
          <p:nvPr/>
        </p:nvSpPr>
        <p:spPr>
          <a:xfrm>
            <a:off x="3789534" y="1554480"/>
            <a:ext cx="1432995"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44398" y="1673352"/>
            <a:ext cx="1323267" cy="493776"/>
          </a:xfrm>
          <a:prstGeom prst="rect">
            <a:avLst/>
          </a:prstGeom>
          <a:noFill/>
        </p:spPr>
        <p:txBody>
          <a:bodyPr wrap="square" lIns="45720" rIns="45720" anchor="ctr">
            <a:spAutoFit/>
          </a:bodyPr>
          <a:lstStyle/>
          <a:p>
            <a:pPr algn="ctr"/>
            <a:r>
              <a:rPr sz="919" b="1">
                <a:solidFill>
                  <a:srgbClr val="34425F"/>
                </a:solidFill>
                <a:latin typeface="Aptos"/>
              </a:rPr>
              <a:t>Android Phone Gateway</a:t>
            </a:r>
          </a:p>
        </p:txBody>
      </p:sp>
      <p:sp>
        <p:nvSpPr>
          <p:cNvPr id="15" name="TextBox 14"/>
          <p:cNvSpPr txBox="1"/>
          <p:nvPr/>
        </p:nvSpPr>
        <p:spPr>
          <a:xfrm>
            <a:off x="5249962" y="171907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6" name="Rounded Rectangle 15"/>
          <p:cNvSpPr/>
          <p:nvPr/>
        </p:nvSpPr>
        <p:spPr>
          <a:xfrm>
            <a:off x="5387122" y="1554480"/>
            <a:ext cx="1432995"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41986" y="1673352"/>
            <a:ext cx="1323267" cy="493776"/>
          </a:xfrm>
          <a:prstGeom prst="rect">
            <a:avLst/>
          </a:prstGeom>
          <a:noFill/>
        </p:spPr>
        <p:txBody>
          <a:bodyPr wrap="square" lIns="45720" rIns="45720" anchor="ctr">
            <a:spAutoFit/>
          </a:bodyPr>
          <a:lstStyle/>
          <a:p>
            <a:pPr algn="ctr"/>
            <a:r>
              <a:rPr sz="919" b="1">
                <a:solidFill>
                  <a:srgbClr val="34425F"/>
                </a:solidFill>
                <a:latin typeface="Aptos"/>
              </a:rPr>
              <a:t>REST API</a:t>
            </a:r>
          </a:p>
        </p:txBody>
      </p:sp>
      <p:sp>
        <p:nvSpPr>
          <p:cNvPr id="18" name="TextBox 17"/>
          <p:cNvSpPr txBox="1"/>
          <p:nvPr/>
        </p:nvSpPr>
        <p:spPr>
          <a:xfrm>
            <a:off x="6847549" y="171907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9" name="Rounded Rectangle 18"/>
          <p:cNvSpPr/>
          <p:nvPr/>
        </p:nvSpPr>
        <p:spPr>
          <a:xfrm>
            <a:off x="6984709" y="1554480"/>
            <a:ext cx="1432995"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39573" y="1673352"/>
            <a:ext cx="1323267" cy="493776"/>
          </a:xfrm>
          <a:prstGeom prst="rect">
            <a:avLst/>
          </a:prstGeom>
          <a:noFill/>
        </p:spPr>
        <p:txBody>
          <a:bodyPr wrap="square" lIns="45720" rIns="45720" anchor="ctr">
            <a:spAutoFit/>
          </a:bodyPr>
          <a:lstStyle/>
          <a:p>
            <a:pPr algn="ctr"/>
            <a:r>
              <a:rPr sz="919" b="1">
                <a:solidFill>
                  <a:srgbClr val="34425F"/>
                </a:solidFill>
                <a:latin typeface="Aptos"/>
              </a:rPr>
              <a:t>PHP Backend</a:t>
            </a:r>
          </a:p>
        </p:txBody>
      </p:sp>
      <p:sp>
        <p:nvSpPr>
          <p:cNvPr id="21" name="TextBox 20"/>
          <p:cNvSpPr txBox="1"/>
          <p:nvPr/>
        </p:nvSpPr>
        <p:spPr>
          <a:xfrm>
            <a:off x="8445137" y="171907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22" name="Rounded Rectangle 21"/>
          <p:cNvSpPr/>
          <p:nvPr/>
        </p:nvSpPr>
        <p:spPr>
          <a:xfrm>
            <a:off x="8582297" y="1554480"/>
            <a:ext cx="1432995"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37161" y="1673352"/>
            <a:ext cx="1323267" cy="493776"/>
          </a:xfrm>
          <a:prstGeom prst="rect">
            <a:avLst/>
          </a:prstGeom>
          <a:noFill/>
        </p:spPr>
        <p:txBody>
          <a:bodyPr wrap="square" lIns="45720" rIns="45720" anchor="ctr">
            <a:spAutoFit/>
          </a:bodyPr>
          <a:lstStyle/>
          <a:p>
            <a:pPr algn="ctr"/>
            <a:r>
              <a:rPr sz="919" b="1">
                <a:solidFill>
                  <a:srgbClr val="34425F"/>
                </a:solidFill>
                <a:latin typeface="Aptos"/>
              </a:rPr>
              <a:t>MySQL</a:t>
            </a:r>
          </a:p>
        </p:txBody>
      </p:sp>
      <p:sp>
        <p:nvSpPr>
          <p:cNvPr id="24" name="TextBox 23"/>
          <p:cNvSpPr txBox="1"/>
          <p:nvPr/>
        </p:nvSpPr>
        <p:spPr>
          <a:xfrm>
            <a:off x="10042724" y="1719072"/>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25" name="Rounded Rectangle 24"/>
          <p:cNvSpPr/>
          <p:nvPr/>
        </p:nvSpPr>
        <p:spPr>
          <a:xfrm>
            <a:off x="10179884" y="1554480"/>
            <a:ext cx="1432995"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34748" y="1673352"/>
            <a:ext cx="1323267" cy="493776"/>
          </a:xfrm>
          <a:prstGeom prst="rect">
            <a:avLst/>
          </a:prstGeom>
          <a:noFill/>
        </p:spPr>
        <p:txBody>
          <a:bodyPr wrap="square" lIns="45720" rIns="45720" anchor="ctr">
            <a:spAutoFit/>
          </a:bodyPr>
          <a:lstStyle/>
          <a:p>
            <a:pPr algn="ctr"/>
            <a:r>
              <a:rPr sz="919" b="1">
                <a:solidFill>
                  <a:srgbClr val="34425F"/>
                </a:solidFill>
                <a:latin typeface="Aptos"/>
              </a:rPr>
              <a:t>Coordinator Dashboard</a:t>
            </a:r>
          </a:p>
        </p:txBody>
      </p:sp>
      <p:sp>
        <p:nvSpPr>
          <p:cNvPr id="27" name="Rounded Rectangle 26"/>
          <p:cNvSpPr/>
          <p:nvPr/>
        </p:nvSpPr>
        <p:spPr>
          <a:xfrm>
            <a:off x="777240" y="2743200"/>
            <a:ext cx="2514600" cy="164592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78408" y="29443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29" name="TextBox 28"/>
          <p:cNvSpPr txBox="1"/>
          <p:nvPr/>
        </p:nvSpPr>
        <p:spPr>
          <a:xfrm>
            <a:off x="1435607" y="2907792"/>
            <a:ext cx="1719072" cy="310896"/>
          </a:xfrm>
          <a:prstGeom prst="rect">
            <a:avLst/>
          </a:prstGeom>
          <a:noFill/>
        </p:spPr>
        <p:txBody>
          <a:bodyPr wrap="square" lIns="45720" rIns="45720" anchor="t">
            <a:spAutoFit/>
          </a:bodyPr>
          <a:lstStyle/>
          <a:p>
            <a:pPr algn="l"/>
            <a:r>
              <a:rPr sz="1150" b="1">
                <a:solidFill>
                  <a:srgbClr val="34425F"/>
                </a:solidFill>
                <a:latin typeface="Aptos"/>
              </a:rPr>
              <a:t>Cellular Channel</a:t>
            </a:r>
          </a:p>
        </p:txBody>
      </p:sp>
      <p:sp>
        <p:nvSpPr>
          <p:cNvPr id="30" name="TextBox 29"/>
          <p:cNvSpPr txBox="1"/>
          <p:nvPr/>
        </p:nvSpPr>
        <p:spPr>
          <a:xfrm>
            <a:off x="978408" y="3337560"/>
            <a:ext cx="2112264" cy="914400"/>
          </a:xfrm>
          <a:prstGeom prst="rect">
            <a:avLst/>
          </a:prstGeom>
          <a:noFill/>
        </p:spPr>
        <p:txBody>
          <a:bodyPr wrap="square" lIns="45720" rIns="45720" anchor="t">
            <a:spAutoFit/>
          </a:bodyPr>
          <a:lstStyle/>
          <a:p>
            <a:pPr algn="l"/>
            <a:r>
              <a:rPr sz="919" b="0">
                <a:solidFill>
                  <a:srgbClr val="677082"/>
                </a:solidFill>
                <a:latin typeface="Aptos"/>
              </a:rPr>
              <a:t>Communication can use the mobile network.</a:t>
            </a:r>
          </a:p>
        </p:txBody>
      </p:sp>
      <p:sp>
        <p:nvSpPr>
          <p:cNvPr id="31" name="Rounded Rectangle 30"/>
          <p:cNvSpPr/>
          <p:nvPr/>
        </p:nvSpPr>
        <p:spPr>
          <a:xfrm>
            <a:off x="3566160" y="2743200"/>
            <a:ext cx="2514600" cy="164592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767328" y="29443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33" name="TextBox 32"/>
          <p:cNvSpPr txBox="1"/>
          <p:nvPr/>
        </p:nvSpPr>
        <p:spPr>
          <a:xfrm>
            <a:off x="4224528" y="2907792"/>
            <a:ext cx="1719072" cy="310896"/>
          </a:xfrm>
          <a:prstGeom prst="rect">
            <a:avLst/>
          </a:prstGeom>
          <a:noFill/>
        </p:spPr>
        <p:txBody>
          <a:bodyPr wrap="square" lIns="45720" rIns="45720" anchor="t">
            <a:spAutoFit/>
          </a:bodyPr>
          <a:lstStyle/>
          <a:p>
            <a:pPr algn="l"/>
            <a:r>
              <a:rPr sz="1150" b="1">
                <a:solidFill>
                  <a:srgbClr val="34425F"/>
                </a:solidFill>
                <a:latin typeface="Aptos"/>
              </a:rPr>
              <a:t>Low-Cost Setup</a:t>
            </a:r>
          </a:p>
        </p:txBody>
      </p:sp>
      <p:sp>
        <p:nvSpPr>
          <p:cNvPr id="34" name="TextBox 33"/>
          <p:cNvSpPr txBox="1"/>
          <p:nvPr/>
        </p:nvSpPr>
        <p:spPr>
          <a:xfrm>
            <a:off x="3767328" y="3337560"/>
            <a:ext cx="2112264" cy="914400"/>
          </a:xfrm>
          <a:prstGeom prst="rect">
            <a:avLst/>
          </a:prstGeom>
          <a:noFill/>
        </p:spPr>
        <p:txBody>
          <a:bodyPr wrap="square" lIns="45720" rIns="45720" anchor="t">
            <a:spAutoFit/>
          </a:bodyPr>
          <a:lstStyle/>
          <a:p>
            <a:pPr algn="l"/>
            <a:r>
              <a:rPr sz="919" b="0">
                <a:solidFill>
                  <a:srgbClr val="677082"/>
                </a:solidFill>
                <a:latin typeface="Aptos"/>
              </a:rPr>
              <a:t>A phone can act as practical gateway hardware.</a:t>
            </a:r>
          </a:p>
        </p:txBody>
      </p:sp>
      <p:sp>
        <p:nvSpPr>
          <p:cNvPr id="35" name="Rounded Rectangle 34"/>
          <p:cNvSpPr/>
          <p:nvPr/>
        </p:nvSpPr>
        <p:spPr>
          <a:xfrm>
            <a:off x="6355079" y="2743200"/>
            <a:ext cx="2514600" cy="164592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556247" y="29443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37" name="TextBox 36"/>
          <p:cNvSpPr txBox="1"/>
          <p:nvPr/>
        </p:nvSpPr>
        <p:spPr>
          <a:xfrm>
            <a:off x="7013447" y="2907792"/>
            <a:ext cx="1719072" cy="310896"/>
          </a:xfrm>
          <a:prstGeom prst="rect">
            <a:avLst/>
          </a:prstGeom>
          <a:noFill/>
        </p:spPr>
        <p:txBody>
          <a:bodyPr wrap="square" lIns="45720" rIns="45720" anchor="t">
            <a:spAutoFit/>
          </a:bodyPr>
          <a:lstStyle/>
          <a:p>
            <a:pPr algn="l"/>
            <a:r>
              <a:rPr sz="1150" b="1">
                <a:solidFill>
                  <a:srgbClr val="34425F"/>
                </a:solidFill>
                <a:latin typeface="Aptos"/>
              </a:rPr>
              <a:t>Emergency Management</a:t>
            </a:r>
          </a:p>
        </p:txBody>
      </p:sp>
      <p:sp>
        <p:nvSpPr>
          <p:cNvPr id="38" name="TextBox 37"/>
          <p:cNvSpPr txBox="1"/>
          <p:nvPr/>
        </p:nvSpPr>
        <p:spPr>
          <a:xfrm>
            <a:off x="6556247" y="3337560"/>
            <a:ext cx="2112264" cy="914400"/>
          </a:xfrm>
          <a:prstGeom prst="rect">
            <a:avLst/>
          </a:prstGeom>
          <a:noFill/>
        </p:spPr>
        <p:txBody>
          <a:bodyPr wrap="square" lIns="45720" rIns="45720" anchor="t">
            <a:spAutoFit/>
          </a:bodyPr>
          <a:lstStyle/>
          <a:p>
            <a:pPr algn="l"/>
            <a:r>
              <a:rPr sz="919" b="0">
                <a:solidFill>
                  <a:srgbClr val="677082"/>
                </a:solidFill>
                <a:latin typeface="Aptos"/>
              </a:rPr>
              <a:t>Messages are available to backend workflows.</a:t>
            </a:r>
          </a:p>
        </p:txBody>
      </p:sp>
      <p:sp>
        <p:nvSpPr>
          <p:cNvPr id="39" name="Rounded Rectangle 38"/>
          <p:cNvSpPr/>
          <p:nvPr/>
        </p:nvSpPr>
        <p:spPr>
          <a:xfrm>
            <a:off x="9143999" y="2743200"/>
            <a:ext cx="2514600" cy="164592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9345167" y="29443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41" name="TextBox 40"/>
          <p:cNvSpPr txBox="1"/>
          <p:nvPr/>
        </p:nvSpPr>
        <p:spPr>
          <a:xfrm>
            <a:off x="9802367" y="2907792"/>
            <a:ext cx="1719071" cy="310896"/>
          </a:xfrm>
          <a:prstGeom prst="rect">
            <a:avLst/>
          </a:prstGeom>
          <a:noFill/>
        </p:spPr>
        <p:txBody>
          <a:bodyPr wrap="square" lIns="45720" rIns="45720" anchor="t">
            <a:spAutoFit/>
          </a:bodyPr>
          <a:lstStyle/>
          <a:p>
            <a:pPr algn="l"/>
            <a:r>
              <a:rPr sz="1150" b="1">
                <a:solidFill>
                  <a:srgbClr val="34425F"/>
                </a:solidFill>
                <a:latin typeface="Aptos"/>
              </a:rPr>
              <a:t>Limited Connectivity</a:t>
            </a:r>
          </a:p>
        </p:txBody>
      </p:sp>
      <p:sp>
        <p:nvSpPr>
          <p:cNvPr id="42" name="TextBox 41"/>
          <p:cNvSpPr txBox="1"/>
          <p:nvPr/>
        </p:nvSpPr>
        <p:spPr>
          <a:xfrm>
            <a:off x="9345167" y="3337560"/>
            <a:ext cx="2112264" cy="914400"/>
          </a:xfrm>
          <a:prstGeom prst="rect">
            <a:avLst/>
          </a:prstGeom>
          <a:noFill/>
        </p:spPr>
        <p:txBody>
          <a:bodyPr wrap="square" lIns="45720" rIns="45720" anchor="t">
            <a:spAutoFit/>
          </a:bodyPr>
          <a:lstStyle/>
          <a:p>
            <a:pPr algn="l"/>
            <a:r>
              <a:rPr sz="919" b="0">
                <a:solidFill>
                  <a:srgbClr val="677082"/>
                </a:solidFill>
                <a:latin typeface="Aptos"/>
              </a:rPr>
              <a:t>Useful where conventional internet access is constrained.</a:t>
            </a:r>
          </a:p>
        </p:txBody>
      </p:sp>
      <p:sp>
        <p:nvSpPr>
          <p:cNvPr id="43" name="Rounded Rectangle 42"/>
          <p:cNvSpPr/>
          <p:nvPr/>
        </p:nvSpPr>
        <p:spPr>
          <a:xfrm>
            <a:off x="777240" y="4983480"/>
            <a:ext cx="10698480" cy="82296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05840" y="5193792"/>
            <a:ext cx="1143000" cy="182880"/>
          </a:xfrm>
          <a:prstGeom prst="rect">
            <a:avLst/>
          </a:prstGeom>
          <a:noFill/>
        </p:spPr>
        <p:txBody>
          <a:bodyPr wrap="square" lIns="45720" rIns="45720" anchor="t">
            <a:spAutoFit/>
          </a:bodyPr>
          <a:lstStyle/>
          <a:p>
            <a:pPr algn="l"/>
            <a:r>
              <a:rPr sz="850" b="1">
                <a:solidFill>
                  <a:srgbClr val="34425F"/>
                </a:solidFill>
                <a:latin typeface="Aptos"/>
              </a:rPr>
              <a:t>SYSTEM ROLE</a:t>
            </a:r>
          </a:p>
        </p:txBody>
      </p:sp>
      <p:sp>
        <p:nvSpPr>
          <p:cNvPr id="45" name="TextBox 44"/>
          <p:cNvSpPr txBox="1"/>
          <p:nvPr/>
        </p:nvSpPr>
        <p:spPr>
          <a:xfrm>
            <a:off x="2331720" y="5148072"/>
            <a:ext cx="8138160" cy="274320"/>
          </a:xfrm>
          <a:prstGeom prst="rect">
            <a:avLst/>
          </a:prstGeom>
          <a:noFill/>
        </p:spPr>
        <p:txBody>
          <a:bodyPr wrap="square" lIns="45720" rIns="45720" anchor="t">
            <a:spAutoFit/>
          </a:bodyPr>
          <a:lstStyle/>
          <a:p>
            <a:pPr algn="l"/>
            <a:r>
              <a:rPr sz="1050" b="0">
                <a:solidFill>
                  <a:srgbClr val="677082"/>
                </a:solidFill>
                <a:latin typeface="Aptos"/>
              </a:rPr>
              <a:t>SMS ingress / egress • REST synchronization • Backend processing • Incident visibility</a:t>
            </a:r>
          </a:p>
        </p:txBody>
      </p:sp>
      <p:cxnSp>
        <p:nvCxnSpPr>
          <p:cNvPr id="46" name="Connector 45"/>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48" name="TextBox 47"/>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14</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Twilio SMS Emergency Dashboard</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Cloud-based emergency communication with secure webhook-driven message processing</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508760"/>
            <a:ext cx="1645919"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2103" y="1627631"/>
            <a:ext cx="1536191" cy="493776"/>
          </a:xfrm>
          <a:prstGeom prst="rect">
            <a:avLst/>
          </a:prstGeom>
          <a:noFill/>
        </p:spPr>
        <p:txBody>
          <a:bodyPr wrap="square" lIns="45720" rIns="45720" anchor="ctr">
            <a:spAutoFit/>
          </a:bodyPr>
          <a:lstStyle/>
          <a:p>
            <a:pPr algn="ctr"/>
            <a:r>
              <a:rPr sz="919" b="1">
                <a:solidFill>
                  <a:srgbClr val="34425F"/>
                </a:solidFill>
                <a:latin typeface="Aptos"/>
              </a:rPr>
              <a:t>Citizen Phone</a:t>
            </a:r>
          </a:p>
        </p:txBody>
      </p:sp>
      <p:sp>
        <p:nvSpPr>
          <p:cNvPr id="9" name="TextBox 8"/>
          <p:cNvSpPr txBox="1"/>
          <p:nvPr/>
        </p:nvSpPr>
        <p:spPr>
          <a:xfrm>
            <a:off x="2450591" y="1673351"/>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0" name="Rounded Rectangle 9"/>
          <p:cNvSpPr/>
          <p:nvPr/>
        </p:nvSpPr>
        <p:spPr>
          <a:xfrm>
            <a:off x="2587751" y="1508760"/>
            <a:ext cx="1645919"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42615" y="1627631"/>
            <a:ext cx="1536191" cy="493776"/>
          </a:xfrm>
          <a:prstGeom prst="rect">
            <a:avLst/>
          </a:prstGeom>
          <a:noFill/>
        </p:spPr>
        <p:txBody>
          <a:bodyPr wrap="square" lIns="45720" rIns="45720" anchor="ctr">
            <a:spAutoFit/>
          </a:bodyPr>
          <a:lstStyle/>
          <a:p>
            <a:pPr algn="ctr"/>
            <a:r>
              <a:rPr sz="919" b="1">
                <a:solidFill>
                  <a:srgbClr val="34425F"/>
                </a:solidFill>
                <a:latin typeface="Aptos"/>
              </a:rPr>
              <a:t>Twilio</a:t>
            </a:r>
          </a:p>
        </p:txBody>
      </p:sp>
      <p:sp>
        <p:nvSpPr>
          <p:cNvPr id="12" name="TextBox 11"/>
          <p:cNvSpPr txBox="1"/>
          <p:nvPr/>
        </p:nvSpPr>
        <p:spPr>
          <a:xfrm>
            <a:off x="4261103" y="1673351"/>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3" name="Rounded Rectangle 12"/>
          <p:cNvSpPr/>
          <p:nvPr/>
        </p:nvSpPr>
        <p:spPr>
          <a:xfrm>
            <a:off x="4398264" y="1508760"/>
            <a:ext cx="1645919"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53127" y="1627631"/>
            <a:ext cx="1536191" cy="493776"/>
          </a:xfrm>
          <a:prstGeom prst="rect">
            <a:avLst/>
          </a:prstGeom>
          <a:noFill/>
        </p:spPr>
        <p:txBody>
          <a:bodyPr wrap="square" lIns="45720" rIns="45720" anchor="ctr">
            <a:spAutoFit/>
          </a:bodyPr>
          <a:lstStyle/>
          <a:p>
            <a:pPr algn="ctr"/>
            <a:r>
              <a:rPr sz="919" b="1">
                <a:solidFill>
                  <a:srgbClr val="34425F"/>
                </a:solidFill>
                <a:latin typeface="Aptos"/>
              </a:rPr>
              <a:t>Secure Webhook</a:t>
            </a:r>
          </a:p>
        </p:txBody>
      </p:sp>
      <p:sp>
        <p:nvSpPr>
          <p:cNvPr id="15" name="TextBox 14"/>
          <p:cNvSpPr txBox="1"/>
          <p:nvPr/>
        </p:nvSpPr>
        <p:spPr>
          <a:xfrm>
            <a:off x="6071616" y="1673351"/>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6" name="Rounded Rectangle 15"/>
          <p:cNvSpPr/>
          <p:nvPr/>
        </p:nvSpPr>
        <p:spPr>
          <a:xfrm>
            <a:off x="6208775" y="1508760"/>
            <a:ext cx="1645919"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63639" y="1627631"/>
            <a:ext cx="1536191" cy="493776"/>
          </a:xfrm>
          <a:prstGeom prst="rect">
            <a:avLst/>
          </a:prstGeom>
          <a:noFill/>
        </p:spPr>
        <p:txBody>
          <a:bodyPr wrap="square" lIns="45720" rIns="45720" anchor="ctr">
            <a:spAutoFit/>
          </a:bodyPr>
          <a:lstStyle/>
          <a:p>
            <a:pPr algn="ctr"/>
            <a:r>
              <a:rPr sz="919" b="1">
                <a:solidFill>
                  <a:srgbClr val="34425F"/>
                </a:solidFill>
                <a:latin typeface="Aptos"/>
              </a:rPr>
              <a:t>PHP Backend</a:t>
            </a:r>
          </a:p>
        </p:txBody>
      </p:sp>
      <p:sp>
        <p:nvSpPr>
          <p:cNvPr id="18" name="TextBox 17"/>
          <p:cNvSpPr txBox="1"/>
          <p:nvPr/>
        </p:nvSpPr>
        <p:spPr>
          <a:xfrm>
            <a:off x="7882127" y="1673351"/>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19" name="Rounded Rectangle 18"/>
          <p:cNvSpPr/>
          <p:nvPr/>
        </p:nvSpPr>
        <p:spPr>
          <a:xfrm>
            <a:off x="8019288" y="1508760"/>
            <a:ext cx="1645919"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74152" y="1627631"/>
            <a:ext cx="1536191" cy="493776"/>
          </a:xfrm>
          <a:prstGeom prst="rect">
            <a:avLst/>
          </a:prstGeom>
          <a:noFill/>
        </p:spPr>
        <p:txBody>
          <a:bodyPr wrap="square" lIns="45720" rIns="45720" anchor="ctr">
            <a:spAutoFit/>
          </a:bodyPr>
          <a:lstStyle/>
          <a:p>
            <a:pPr algn="ctr"/>
            <a:r>
              <a:rPr sz="919" b="1">
                <a:solidFill>
                  <a:srgbClr val="34425F"/>
                </a:solidFill>
                <a:latin typeface="Aptos"/>
              </a:rPr>
              <a:t>MySQL</a:t>
            </a:r>
          </a:p>
        </p:txBody>
      </p:sp>
      <p:sp>
        <p:nvSpPr>
          <p:cNvPr id="21" name="TextBox 20"/>
          <p:cNvSpPr txBox="1"/>
          <p:nvPr/>
        </p:nvSpPr>
        <p:spPr>
          <a:xfrm>
            <a:off x="9692640" y="1673351"/>
            <a:ext cx="118872" cy="228600"/>
          </a:xfrm>
          <a:prstGeom prst="rect">
            <a:avLst/>
          </a:prstGeom>
          <a:noFill/>
        </p:spPr>
        <p:txBody>
          <a:bodyPr wrap="square" lIns="45720" rIns="45720" anchor="t">
            <a:spAutoFit/>
          </a:bodyPr>
          <a:lstStyle/>
          <a:p>
            <a:pPr algn="ctr"/>
            <a:r>
              <a:rPr sz="1400" b="1">
                <a:solidFill>
                  <a:srgbClr val="4AB2D0"/>
                </a:solidFill>
                <a:latin typeface="Aptos"/>
              </a:rPr>
              <a:t>→</a:t>
            </a:r>
          </a:p>
        </p:txBody>
      </p:sp>
      <p:sp>
        <p:nvSpPr>
          <p:cNvPr id="22" name="Rounded Rectangle 21"/>
          <p:cNvSpPr/>
          <p:nvPr/>
        </p:nvSpPr>
        <p:spPr>
          <a:xfrm>
            <a:off x="9829799" y="1508760"/>
            <a:ext cx="1645919" cy="65836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84663" y="1627631"/>
            <a:ext cx="1536191" cy="493776"/>
          </a:xfrm>
          <a:prstGeom prst="rect">
            <a:avLst/>
          </a:prstGeom>
          <a:noFill/>
        </p:spPr>
        <p:txBody>
          <a:bodyPr wrap="square" lIns="45720" rIns="45720" anchor="ctr">
            <a:spAutoFit/>
          </a:bodyPr>
          <a:lstStyle/>
          <a:p>
            <a:pPr algn="ctr"/>
            <a:r>
              <a:rPr sz="919" b="1">
                <a:solidFill>
                  <a:srgbClr val="34425F"/>
                </a:solidFill>
                <a:latin typeface="Aptos"/>
              </a:rPr>
              <a:t>Emergency Dashboard</a:t>
            </a:r>
          </a:p>
        </p:txBody>
      </p:sp>
      <p:sp>
        <p:nvSpPr>
          <p:cNvPr id="24" name="Rounded Rectangle 23"/>
          <p:cNvSpPr/>
          <p:nvPr/>
        </p:nvSpPr>
        <p:spPr>
          <a:xfrm>
            <a:off x="777240" y="2743200"/>
            <a:ext cx="3246120" cy="93268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78408" y="29443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26" name="TextBox 25"/>
          <p:cNvSpPr txBox="1"/>
          <p:nvPr/>
        </p:nvSpPr>
        <p:spPr>
          <a:xfrm>
            <a:off x="1435607" y="2907792"/>
            <a:ext cx="2450592" cy="310896"/>
          </a:xfrm>
          <a:prstGeom prst="rect">
            <a:avLst/>
          </a:prstGeom>
          <a:noFill/>
        </p:spPr>
        <p:txBody>
          <a:bodyPr wrap="square" lIns="45720" rIns="45720" anchor="t">
            <a:spAutoFit/>
          </a:bodyPr>
          <a:lstStyle/>
          <a:p>
            <a:pPr algn="l"/>
            <a:r>
              <a:rPr sz="1150" b="1">
                <a:solidFill>
                  <a:srgbClr val="34425F"/>
                </a:solidFill>
                <a:latin typeface="Aptos"/>
              </a:rPr>
              <a:t>Incoming SMS</a:t>
            </a:r>
          </a:p>
        </p:txBody>
      </p:sp>
      <p:sp>
        <p:nvSpPr>
          <p:cNvPr id="27" name="TextBox 26"/>
          <p:cNvSpPr txBox="1"/>
          <p:nvPr/>
        </p:nvSpPr>
        <p:spPr>
          <a:xfrm>
            <a:off x="978408" y="3337560"/>
            <a:ext cx="2843784" cy="201167"/>
          </a:xfrm>
          <a:prstGeom prst="rect">
            <a:avLst/>
          </a:prstGeom>
          <a:noFill/>
        </p:spPr>
        <p:txBody>
          <a:bodyPr wrap="square" lIns="45720" rIns="45720" anchor="t">
            <a:spAutoFit/>
          </a:bodyPr>
          <a:lstStyle/>
          <a:p>
            <a:pPr algn="l"/>
            <a:r>
              <a:rPr sz="919" b="0">
                <a:solidFill>
                  <a:srgbClr val="677082"/>
                </a:solidFill>
                <a:latin typeface="Aptos"/>
              </a:rPr>
              <a:t>Receive and process emergency messages</a:t>
            </a:r>
          </a:p>
        </p:txBody>
      </p:sp>
      <p:sp>
        <p:nvSpPr>
          <p:cNvPr id="28" name="Rounded Rectangle 27"/>
          <p:cNvSpPr/>
          <p:nvPr/>
        </p:nvSpPr>
        <p:spPr>
          <a:xfrm>
            <a:off x="4434840" y="2743200"/>
            <a:ext cx="3246120" cy="93268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636007" y="29443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30" name="TextBox 29"/>
          <p:cNvSpPr txBox="1"/>
          <p:nvPr/>
        </p:nvSpPr>
        <p:spPr>
          <a:xfrm>
            <a:off x="5093207" y="2907792"/>
            <a:ext cx="2450592" cy="310896"/>
          </a:xfrm>
          <a:prstGeom prst="rect">
            <a:avLst/>
          </a:prstGeom>
          <a:noFill/>
        </p:spPr>
        <p:txBody>
          <a:bodyPr wrap="square" lIns="45720" rIns="45720" anchor="t">
            <a:spAutoFit/>
          </a:bodyPr>
          <a:lstStyle/>
          <a:p>
            <a:pPr algn="l"/>
            <a:r>
              <a:rPr sz="1150" b="1">
                <a:solidFill>
                  <a:srgbClr val="34425F"/>
                </a:solidFill>
                <a:latin typeface="Aptos"/>
              </a:rPr>
              <a:t>Outgoing SMS</a:t>
            </a:r>
          </a:p>
        </p:txBody>
      </p:sp>
      <p:sp>
        <p:nvSpPr>
          <p:cNvPr id="31" name="TextBox 30"/>
          <p:cNvSpPr txBox="1"/>
          <p:nvPr/>
        </p:nvSpPr>
        <p:spPr>
          <a:xfrm>
            <a:off x="4636007" y="3337560"/>
            <a:ext cx="2843784" cy="201167"/>
          </a:xfrm>
          <a:prstGeom prst="rect">
            <a:avLst/>
          </a:prstGeom>
          <a:noFill/>
        </p:spPr>
        <p:txBody>
          <a:bodyPr wrap="square" lIns="45720" rIns="45720" anchor="t">
            <a:spAutoFit/>
          </a:bodyPr>
          <a:lstStyle/>
          <a:p>
            <a:pPr algn="l"/>
            <a:r>
              <a:rPr sz="919" b="0">
                <a:solidFill>
                  <a:srgbClr val="677082"/>
                </a:solidFill>
                <a:latin typeface="Aptos"/>
              </a:rPr>
              <a:t>Send responses and alerts</a:t>
            </a:r>
          </a:p>
        </p:txBody>
      </p:sp>
      <p:sp>
        <p:nvSpPr>
          <p:cNvPr id="32" name="Rounded Rectangle 31"/>
          <p:cNvSpPr/>
          <p:nvPr/>
        </p:nvSpPr>
        <p:spPr>
          <a:xfrm>
            <a:off x="8092440" y="2743200"/>
            <a:ext cx="3246120" cy="93268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293608" y="294436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34" name="TextBox 33"/>
          <p:cNvSpPr txBox="1"/>
          <p:nvPr/>
        </p:nvSpPr>
        <p:spPr>
          <a:xfrm>
            <a:off x="8750808" y="2907792"/>
            <a:ext cx="2450591" cy="310896"/>
          </a:xfrm>
          <a:prstGeom prst="rect">
            <a:avLst/>
          </a:prstGeom>
          <a:noFill/>
        </p:spPr>
        <p:txBody>
          <a:bodyPr wrap="square" lIns="45720" rIns="45720" anchor="t">
            <a:spAutoFit/>
          </a:bodyPr>
          <a:lstStyle/>
          <a:p>
            <a:pPr algn="l"/>
            <a:r>
              <a:rPr sz="1150" b="1">
                <a:solidFill>
                  <a:srgbClr val="34425F"/>
                </a:solidFill>
                <a:latin typeface="Aptos"/>
              </a:rPr>
              <a:t>Status Tracking</a:t>
            </a:r>
          </a:p>
        </p:txBody>
      </p:sp>
      <p:sp>
        <p:nvSpPr>
          <p:cNvPr id="35" name="TextBox 34"/>
          <p:cNvSpPr txBox="1"/>
          <p:nvPr/>
        </p:nvSpPr>
        <p:spPr>
          <a:xfrm>
            <a:off x="8293608" y="3337560"/>
            <a:ext cx="2843784" cy="201167"/>
          </a:xfrm>
          <a:prstGeom prst="rect">
            <a:avLst/>
          </a:prstGeom>
          <a:noFill/>
        </p:spPr>
        <p:txBody>
          <a:bodyPr wrap="square" lIns="45720" rIns="45720" anchor="t">
            <a:spAutoFit/>
          </a:bodyPr>
          <a:lstStyle/>
          <a:p>
            <a:pPr algn="l"/>
            <a:r>
              <a:rPr sz="919" b="0">
                <a:solidFill>
                  <a:srgbClr val="677082"/>
                </a:solidFill>
                <a:latin typeface="Aptos"/>
              </a:rPr>
              <a:t>Track message lifecycle</a:t>
            </a:r>
          </a:p>
        </p:txBody>
      </p:sp>
      <p:sp>
        <p:nvSpPr>
          <p:cNvPr id="36" name="Rounded Rectangle 35"/>
          <p:cNvSpPr/>
          <p:nvPr/>
        </p:nvSpPr>
        <p:spPr>
          <a:xfrm>
            <a:off x="777240" y="3977639"/>
            <a:ext cx="3246120" cy="93268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78408" y="417880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38" name="TextBox 37"/>
          <p:cNvSpPr txBox="1"/>
          <p:nvPr/>
        </p:nvSpPr>
        <p:spPr>
          <a:xfrm>
            <a:off x="1435607" y="4142231"/>
            <a:ext cx="2450592" cy="310896"/>
          </a:xfrm>
          <a:prstGeom prst="rect">
            <a:avLst/>
          </a:prstGeom>
          <a:noFill/>
        </p:spPr>
        <p:txBody>
          <a:bodyPr wrap="square" lIns="45720" rIns="45720" anchor="t">
            <a:spAutoFit/>
          </a:bodyPr>
          <a:lstStyle/>
          <a:p>
            <a:pPr algn="l"/>
            <a:r>
              <a:rPr sz="1150" b="1">
                <a:solidFill>
                  <a:srgbClr val="34425F"/>
                </a:solidFill>
                <a:latin typeface="Aptos"/>
              </a:rPr>
              <a:t>Auto Refresh</a:t>
            </a:r>
          </a:p>
        </p:txBody>
      </p:sp>
      <p:sp>
        <p:nvSpPr>
          <p:cNvPr id="39" name="TextBox 38"/>
          <p:cNvSpPr txBox="1"/>
          <p:nvPr/>
        </p:nvSpPr>
        <p:spPr>
          <a:xfrm>
            <a:off x="978408" y="4572000"/>
            <a:ext cx="2843784" cy="201167"/>
          </a:xfrm>
          <a:prstGeom prst="rect">
            <a:avLst/>
          </a:prstGeom>
          <a:noFill/>
        </p:spPr>
        <p:txBody>
          <a:bodyPr wrap="square" lIns="45720" rIns="45720" anchor="t">
            <a:spAutoFit/>
          </a:bodyPr>
          <a:lstStyle/>
          <a:p>
            <a:pPr algn="l"/>
            <a:r>
              <a:rPr sz="919" b="0">
                <a:solidFill>
                  <a:srgbClr val="677082"/>
                </a:solidFill>
                <a:latin typeface="Aptos"/>
              </a:rPr>
              <a:t>Keep dashboard information current</a:t>
            </a:r>
          </a:p>
        </p:txBody>
      </p:sp>
      <p:sp>
        <p:nvSpPr>
          <p:cNvPr id="40" name="Rounded Rectangle 39"/>
          <p:cNvSpPr/>
          <p:nvPr/>
        </p:nvSpPr>
        <p:spPr>
          <a:xfrm>
            <a:off x="4434840" y="3977639"/>
            <a:ext cx="3246120" cy="93268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636007" y="417880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5</a:t>
            </a:r>
          </a:p>
        </p:txBody>
      </p:sp>
      <p:sp>
        <p:nvSpPr>
          <p:cNvPr id="42" name="TextBox 41"/>
          <p:cNvSpPr txBox="1"/>
          <p:nvPr/>
        </p:nvSpPr>
        <p:spPr>
          <a:xfrm>
            <a:off x="5093207" y="4142231"/>
            <a:ext cx="2450592" cy="310896"/>
          </a:xfrm>
          <a:prstGeom prst="rect">
            <a:avLst/>
          </a:prstGeom>
          <a:noFill/>
        </p:spPr>
        <p:txBody>
          <a:bodyPr wrap="square" lIns="45720" rIns="45720" anchor="t">
            <a:spAutoFit/>
          </a:bodyPr>
          <a:lstStyle/>
          <a:p>
            <a:pPr algn="l"/>
            <a:r>
              <a:rPr sz="1150" b="1">
                <a:solidFill>
                  <a:srgbClr val="34425F"/>
                </a:solidFill>
                <a:latin typeface="Aptos"/>
              </a:rPr>
              <a:t>Webhook Validation</a:t>
            </a:r>
          </a:p>
        </p:txBody>
      </p:sp>
      <p:sp>
        <p:nvSpPr>
          <p:cNvPr id="43" name="TextBox 42"/>
          <p:cNvSpPr txBox="1"/>
          <p:nvPr/>
        </p:nvSpPr>
        <p:spPr>
          <a:xfrm>
            <a:off x="4636007" y="4572000"/>
            <a:ext cx="2843784" cy="201167"/>
          </a:xfrm>
          <a:prstGeom prst="rect">
            <a:avLst/>
          </a:prstGeom>
          <a:noFill/>
        </p:spPr>
        <p:txBody>
          <a:bodyPr wrap="square" lIns="45720" rIns="45720" anchor="t">
            <a:spAutoFit/>
          </a:bodyPr>
          <a:lstStyle/>
          <a:p>
            <a:pPr algn="l"/>
            <a:r>
              <a:rPr sz="919" b="0">
                <a:solidFill>
                  <a:srgbClr val="677082"/>
                </a:solidFill>
                <a:latin typeface="Aptos"/>
              </a:rPr>
              <a:t>Validate incoming integrations</a:t>
            </a:r>
          </a:p>
        </p:txBody>
      </p:sp>
      <p:sp>
        <p:nvSpPr>
          <p:cNvPr id="44" name="Rounded Rectangle 43"/>
          <p:cNvSpPr/>
          <p:nvPr/>
        </p:nvSpPr>
        <p:spPr>
          <a:xfrm>
            <a:off x="8092440" y="3977639"/>
            <a:ext cx="3246120" cy="93268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8293608" y="417880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6</a:t>
            </a:r>
          </a:p>
        </p:txBody>
      </p:sp>
      <p:sp>
        <p:nvSpPr>
          <p:cNvPr id="46" name="TextBox 45"/>
          <p:cNvSpPr txBox="1"/>
          <p:nvPr/>
        </p:nvSpPr>
        <p:spPr>
          <a:xfrm>
            <a:off x="8750808" y="4142231"/>
            <a:ext cx="2450591" cy="310896"/>
          </a:xfrm>
          <a:prstGeom prst="rect">
            <a:avLst/>
          </a:prstGeom>
          <a:noFill/>
        </p:spPr>
        <p:txBody>
          <a:bodyPr wrap="square" lIns="45720" rIns="45720" anchor="t">
            <a:spAutoFit/>
          </a:bodyPr>
          <a:lstStyle/>
          <a:p>
            <a:pPr algn="l"/>
            <a:r>
              <a:rPr sz="1150" b="1">
                <a:solidFill>
                  <a:srgbClr val="34425F"/>
                </a:solidFill>
                <a:latin typeface="Aptos"/>
              </a:rPr>
              <a:t>Deduplication</a:t>
            </a:r>
          </a:p>
        </p:txBody>
      </p:sp>
      <p:sp>
        <p:nvSpPr>
          <p:cNvPr id="47" name="TextBox 46"/>
          <p:cNvSpPr txBox="1"/>
          <p:nvPr/>
        </p:nvSpPr>
        <p:spPr>
          <a:xfrm>
            <a:off x="8293608" y="4572000"/>
            <a:ext cx="2843784" cy="201167"/>
          </a:xfrm>
          <a:prstGeom prst="rect">
            <a:avLst/>
          </a:prstGeom>
          <a:noFill/>
        </p:spPr>
        <p:txBody>
          <a:bodyPr wrap="square" lIns="45720" rIns="45720" anchor="t">
            <a:spAutoFit/>
          </a:bodyPr>
          <a:lstStyle/>
          <a:p>
            <a:pPr algn="l"/>
            <a:r>
              <a:rPr sz="919" b="0">
                <a:solidFill>
                  <a:srgbClr val="677082"/>
                </a:solidFill>
                <a:latin typeface="Aptos"/>
              </a:rPr>
              <a:t>Reduce repeated message records</a:t>
            </a:r>
          </a:p>
        </p:txBody>
      </p:sp>
      <p:cxnSp>
        <p:nvCxnSpPr>
          <p:cNvPr id="48" name="Connector 47"/>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50" name="TextBox 49"/>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15</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Diastermang — GPS &amp; Disaster Mapping</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A disaster-oriented navigation concept focused on live location and offline-first mapping</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691640"/>
            <a:ext cx="1280160" cy="219456"/>
          </a:xfrm>
          <a:prstGeom prst="rect">
            <a:avLst/>
          </a:prstGeom>
          <a:noFill/>
        </p:spPr>
        <p:txBody>
          <a:bodyPr wrap="square" lIns="45720" rIns="45720" anchor="t">
            <a:spAutoFit/>
          </a:bodyPr>
          <a:lstStyle/>
          <a:p>
            <a:pPr algn="l"/>
            <a:r>
              <a:rPr sz="900" b="1">
                <a:solidFill>
                  <a:srgbClr val="D7E0F0"/>
                </a:solidFill>
                <a:latin typeface="Aptos"/>
              </a:rPr>
              <a:t>MAP CONCEPT</a:t>
            </a:r>
          </a:p>
        </p:txBody>
      </p:sp>
      <p:cxnSp>
        <p:nvCxnSpPr>
          <p:cNvPr id="9" name="Connector 8"/>
          <p:cNvCxnSpPr/>
          <p:nvPr/>
        </p:nvCxnSpPr>
        <p:spPr>
          <a:xfrm flipH="1">
            <a:off x="777240" y="2103120"/>
            <a:ext cx="320040" cy="315468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691640" y="2103120"/>
            <a:ext cx="320040" cy="315468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06040" y="2103120"/>
            <a:ext cx="320040" cy="315468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3520440" y="2103120"/>
            <a:ext cx="320040" cy="315468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434840" y="2103120"/>
            <a:ext cx="320040" cy="315468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349240" y="2103120"/>
            <a:ext cx="320040" cy="315468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5840" y="2240280"/>
            <a:ext cx="4937760" cy="22860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05840" y="2880360"/>
            <a:ext cx="4937760" cy="22860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05840" y="3520440"/>
            <a:ext cx="4937760" cy="228599"/>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5840" y="4160520"/>
            <a:ext cx="4937760" cy="22860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5840" y="4800600"/>
            <a:ext cx="4937760" cy="228600"/>
          </a:xfrm>
          <a:prstGeom prst="line">
            <a:avLst/>
          </a:prstGeom>
          <a:ln w="10160">
            <a:solidFill>
              <a:srgbClr val="465474"/>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291840" y="3246120"/>
            <a:ext cx="384048" cy="384048"/>
          </a:xfrm>
          <a:prstGeom prst="ellipse">
            <a:avLst/>
          </a:prstGeom>
          <a:solidFill>
            <a:srgbClr val="4AB2D0"/>
          </a:solidFill>
          <a:ln>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00" b="1">
                <a:solidFill>
                  <a:srgbClr val="FFFFFF"/>
                </a:solidFill>
              </a:rPr>
              <a:t>GPS</a:t>
            </a:r>
          </a:p>
        </p:txBody>
      </p:sp>
      <p:sp>
        <p:nvSpPr>
          <p:cNvPr id="21" name="Oval 20"/>
          <p:cNvSpPr/>
          <p:nvPr/>
        </p:nvSpPr>
        <p:spPr>
          <a:xfrm>
            <a:off x="4800600" y="4343400"/>
            <a:ext cx="256032" cy="256032"/>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00" b="1">
                <a:solidFill>
                  <a:srgbClr val="FFFFFF"/>
                </a:solidFill>
              </a:rPr>
              <a:t>!</a:t>
            </a:r>
          </a:p>
        </p:txBody>
      </p:sp>
      <p:cxnSp>
        <p:nvCxnSpPr>
          <p:cNvPr id="22" name="Connector 21"/>
          <p:cNvCxnSpPr/>
          <p:nvPr/>
        </p:nvCxnSpPr>
        <p:spPr>
          <a:xfrm>
            <a:off x="3483864" y="3438144"/>
            <a:ext cx="1435608" cy="1033272"/>
          </a:xfrm>
          <a:prstGeom prst="line">
            <a:avLst/>
          </a:prstGeom>
          <a:ln w="13970">
            <a:solidFill>
              <a:srgbClr val="DCE4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05840" y="5440680"/>
            <a:ext cx="4800600" cy="256032"/>
          </a:xfrm>
          <a:prstGeom prst="rect">
            <a:avLst/>
          </a:prstGeom>
          <a:noFill/>
        </p:spPr>
        <p:txBody>
          <a:bodyPr wrap="square" lIns="45720" rIns="45720" anchor="t">
            <a:spAutoFit/>
          </a:bodyPr>
          <a:lstStyle/>
          <a:p>
            <a:pPr algn="l"/>
            <a:r>
              <a:rPr sz="900" b="0">
                <a:solidFill>
                  <a:srgbClr val="DCE4F0"/>
                </a:solidFill>
                <a:latin typeface="Aptos"/>
              </a:rPr>
              <a:t>Live coordinates • Interactive vector maps • Location tracking • Offline-first architecture</a:t>
            </a:r>
          </a:p>
        </p:txBody>
      </p:sp>
      <p:sp>
        <p:nvSpPr>
          <p:cNvPr id="24" name="Rounded Rectangle 23"/>
          <p:cNvSpPr/>
          <p:nvPr/>
        </p:nvSpPr>
        <p:spPr>
          <a:xfrm>
            <a:off x="6720840" y="1463040"/>
            <a:ext cx="4434840" cy="859536"/>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922007" y="166420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26" name="TextBox 25"/>
          <p:cNvSpPr txBox="1"/>
          <p:nvPr/>
        </p:nvSpPr>
        <p:spPr>
          <a:xfrm>
            <a:off x="7379208" y="1627632"/>
            <a:ext cx="3639311" cy="310896"/>
          </a:xfrm>
          <a:prstGeom prst="rect">
            <a:avLst/>
          </a:prstGeom>
          <a:noFill/>
        </p:spPr>
        <p:txBody>
          <a:bodyPr wrap="square" lIns="45720" rIns="45720" anchor="t">
            <a:spAutoFit/>
          </a:bodyPr>
          <a:lstStyle/>
          <a:p>
            <a:pPr algn="l"/>
            <a:r>
              <a:rPr sz="1150" b="1">
                <a:solidFill>
                  <a:srgbClr val="34425F"/>
                </a:solidFill>
                <a:latin typeface="Aptos"/>
              </a:rPr>
              <a:t>MapLibre GL JS</a:t>
            </a:r>
          </a:p>
        </p:txBody>
      </p:sp>
      <p:sp>
        <p:nvSpPr>
          <p:cNvPr id="27" name="TextBox 26"/>
          <p:cNvSpPr txBox="1"/>
          <p:nvPr/>
        </p:nvSpPr>
        <p:spPr>
          <a:xfrm>
            <a:off x="6922007" y="2057400"/>
            <a:ext cx="4032503" cy="128015"/>
          </a:xfrm>
          <a:prstGeom prst="rect">
            <a:avLst/>
          </a:prstGeom>
          <a:noFill/>
        </p:spPr>
        <p:txBody>
          <a:bodyPr wrap="square" lIns="45720" rIns="45720" anchor="t">
            <a:spAutoFit/>
          </a:bodyPr>
          <a:lstStyle/>
          <a:p>
            <a:pPr algn="l"/>
            <a:r>
              <a:rPr sz="919" b="0">
                <a:solidFill>
                  <a:srgbClr val="677082"/>
                </a:solidFill>
                <a:latin typeface="Aptos"/>
              </a:rPr>
              <a:t>Interactive vector mapping</a:t>
            </a:r>
          </a:p>
        </p:txBody>
      </p:sp>
      <p:sp>
        <p:nvSpPr>
          <p:cNvPr id="28" name="Rounded Rectangle 27"/>
          <p:cNvSpPr/>
          <p:nvPr/>
        </p:nvSpPr>
        <p:spPr>
          <a:xfrm>
            <a:off x="6720840" y="2542032"/>
            <a:ext cx="4434840" cy="859536"/>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922007" y="2743200"/>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30" name="TextBox 29"/>
          <p:cNvSpPr txBox="1"/>
          <p:nvPr/>
        </p:nvSpPr>
        <p:spPr>
          <a:xfrm>
            <a:off x="7379208" y="2706624"/>
            <a:ext cx="3639311" cy="310896"/>
          </a:xfrm>
          <a:prstGeom prst="rect">
            <a:avLst/>
          </a:prstGeom>
          <a:noFill/>
        </p:spPr>
        <p:txBody>
          <a:bodyPr wrap="square" lIns="45720" rIns="45720" anchor="t">
            <a:spAutoFit/>
          </a:bodyPr>
          <a:lstStyle/>
          <a:p>
            <a:pPr algn="l"/>
            <a:r>
              <a:rPr sz="1150" b="1">
                <a:solidFill>
                  <a:srgbClr val="34425F"/>
                </a:solidFill>
                <a:latin typeface="Aptos"/>
              </a:rPr>
              <a:t>Geolocation API</a:t>
            </a:r>
          </a:p>
        </p:txBody>
      </p:sp>
      <p:sp>
        <p:nvSpPr>
          <p:cNvPr id="31" name="TextBox 30"/>
          <p:cNvSpPr txBox="1"/>
          <p:nvPr/>
        </p:nvSpPr>
        <p:spPr>
          <a:xfrm>
            <a:off x="6922007" y="3136392"/>
            <a:ext cx="4032503" cy="128015"/>
          </a:xfrm>
          <a:prstGeom prst="rect">
            <a:avLst/>
          </a:prstGeom>
          <a:noFill/>
        </p:spPr>
        <p:txBody>
          <a:bodyPr wrap="square" lIns="45720" rIns="45720" anchor="t">
            <a:spAutoFit/>
          </a:bodyPr>
          <a:lstStyle/>
          <a:p>
            <a:pPr algn="l"/>
            <a:r>
              <a:rPr sz="919" b="0">
                <a:solidFill>
                  <a:srgbClr val="677082"/>
                </a:solidFill>
                <a:latin typeface="Aptos"/>
              </a:rPr>
              <a:t>Device location access</a:t>
            </a:r>
          </a:p>
        </p:txBody>
      </p:sp>
      <p:sp>
        <p:nvSpPr>
          <p:cNvPr id="32" name="Rounded Rectangle 31"/>
          <p:cNvSpPr/>
          <p:nvPr/>
        </p:nvSpPr>
        <p:spPr>
          <a:xfrm>
            <a:off x="6720840" y="3621024"/>
            <a:ext cx="4434840" cy="859536"/>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922007" y="3822191"/>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34" name="TextBox 33"/>
          <p:cNvSpPr txBox="1"/>
          <p:nvPr/>
        </p:nvSpPr>
        <p:spPr>
          <a:xfrm>
            <a:off x="7379208" y="3785615"/>
            <a:ext cx="3639311" cy="310896"/>
          </a:xfrm>
          <a:prstGeom prst="rect">
            <a:avLst/>
          </a:prstGeom>
          <a:noFill/>
        </p:spPr>
        <p:txBody>
          <a:bodyPr wrap="square" lIns="45720" rIns="45720" anchor="t">
            <a:spAutoFit/>
          </a:bodyPr>
          <a:lstStyle/>
          <a:p>
            <a:pPr algn="l"/>
            <a:r>
              <a:rPr sz="1150" b="1">
                <a:solidFill>
                  <a:srgbClr val="34425F"/>
                </a:solidFill>
                <a:latin typeface="Aptos"/>
              </a:rPr>
              <a:t>WebGL</a:t>
            </a:r>
          </a:p>
        </p:txBody>
      </p:sp>
      <p:sp>
        <p:nvSpPr>
          <p:cNvPr id="35" name="TextBox 34"/>
          <p:cNvSpPr txBox="1"/>
          <p:nvPr/>
        </p:nvSpPr>
        <p:spPr>
          <a:xfrm>
            <a:off x="6922007" y="4215384"/>
            <a:ext cx="4032503" cy="128015"/>
          </a:xfrm>
          <a:prstGeom prst="rect">
            <a:avLst/>
          </a:prstGeom>
          <a:noFill/>
        </p:spPr>
        <p:txBody>
          <a:bodyPr wrap="square" lIns="45720" rIns="45720" anchor="t">
            <a:spAutoFit/>
          </a:bodyPr>
          <a:lstStyle/>
          <a:p>
            <a:pPr algn="l"/>
            <a:r>
              <a:rPr sz="919" b="0">
                <a:solidFill>
                  <a:srgbClr val="677082"/>
                </a:solidFill>
                <a:latin typeface="Aptos"/>
              </a:rPr>
              <a:t>Accelerated map rendering</a:t>
            </a:r>
          </a:p>
        </p:txBody>
      </p:sp>
      <p:sp>
        <p:nvSpPr>
          <p:cNvPr id="36" name="Rounded Rectangle 35"/>
          <p:cNvSpPr/>
          <p:nvPr/>
        </p:nvSpPr>
        <p:spPr>
          <a:xfrm>
            <a:off x="6720840" y="4700016"/>
            <a:ext cx="4434840" cy="859536"/>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922007" y="4901184"/>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38" name="TextBox 37"/>
          <p:cNvSpPr txBox="1"/>
          <p:nvPr/>
        </p:nvSpPr>
        <p:spPr>
          <a:xfrm>
            <a:off x="7379208" y="4864608"/>
            <a:ext cx="3639311" cy="310896"/>
          </a:xfrm>
          <a:prstGeom prst="rect">
            <a:avLst/>
          </a:prstGeom>
          <a:noFill/>
        </p:spPr>
        <p:txBody>
          <a:bodyPr wrap="square" lIns="45720" rIns="45720" anchor="t">
            <a:spAutoFit/>
          </a:bodyPr>
          <a:lstStyle/>
          <a:p>
            <a:pPr algn="l"/>
            <a:r>
              <a:rPr sz="1150" b="1">
                <a:solidFill>
                  <a:srgbClr val="34425F"/>
                </a:solidFill>
                <a:latin typeface="Aptos"/>
              </a:rPr>
              <a:t>Offline-First</a:t>
            </a:r>
          </a:p>
        </p:txBody>
      </p:sp>
      <p:sp>
        <p:nvSpPr>
          <p:cNvPr id="39" name="TextBox 38"/>
          <p:cNvSpPr txBox="1"/>
          <p:nvPr/>
        </p:nvSpPr>
        <p:spPr>
          <a:xfrm>
            <a:off x="6922007" y="5294376"/>
            <a:ext cx="4032503" cy="128015"/>
          </a:xfrm>
          <a:prstGeom prst="rect">
            <a:avLst/>
          </a:prstGeom>
          <a:noFill/>
        </p:spPr>
        <p:txBody>
          <a:bodyPr wrap="square" lIns="45720" rIns="45720" anchor="t">
            <a:spAutoFit/>
          </a:bodyPr>
          <a:lstStyle/>
          <a:p>
            <a:pPr algn="l"/>
            <a:r>
              <a:rPr sz="919" b="0">
                <a:solidFill>
                  <a:srgbClr val="677082"/>
                </a:solidFill>
                <a:latin typeface="Aptos"/>
              </a:rPr>
              <a:t>Resilience-focused architecture</a:t>
            </a:r>
          </a:p>
        </p:txBody>
      </p:sp>
      <p:cxnSp>
        <p:nvCxnSpPr>
          <p:cNvPr id="40" name="Connector 39"/>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42" name="TextBox 41"/>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pic>
        <p:nvPicPr>
          <p:cNvPr id="44" name="Picture 43">
            <a:extLst>
              <a:ext uri="{FF2B5EF4-FFF2-40B4-BE49-F238E27FC236}">
                <a16:creationId xmlns:a16="http://schemas.microsoft.com/office/drawing/2014/main" id="{2FA22803-3245-E1C4-23F2-8F4548065F58}"/>
              </a:ext>
            </a:extLst>
          </p:cNvPr>
          <p:cNvPicPr>
            <a:picLocks noChangeAspect="1"/>
          </p:cNvPicPr>
          <p:nvPr/>
        </p:nvPicPr>
        <p:blipFill>
          <a:blip r:embed="rId3"/>
          <a:stretch>
            <a:fillRect/>
          </a:stretch>
        </p:blipFill>
        <p:spPr>
          <a:xfrm>
            <a:off x="264669" y="1956815"/>
            <a:ext cx="6282942" cy="35341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16</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GPS and Geospatial Engineering</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Location technologies used to reason about distance, position and spatial relationships</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417320"/>
            <a:ext cx="5486400" cy="448056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37360"/>
            <a:ext cx="3657600" cy="274320"/>
          </a:xfrm>
          <a:prstGeom prst="rect">
            <a:avLst/>
          </a:prstGeom>
          <a:noFill/>
        </p:spPr>
        <p:txBody>
          <a:bodyPr wrap="square" lIns="45720" rIns="45720" anchor="t">
            <a:spAutoFit/>
          </a:bodyPr>
          <a:lstStyle/>
          <a:p>
            <a:pPr algn="l"/>
            <a:r>
              <a:rPr sz="1200" b="1">
                <a:solidFill>
                  <a:srgbClr val="34425F"/>
                </a:solidFill>
                <a:latin typeface="Aptos"/>
              </a:rPr>
              <a:t>Distance Between Two Geographic Points</a:t>
            </a:r>
          </a:p>
        </p:txBody>
      </p:sp>
      <p:sp>
        <p:nvSpPr>
          <p:cNvPr id="9" name="Oval 8"/>
          <p:cNvSpPr/>
          <p:nvPr/>
        </p:nvSpPr>
        <p:spPr>
          <a:xfrm>
            <a:off x="1371600" y="2880360"/>
            <a:ext cx="310896" cy="310896"/>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A</a:t>
            </a:r>
          </a:p>
        </p:txBody>
      </p:sp>
      <p:sp>
        <p:nvSpPr>
          <p:cNvPr id="10" name="Oval 9"/>
          <p:cNvSpPr/>
          <p:nvPr/>
        </p:nvSpPr>
        <p:spPr>
          <a:xfrm>
            <a:off x="5029200" y="4160520"/>
            <a:ext cx="310896" cy="310896"/>
          </a:xfrm>
          <a:prstGeom prst="ellipse">
            <a:avLst/>
          </a:prstGeom>
          <a:solidFill>
            <a:srgbClr val="4AB2D0"/>
          </a:solidFill>
          <a:ln>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a:t>
            </a:r>
          </a:p>
        </p:txBody>
      </p:sp>
      <p:cxnSp>
        <p:nvCxnSpPr>
          <p:cNvPr id="11" name="Connector 10"/>
          <p:cNvCxnSpPr/>
          <p:nvPr/>
        </p:nvCxnSpPr>
        <p:spPr>
          <a:xfrm>
            <a:off x="1664208" y="3035808"/>
            <a:ext cx="3364992" cy="1280160"/>
          </a:xfrm>
          <a:prstGeom prst="line">
            <a:avLst/>
          </a:prstGeom>
          <a:ln w="19050">
            <a:solidFill>
              <a:srgbClr val="4AB2D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423160" y="3108960"/>
            <a:ext cx="1600200" cy="228600"/>
          </a:xfrm>
          <a:prstGeom prst="rect">
            <a:avLst/>
          </a:prstGeom>
          <a:noFill/>
        </p:spPr>
        <p:txBody>
          <a:bodyPr wrap="square" lIns="45720" rIns="45720" anchor="t">
            <a:spAutoFit/>
          </a:bodyPr>
          <a:lstStyle/>
          <a:p>
            <a:pPr algn="ctr"/>
            <a:r>
              <a:rPr sz="1100" b="1">
                <a:solidFill>
                  <a:srgbClr val="34425F"/>
                </a:solidFill>
                <a:latin typeface="Aptos"/>
              </a:rPr>
              <a:t>Haversine Formula</a:t>
            </a:r>
          </a:p>
        </p:txBody>
      </p:sp>
      <p:sp>
        <p:nvSpPr>
          <p:cNvPr id="13" name="TextBox 12"/>
          <p:cNvSpPr txBox="1"/>
          <p:nvPr/>
        </p:nvSpPr>
        <p:spPr>
          <a:xfrm>
            <a:off x="1325880" y="5074920"/>
            <a:ext cx="4297680" cy="320040"/>
          </a:xfrm>
          <a:prstGeom prst="rect">
            <a:avLst/>
          </a:prstGeom>
          <a:noFill/>
        </p:spPr>
        <p:txBody>
          <a:bodyPr wrap="square" lIns="45720" rIns="45720" anchor="t">
            <a:spAutoFit/>
          </a:bodyPr>
          <a:lstStyle/>
          <a:p>
            <a:pPr algn="ctr"/>
            <a:r>
              <a:rPr sz="950" b="0">
                <a:solidFill>
                  <a:srgbClr val="677082"/>
                </a:solidFill>
                <a:latin typeface="Aptos"/>
              </a:rPr>
              <a:t>Calculates geographical distance using latitude and longitude.</a:t>
            </a:r>
          </a:p>
        </p:txBody>
      </p:sp>
      <p:sp>
        <p:nvSpPr>
          <p:cNvPr id="14" name="Rounded Rectangle 13"/>
          <p:cNvSpPr/>
          <p:nvPr/>
        </p:nvSpPr>
        <p:spPr>
          <a:xfrm>
            <a:off x="6583680" y="1417320"/>
            <a:ext cx="4526280" cy="84124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784848" y="16184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16" name="TextBox 15"/>
          <p:cNvSpPr txBox="1"/>
          <p:nvPr/>
        </p:nvSpPr>
        <p:spPr>
          <a:xfrm>
            <a:off x="7242048" y="1581912"/>
            <a:ext cx="3730752" cy="310896"/>
          </a:xfrm>
          <a:prstGeom prst="rect">
            <a:avLst/>
          </a:prstGeom>
          <a:noFill/>
        </p:spPr>
        <p:txBody>
          <a:bodyPr wrap="square" lIns="45720" rIns="45720" anchor="t">
            <a:spAutoFit/>
          </a:bodyPr>
          <a:lstStyle/>
          <a:p>
            <a:pPr algn="l"/>
            <a:r>
              <a:rPr sz="1150" b="1">
                <a:solidFill>
                  <a:srgbClr val="34425F"/>
                </a:solidFill>
                <a:latin typeface="Aptos"/>
              </a:rPr>
              <a:t>Logistics</a:t>
            </a:r>
          </a:p>
        </p:txBody>
      </p:sp>
      <p:sp>
        <p:nvSpPr>
          <p:cNvPr id="17" name="TextBox 16"/>
          <p:cNvSpPr txBox="1"/>
          <p:nvPr/>
        </p:nvSpPr>
        <p:spPr>
          <a:xfrm>
            <a:off x="6784848" y="2011680"/>
            <a:ext cx="4123944" cy="109728"/>
          </a:xfrm>
          <a:prstGeom prst="rect">
            <a:avLst/>
          </a:prstGeom>
          <a:noFill/>
        </p:spPr>
        <p:txBody>
          <a:bodyPr wrap="square" lIns="45720" rIns="45720" anchor="t">
            <a:spAutoFit/>
          </a:bodyPr>
          <a:lstStyle/>
          <a:p>
            <a:pPr algn="l"/>
            <a:r>
              <a:rPr sz="919" b="0">
                <a:solidFill>
                  <a:srgbClr val="677082"/>
                </a:solidFill>
                <a:latin typeface="Aptos"/>
              </a:rPr>
              <a:t>Distance and movement estimation</a:t>
            </a:r>
          </a:p>
        </p:txBody>
      </p:sp>
      <p:sp>
        <p:nvSpPr>
          <p:cNvPr id="18" name="Rounded Rectangle 17"/>
          <p:cNvSpPr/>
          <p:nvPr/>
        </p:nvSpPr>
        <p:spPr>
          <a:xfrm>
            <a:off x="6583680" y="2478024"/>
            <a:ext cx="4526280" cy="84124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784848" y="2679192"/>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20" name="TextBox 19"/>
          <p:cNvSpPr txBox="1"/>
          <p:nvPr/>
        </p:nvSpPr>
        <p:spPr>
          <a:xfrm>
            <a:off x="7242048" y="2642616"/>
            <a:ext cx="3730752" cy="310896"/>
          </a:xfrm>
          <a:prstGeom prst="rect">
            <a:avLst/>
          </a:prstGeom>
          <a:noFill/>
        </p:spPr>
        <p:txBody>
          <a:bodyPr wrap="square" lIns="45720" rIns="45720" anchor="t">
            <a:spAutoFit/>
          </a:bodyPr>
          <a:lstStyle/>
          <a:p>
            <a:pPr algn="l"/>
            <a:r>
              <a:rPr sz="1150" b="1">
                <a:solidFill>
                  <a:srgbClr val="34425F"/>
                </a:solidFill>
                <a:latin typeface="Aptos"/>
              </a:rPr>
              <a:t>Route Estimation</a:t>
            </a:r>
          </a:p>
        </p:txBody>
      </p:sp>
      <p:sp>
        <p:nvSpPr>
          <p:cNvPr id="21" name="TextBox 20"/>
          <p:cNvSpPr txBox="1"/>
          <p:nvPr/>
        </p:nvSpPr>
        <p:spPr>
          <a:xfrm>
            <a:off x="6784848" y="3072384"/>
            <a:ext cx="4123944" cy="109728"/>
          </a:xfrm>
          <a:prstGeom prst="rect">
            <a:avLst/>
          </a:prstGeom>
          <a:noFill/>
        </p:spPr>
        <p:txBody>
          <a:bodyPr wrap="square" lIns="45720" rIns="45720" anchor="t">
            <a:spAutoFit/>
          </a:bodyPr>
          <a:lstStyle/>
          <a:p>
            <a:pPr algn="l"/>
            <a:r>
              <a:rPr sz="919" b="0">
                <a:solidFill>
                  <a:srgbClr val="677082"/>
                </a:solidFill>
                <a:latin typeface="Aptos"/>
              </a:rPr>
              <a:t>Spatial path analysis</a:t>
            </a:r>
          </a:p>
        </p:txBody>
      </p:sp>
      <p:sp>
        <p:nvSpPr>
          <p:cNvPr id="22" name="Rounded Rectangle 21"/>
          <p:cNvSpPr/>
          <p:nvPr/>
        </p:nvSpPr>
        <p:spPr>
          <a:xfrm>
            <a:off x="6583680" y="3538728"/>
            <a:ext cx="4526280" cy="84124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784848" y="3739896"/>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24" name="TextBox 23"/>
          <p:cNvSpPr txBox="1"/>
          <p:nvPr/>
        </p:nvSpPr>
        <p:spPr>
          <a:xfrm>
            <a:off x="7242048" y="3703320"/>
            <a:ext cx="3730752" cy="310896"/>
          </a:xfrm>
          <a:prstGeom prst="rect">
            <a:avLst/>
          </a:prstGeom>
          <a:noFill/>
        </p:spPr>
        <p:txBody>
          <a:bodyPr wrap="square" lIns="45720" rIns="45720" anchor="t">
            <a:spAutoFit/>
          </a:bodyPr>
          <a:lstStyle/>
          <a:p>
            <a:pPr algn="l"/>
            <a:r>
              <a:rPr sz="1150" b="1">
                <a:solidFill>
                  <a:srgbClr val="34425F"/>
                </a:solidFill>
                <a:latin typeface="Aptos"/>
              </a:rPr>
              <a:t>Incident Grouping</a:t>
            </a:r>
          </a:p>
        </p:txBody>
      </p:sp>
      <p:sp>
        <p:nvSpPr>
          <p:cNvPr id="25" name="TextBox 24"/>
          <p:cNvSpPr txBox="1"/>
          <p:nvPr/>
        </p:nvSpPr>
        <p:spPr>
          <a:xfrm>
            <a:off x="6784848" y="4133088"/>
            <a:ext cx="4123944" cy="109728"/>
          </a:xfrm>
          <a:prstGeom prst="rect">
            <a:avLst/>
          </a:prstGeom>
          <a:noFill/>
        </p:spPr>
        <p:txBody>
          <a:bodyPr wrap="square" lIns="45720" rIns="45720" anchor="t">
            <a:spAutoFit/>
          </a:bodyPr>
          <a:lstStyle/>
          <a:p>
            <a:pPr algn="l"/>
            <a:r>
              <a:rPr sz="919" b="0">
                <a:solidFill>
                  <a:srgbClr val="677082"/>
                </a:solidFill>
                <a:latin typeface="Aptos"/>
              </a:rPr>
              <a:t>Cluster nearby emergency events</a:t>
            </a:r>
          </a:p>
        </p:txBody>
      </p:sp>
      <p:sp>
        <p:nvSpPr>
          <p:cNvPr id="26" name="Rounded Rectangle 25"/>
          <p:cNvSpPr/>
          <p:nvPr/>
        </p:nvSpPr>
        <p:spPr>
          <a:xfrm>
            <a:off x="6583680" y="4599431"/>
            <a:ext cx="4526280" cy="841248"/>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784848" y="4800599"/>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28" name="TextBox 27"/>
          <p:cNvSpPr txBox="1"/>
          <p:nvPr/>
        </p:nvSpPr>
        <p:spPr>
          <a:xfrm>
            <a:off x="7242048" y="4764023"/>
            <a:ext cx="3730752" cy="310896"/>
          </a:xfrm>
          <a:prstGeom prst="rect">
            <a:avLst/>
          </a:prstGeom>
          <a:noFill/>
        </p:spPr>
        <p:txBody>
          <a:bodyPr wrap="square" lIns="45720" rIns="45720" anchor="t">
            <a:spAutoFit/>
          </a:bodyPr>
          <a:lstStyle/>
          <a:p>
            <a:pPr algn="l"/>
            <a:r>
              <a:rPr sz="1150" b="1">
                <a:solidFill>
                  <a:srgbClr val="34425F"/>
                </a:solidFill>
                <a:latin typeface="Aptos"/>
              </a:rPr>
              <a:t>Disaster Analysis</a:t>
            </a:r>
          </a:p>
        </p:txBody>
      </p:sp>
      <p:sp>
        <p:nvSpPr>
          <p:cNvPr id="29" name="TextBox 28"/>
          <p:cNvSpPr txBox="1"/>
          <p:nvPr/>
        </p:nvSpPr>
        <p:spPr>
          <a:xfrm>
            <a:off x="6784848" y="5193792"/>
            <a:ext cx="4123944" cy="109728"/>
          </a:xfrm>
          <a:prstGeom prst="rect">
            <a:avLst/>
          </a:prstGeom>
          <a:noFill/>
        </p:spPr>
        <p:txBody>
          <a:bodyPr wrap="square" lIns="45720" rIns="45720" anchor="t">
            <a:spAutoFit/>
          </a:bodyPr>
          <a:lstStyle/>
          <a:p>
            <a:pPr algn="l"/>
            <a:r>
              <a:rPr sz="919" b="0">
                <a:solidFill>
                  <a:srgbClr val="677082"/>
                </a:solidFill>
                <a:latin typeface="Aptos"/>
              </a:rPr>
              <a:t>Understand geographic distribution</a:t>
            </a:r>
          </a:p>
        </p:txBody>
      </p:sp>
      <p:sp>
        <p:nvSpPr>
          <p:cNvPr id="30" name="Rounded Rectangle 29"/>
          <p:cNvSpPr/>
          <p:nvPr/>
        </p:nvSpPr>
        <p:spPr>
          <a:xfrm>
            <a:off x="731520" y="5989320"/>
            <a:ext cx="10378440" cy="32004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6062472"/>
            <a:ext cx="10012680" cy="137160"/>
          </a:xfrm>
          <a:prstGeom prst="rect">
            <a:avLst/>
          </a:prstGeom>
          <a:noFill/>
        </p:spPr>
        <p:txBody>
          <a:bodyPr wrap="square" lIns="45720" rIns="45720" anchor="t">
            <a:spAutoFit/>
          </a:bodyPr>
          <a:lstStyle/>
          <a:p>
            <a:pPr algn="ctr"/>
            <a:r>
              <a:rPr sz="850" b="1">
                <a:solidFill>
                  <a:srgbClr val="34425F"/>
                </a:solidFill>
                <a:latin typeface="Aptos"/>
              </a:rPr>
              <a:t>MapLibre GL JS • Browser Geolocation API • GPS Coordinates • Haversine Formula • WebGL • PMTiles (offline) • IndexedDB</a:t>
            </a:r>
          </a:p>
        </p:txBody>
      </p:sp>
      <p:cxnSp>
        <p:nvCxnSpPr>
          <p:cNvPr id="32" name="Connector 31"/>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34" name="TextBox 33"/>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17</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Backend and Database Engineering</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Core experience in application logic, persistent data and secure system integration</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371600"/>
            <a:ext cx="5669280" cy="585216"/>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1499616"/>
            <a:ext cx="1645920" cy="182880"/>
          </a:xfrm>
          <a:prstGeom prst="rect">
            <a:avLst/>
          </a:prstGeom>
          <a:noFill/>
        </p:spPr>
        <p:txBody>
          <a:bodyPr wrap="square" lIns="45720" rIns="45720" anchor="t">
            <a:spAutoFit/>
          </a:bodyPr>
          <a:lstStyle/>
          <a:p>
            <a:pPr algn="l"/>
            <a:r>
              <a:rPr sz="1000" b="1">
                <a:solidFill>
                  <a:srgbClr val="34425F"/>
                </a:solidFill>
                <a:latin typeface="Aptos"/>
              </a:rPr>
              <a:t>Client / UI</a:t>
            </a:r>
          </a:p>
        </p:txBody>
      </p:sp>
      <p:sp>
        <p:nvSpPr>
          <p:cNvPr id="9" name="TextBox 8"/>
          <p:cNvSpPr txBox="1"/>
          <p:nvPr/>
        </p:nvSpPr>
        <p:spPr>
          <a:xfrm>
            <a:off x="2788920" y="1499616"/>
            <a:ext cx="3474720" cy="219456"/>
          </a:xfrm>
          <a:prstGeom prst="rect">
            <a:avLst/>
          </a:prstGeom>
          <a:noFill/>
        </p:spPr>
        <p:txBody>
          <a:bodyPr wrap="square" lIns="45720" rIns="45720" anchor="t">
            <a:spAutoFit/>
          </a:bodyPr>
          <a:lstStyle/>
          <a:p>
            <a:pPr algn="l"/>
            <a:r>
              <a:rPr sz="919" b="0">
                <a:solidFill>
                  <a:srgbClr val="677082"/>
                </a:solidFill>
                <a:latin typeface="Aptos"/>
              </a:rPr>
              <a:t>JavaScript interfaces and user interactions</a:t>
            </a:r>
          </a:p>
        </p:txBody>
      </p:sp>
      <p:sp>
        <p:nvSpPr>
          <p:cNvPr id="10" name="TextBox 9"/>
          <p:cNvSpPr txBox="1"/>
          <p:nvPr/>
        </p:nvSpPr>
        <p:spPr>
          <a:xfrm>
            <a:off x="3657600" y="1965960"/>
            <a:ext cx="274320" cy="182880"/>
          </a:xfrm>
          <a:prstGeom prst="rect">
            <a:avLst/>
          </a:prstGeom>
          <a:noFill/>
        </p:spPr>
        <p:txBody>
          <a:bodyPr wrap="square" lIns="45720" rIns="45720" anchor="t">
            <a:spAutoFit/>
          </a:bodyPr>
          <a:lstStyle/>
          <a:p>
            <a:pPr algn="ctr"/>
            <a:r>
              <a:rPr sz="1100" b="1">
                <a:solidFill>
                  <a:srgbClr val="4AB2D0"/>
                </a:solidFill>
                <a:latin typeface="Aptos"/>
              </a:rPr>
              <a:t>↓</a:t>
            </a:r>
          </a:p>
        </p:txBody>
      </p:sp>
      <p:sp>
        <p:nvSpPr>
          <p:cNvPr id="11" name="Rounded Rectangle 10"/>
          <p:cNvSpPr/>
          <p:nvPr/>
        </p:nvSpPr>
        <p:spPr>
          <a:xfrm>
            <a:off x="914400" y="2176272"/>
            <a:ext cx="5669280" cy="585216"/>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2304288"/>
            <a:ext cx="1645920" cy="182880"/>
          </a:xfrm>
          <a:prstGeom prst="rect">
            <a:avLst/>
          </a:prstGeom>
          <a:noFill/>
        </p:spPr>
        <p:txBody>
          <a:bodyPr wrap="square" lIns="45720" rIns="45720" anchor="t">
            <a:spAutoFit/>
          </a:bodyPr>
          <a:lstStyle/>
          <a:p>
            <a:pPr algn="l"/>
            <a:r>
              <a:rPr sz="1000" b="1">
                <a:solidFill>
                  <a:srgbClr val="34425F"/>
                </a:solidFill>
                <a:latin typeface="Aptos"/>
              </a:rPr>
              <a:t>API Layer</a:t>
            </a:r>
          </a:p>
        </p:txBody>
      </p:sp>
      <p:sp>
        <p:nvSpPr>
          <p:cNvPr id="13" name="TextBox 12"/>
          <p:cNvSpPr txBox="1"/>
          <p:nvPr/>
        </p:nvSpPr>
        <p:spPr>
          <a:xfrm>
            <a:off x="2788920" y="2304288"/>
            <a:ext cx="3474720" cy="219456"/>
          </a:xfrm>
          <a:prstGeom prst="rect">
            <a:avLst/>
          </a:prstGeom>
          <a:noFill/>
        </p:spPr>
        <p:txBody>
          <a:bodyPr wrap="square" lIns="45720" rIns="45720" anchor="t">
            <a:spAutoFit/>
          </a:bodyPr>
          <a:lstStyle/>
          <a:p>
            <a:pPr algn="l"/>
            <a:r>
              <a:rPr sz="919" b="0">
                <a:solidFill>
                  <a:srgbClr val="677082"/>
                </a:solidFill>
                <a:latin typeface="Aptos"/>
              </a:rPr>
              <a:t>REST endpoints and request handling</a:t>
            </a:r>
          </a:p>
        </p:txBody>
      </p:sp>
      <p:sp>
        <p:nvSpPr>
          <p:cNvPr id="14" name="TextBox 13"/>
          <p:cNvSpPr txBox="1"/>
          <p:nvPr/>
        </p:nvSpPr>
        <p:spPr>
          <a:xfrm>
            <a:off x="3657600" y="2770632"/>
            <a:ext cx="274320" cy="182880"/>
          </a:xfrm>
          <a:prstGeom prst="rect">
            <a:avLst/>
          </a:prstGeom>
          <a:noFill/>
        </p:spPr>
        <p:txBody>
          <a:bodyPr wrap="square" lIns="45720" rIns="45720" anchor="t">
            <a:spAutoFit/>
          </a:bodyPr>
          <a:lstStyle/>
          <a:p>
            <a:pPr algn="ctr"/>
            <a:r>
              <a:rPr sz="1100" b="1">
                <a:solidFill>
                  <a:srgbClr val="4AB2D0"/>
                </a:solidFill>
                <a:latin typeface="Aptos"/>
              </a:rPr>
              <a:t>↓</a:t>
            </a:r>
          </a:p>
        </p:txBody>
      </p:sp>
      <p:sp>
        <p:nvSpPr>
          <p:cNvPr id="15" name="Rounded Rectangle 14"/>
          <p:cNvSpPr/>
          <p:nvPr/>
        </p:nvSpPr>
        <p:spPr>
          <a:xfrm>
            <a:off x="914400" y="2980944"/>
            <a:ext cx="5669280" cy="585216"/>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3108960"/>
            <a:ext cx="1645920" cy="182880"/>
          </a:xfrm>
          <a:prstGeom prst="rect">
            <a:avLst/>
          </a:prstGeom>
          <a:noFill/>
        </p:spPr>
        <p:txBody>
          <a:bodyPr wrap="square" lIns="45720" rIns="45720" anchor="t">
            <a:spAutoFit/>
          </a:bodyPr>
          <a:lstStyle/>
          <a:p>
            <a:pPr algn="l"/>
            <a:r>
              <a:rPr sz="1000" b="1">
                <a:solidFill>
                  <a:srgbClr val="34425F"/>
                </a:solidFill>
                <a:latin typeface="Aptos"/>
              </a:rPr>
              <a:t>Service Layer</a:t>
            </a:r>
          </a:p>
        </p:txBody>
      </p:sp>
      <p:sp>
        <p:nvSpPr>
          <p:cNvPr id="17" name="TextBox 16"/>
          <p:cNvSpPr txBox="1"/>
          <p:nvPr/>
        </p:nvSpPr>
        <p:spPr>
          <a:xfrm>
            <a:off x="2788920" y="3108960"/>
            <a:ext cx="3474720" cy="219456"/>
          </a:xfrm>
          <a:prstGeom prst="rect">
            <a:avLst/>
          </a:prstGeom>
          <a:noFill/>
        </p:spPr>
        <p:txBody>
          <a:bodyPr wrap="square" lIns="45720" rIns="45720" anchor="t">
            <a:spAutoFit/>
          </a:bodyPr>
          <a:lstStyle/>
          <a:p>
            <a:pPr algn="l"/>
            <a:r>
              <a:rPr sz="919" b="0">
                <a:solidFill>
                  <a:srgbClr val="677082"/>
                </a:solidFill>
                <a:latin typeface="Aptos"/>
              </a:rPr>
              <a:t>Business logic and application workflows</a:t>
            </a:r>
          </a:p>
        </p:txBody>
      </p:sp>
      <p:sp>
        <p:nvSpPr>
          <p:cNvPr id="18" name="TextBox 17"/>
          <p:cNvSpPr txBox="1"/>
          <p:nvPr/>
        </p:nvSpPr>
        <p:spPr>
          <a:xfrm>
            <a:off x="3657600" y="3575303"/>
            <a:ext cx="274320" cy="182880"/>
          </a:xfrm>
          <a:prstGeom prst="rect">
            <a:avLst/>
          </a:prstGeom>
          <a:noFill/>
        </p:spPr>
        <p:txBody>
          <a:bodyPr wrap="square" lIns="45720" rIns="45720" anchor="t">
            <a:spAutoFit/>
          </a:bodyPr>
          <a:lstStyle/>
          <a:p>
            <a:pPr algn="ctr"/>
            <a:r>
              <a:rPr sz="1100" b="1">
                <a:solidFill>
                  <a:srgbClr val="4AB2D0"/>
                </a:solidFill>
                <a:latin typeface="Aptos"/>
              </a:rPr>
              <a:t>↓</a:t>
            </a:r>
          </a:p>
        </p:txBody>
      </p:sp>
      <p:sp>
        <p:nvSpPr>
          <p:cNvPr id="19" name="Rounded Rectangle 18"/>
          <p:cNvSpPr/>
          <p:nvPr/>
        </p:nvSpPr>
        <p:spPr>
          <a:xfrm>
            <a:off x="914400" y="3785616"/>
            <a:ext cx="5669280" cy="585216"/>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43000" y="3913632"/>
            <a:ext cx="1645920" cy="182880"/>
          </a:xfrm>
          <a:prstGeom prst="rect">
            <a:avLst/>
          </a:prstGeom>
          <a:noFill/>
        </p:spPr>
        <p:txBody>
          <a:bodyPr wrap="square" lIns="45720" rIns="45720" anchor="t">
            <a:spAutoFit/>
          </a:bodyPr>
          <a:lstStyle/>
          <a:p>
            <a:pPr algn="l"/>
            <a:r>
              <a:rPr sz="1000" b="1">
                <a:solidFill>
                  <a:srgbClr val="34425F"/>
                </a:solidFill>
                <a:latin typeface="Aptos"/>
              </a:rPr>
              <a:t>Repository Layer</a:t>
            </a:r>
          </a:p>
        </p:txBody>
      </p:sp>
      <p:sp>
        <p:nvSpPr>
          <p:cNvPr id="21" name="TextBox 20"/>
          <p:cNvSpPr txBox="1"/>
          <p:nvPr/>
        </p:nvSpPr>
        <p:spPr>
          <a:xfrm>
            <a:off x="2788920" y="3913632"/>
            <a:ext cx="3474720" cy="219456"/>
          </a:xfrm>
          <a:prstGeom prst="rect">
            <a:avLst/>
          </a:prstGeom>
          <a:noFill/>
        </p:spPr>
        <p:txBody>
          <a:bodyPr wrap="square" lIns="45720" rIns="45720" anchor="t">
            <a:spAutoFit/>
          </a:bodyPr>
          <a:lstStyle/>
          <a:p>
            <a:pPr algn="l"/>
            <a:r>
              <a:rPr sz="919" b="0">
                <a:solidFill>
                  <a:srgbClr val="677082"/>
                </a:solidFill>
                <a:latin typeface="Aptos"/>
              </a:rPr>
              <a:t>Database access abstraction</a:t>
            </a:r>
          </a:p>
        </p:txBody>
      </p:sp>
      <p:sp>
        <p:nvSpPr>
          <p:cNvPr id="22" name="TextBox 21"/>
          <p:cNvSpPr txBox="1"/>
          <p:nvPr/>
        </p:nvSpPr>
        <p:spPr>
          <a:xfrm>
            <a:off x="3657600" y="4379976"/>
            <a:ext cx="274320" cy="182880"/>
          </a:xfrm>
          <a:prstGeom prst="rect">
            <a:avLst/>
          </a:prstGeom>
          <a:noFill/>
        </p:spPr>
        <p:txBody>
          <a:bodyPr wrap="square" lIns="45720" rIns="45720" anchor="t">
            <a:spAutoFit/>
          </a:bodyPr>
          <a:lstStyle/>
          <a:p>
            <a:pPr algn="ctr"/>
            <a:r>
              <a:rPr sz="1100" b="1">
                <a:solidFill>
                  <a:srgbClr val="4AB2D0"/>
                </a:solidFill>
                <a:latin typeface="Aptos"/>
              </a:rPr>
              <a:t>↓</a:t>
            </a:r>
          </a:p>
        </p:txBody>
      </p:sp>
      <p:sp>
        <p:nvSpPr>
          <p:cNvPr id="23" name="Rounded Rectangle 22"/>
          <p:cNvSpPr/>
          <p:nvPr/>
        </p:nvSpPr>
        <p:spPr>
          <a:xfrm>
            <a:off x="914400" y="4590288"/>
            <a:ext cx="5669280" cy="585216"/>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43000" y="4718303"/>
            <a:ext cx="1645920" cy="182880"/>
          </a:xfrm>
          <a:prstGeom prst="rect">
            <a:avLst/>
          </a:prstGeom>
          <a:noFill/>
        </p:spPr>
        <p:txBody>
          <a:bodyPr wrap="square" lIns="45720" rIns="45720" anchor="t">
            <a:spAutoFit/>
          </a:bodyPr>
          <a:lstStyle/>
          <a:p>
            <a:pPr algn="l"/>
            <a:r>
              <a:rPr sz="1000" b="1">
                <a:solidFill>
                  <a:srgbClr val="34425F"/>
                </a:solidFill>
                <a:latin typeface="Aptos"/>
              </a:rPr>
              <a:t>MySQL + PDO</a:t>
            </a:r>
          </a:p>
        </p:txBody>
      </p:sp>
      <p:sp>
        <p:nvSpPr>
          <p:cNvPr id="25" name="TextBox 24"/>
          <p:cNvSpPr txBox="1"/>
          <p:nvPr/>
        </p:nvSpPr>
        <p:spPr>
          <a:xfrm>
            <a:off x="2788920" y="4718303"/>
            <a:ext cx="3474720" cy="219456"/>
          </a:xfrm>
          <a:prstGeom prst="rect">
            <a:avLst/>
          </a:prstGeom>
          <a:noFill/>
        </p:spPr>
        <p:txBody>
          <a:bodyPr wrap="square" lIns="45720" rIns="45720" anchor="t">
            <a:spAutoFit/>
          </a:bodyPr>
          <a:lstStyle/>
          <a:p>
            <a:pPr algn="l"/>
            <a:r>
              <a:rPr sz="919" b="0">
                <a:solidFill>
                  <a:srgbClr val="677082"/>
                </a:solidFill>
                <a:latin typeface="Aptos"/>
              </a:rPr>
              <a:t>Persistent data, relationships and secure queries</a:t>
            </a:r>
          </a:p>
        </p:txBody>
      </p:sp>
      <p:sp>
        <p:nvSpPr>
          <p:cNvPr id="26" name="Rounded Rectangle 25"/>
          <p:cNvSpPr/>
          <p:nvPr/>
        </p:nvSpPr>
        <p:spPr>
          <a:xfrm>
            <a:off x="6995160" y="1417320"/>
            <a:ext cx="1920240" cy="658368"/>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86600" y="1618488"/>
            <a:ext cx="1737360" cy="182880"/>
          </a:xfrm>
          <a:prstGeom prst="rect">
            <a:avLst/>
          </a:prstGeom>
          <a:noFill/>
        </p:spPr>
        <p:txBody>
          <a:bodyPr wrap="square" lIns="45720" rIns="45720" anchor="t">
            <a:spAutoFit/>
          </a:bodyPr>
          <a:lstStyle/>
          <a:p>
            <a:pPr algn="ctr"/>
            <a:r>
              <a:rPr sz="950" b="1">
                <a:solidFill>
                  <a:srgbClr val="34425F"/>
                </a:solidFill>
                <a:latin typeface="Aptos"/>
              </a:rPr>
              <a:t>Relationships</a:t>
            </a:r>
          </a:p>
        </p:txBody>
      </p:sp>
      <p:sp>
        <p:nvSpPr>
          <p:cNvPr id="28" name="Rounded Rectangle 27"/>
          <p:cNvSpPr/>
          <p:nvPr/>
        </p:nvSpPr>
        <p:spPr>
          <a:xfrm>
            <a:off x="9144000" y="1417320"/>
            <a:ext cx="1920240" cy="658368"/>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35440" y="1618488"/>
            <a:ext cx="1737360" cy="182880"/>
          </a:xfrm>
          <a:prstGeom prst="rect">
            <a:avLst/>
          </a:prstGeom>
          <a:noFill/>
        </p:spPr>
        <p:txBody>
          <a:bodyPr wrap="square" lIns="45720" rIns="45720" anchor="t">
            <a:spAutoFit/>
          </a:bodyPr>
          <a:lstStyle/>
          <a:p>
            <a:pPr algn="ctr"/>
            <a:r>
              <a:rPr sz="950" b="1">
                <a:solidFill>
                  <a:srgbClr val="34425F"/>
                </a:solidFill>
                <a:latin typeface="Aptos"/>
              </a:rPr>
              <a:t>Foreign Keys</a:t>
            </a:r>
          </a:p>
        </p:txBody>
      </p:sp>
      <p:sp>
        <p:nvSpPr>
          <p:cNvPr id="30" name="Rounded Rectangle 29"/>
          <p:cNvSpPr/>
          <p:nvPr/>
        </p:nvSpPr>
        <p:spPr>
          <a:xfrm>
            <a:off x="6995160" y="2423160"/>
            <a:ext cx="1920240" cy="658368"/>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086600" y="2624328"/>
            <a:ext cx="1737360" cy="182880"/>
          </a:xfrm>
          <a:prstGeom prst="rect">
            <a:avLst/>
          </a:prstGeom>
          <a:noFill/>
        </p:spPr>
        <p:txBody>
          <a:bodyPr wrap="square" lIns="45720" rIns="45720" anchor="t">
            <a:spAutoFit/>
          </a:bodyPr>
          <a:lstStyle/>
          <a:p>
            <a:pPr algn="ctr"/>
            <a:r>
              <a:rPr sz="950" b="1">
                <a:solidFill>
                  <a:srgbClr val="34425F"/>
                </a:solidFill>
                <a:latin typeface="Aptos"/>
              </a:rPr>
              <a:t>Transactions</a:t>
            </a:r>
          </a:p>
        </p:txBody>
      </p:sp>
      <p:sp>
        <p:nvSpPr>
          <p:cNvPr id="32" name="Rounded Rectangle 31"/>
          <p:cNvSpPr/>
          <p:nvPr/>
        </p:nvSpPr>
        <p:spPr>
          <a:xfrm>
            <a:off x="9144000" y="2423160"/>
            <a:ext cx="1920240" cy="658368"/>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235440" y="2624328"/>
            <a:ext cx="1737360" cy="182880"/>
          </a:xfrm>
          <a:prstGeom prst="rect">
            <a:avLst/>
          </a:prstGeom>
          <a:noFill/>
        </p:spPr>
        <p:txBody>
          <a:bodyPr wrap="square" lIns="45720" rIns="45720" anchor="t">
            <a:spAutoFit/>
          </a:bodyPr>
          <a:lstStyle/>
          <a:p>
            <a:pPr algn="ctr"/>
            <a:r>
              <a:rPr sz="950" b="1">
                <a:solidFill>
                  <a:srgbClr val="34425F"/>
                </a:solidFill>
                <a:latin typeface="Aptos"/>
              </a:rPr>
              <a:t>Migrations</a:t>
            </a:r>
          </a:p>
        </p:txBody>
      </p:sp>
      <p:sp>
        <p:nvSpPr>
          <p:cNvPr id="34" name="Rounded Rectangle 33"/>
          <p:cNvSpPr/>
          <p:nvPr/>
        </p:nvSpPr>
        <p:spPr>
          <a:xfrm>
            <a:off x="6995160" y="3429000"/>
            <a:ext cx="1920240" cy="658368"/>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086600" y="3630168"/>
            <a:ext cx="1737360" cy="182880"/>
          </a:xfrm>
          <a:prstGeom prst="rect">
            <a:avLst/>
          </a:prstGeom>
          <a:noFill/>
        </p:spPr>
        <p:txBody>
          <a:bodyPr wrap="square" lIns="45720" rIns="45720" anchor="t">
            <a:spAutoFit/>
          </a:bodyPr>
          <a:lstStyle/>
          <a:p>
            <a:pPr algn="ctr"/>
            <a:r>
              <a:rPr sz="950" b="1">
                <a:solidFill>
                  <a:srgbClr val="34425F"/>
                </a:solidFill>
                <a:latin typeface="Aptos"/>
              </a:rPr>
              <a:t>Prepared Statements</a:t>
            </a:r>
          </a:p>
        </p:txBody>
      </p:sp>
      <p:sp>
        <p:nvSpPr>
          <p:cNvPr id="36" name="Rounded Rectangle 35"/>
          <p:cNvSpPr/>
          <p:nvPr/>
        </p:nvSpPr>
        <p:spPr>
          <a:xfrm>
            <a:off x="9144000" y="3429000"/>
            <a:ext cx="1920240" cy="658368"/>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35440" y="3630168"/>
            <a:ext cx="1737360" cy="182880"/>
          </a:xfrm>
          <a:prstGeom prst="rect">
            <a:avLst/>
          </a:prstGeom>
          <a:noFill/>
        </p:spPr>
        <p:txBody>
          <a:bodyPr wrap="square" lIns="45720" rIns="45720" anchor="t">
            <a:spAutoFit/>
          </a:bodyPr>
          <a:lstStyle/>
          <a:p>
            <a:pPr algn="ctr"/>
            <a:r>
              <a:rPr sz="950" b="1">
                <a:solidFill>
                  <a:srgbClr val="34425F"/>
                </a:solidFill>
                <a:latin typeface="Aptos"/>
              </a:rPr>
              <a:t>Audit Logging</a:t>
            </a:r>
          </a:p>
        </p:txBody>
      </p:sp>
      <p:sp>
        <p:nvSpPr>
          <p:cNvPr id="38" name="Rounded Rectangle 37"/>
          <p:cNvSpPr/>
          <p:nvPr/>
        </p:nvSpPr>
        <p:spPr>
          <a:xfrm>
            <a:off x="6995160" y="4434840"/>
            <a:ext cx="1920240" cy="658368"/>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086600" y="4636008"/>
            <a:ext cx="1737360" cy="182880"/>
          </a:xfrm>
          <a:prstGeom prst="rect">
            <a:avLst/>
          </a:prstGeom>
          <a:noFill/>
        </p:spPr>
        <p:txBody>
          <a:bodyPr wrap="square" lIns="45720" rIns="45720" anchor="t">
            <a:spAutoFit/>
          </a:bodyPr>
          <a:lstStyle/>
          <a:p>
            <a:pPr algn="ctr"/>
            <a:r>
              <a:rPr sz="950" b="1">
                <a:solidFill>
                  <a:srgbClr val="34425F"/>
                </a:solidFill>
                <a:latin typeface="Aptos"/>
              </a:rPr>
              <a:t>Secure Handling</a:t>
            </a:r>
          </a:p>
        </p:txBody>
      </p:sp>
      <p:sp>
        <p:nvSpPr>
          <p:cNvPr id="40" name="Rounded Rectangle 39"/>
          <p:cNvSpPr/>
          <p:nvPr/>
        </p:nvSpPr>
        <p:spPr>
          <a:xfrm>
            <a:off x="9144000" y="4434840"/>
            <a:ext cx="1920240" cy="658368"/>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235440" y="4636008"/>
            <a:ext cx="1737360" cy="182880"/>
          </a:xfrm>
          <a:prstGeom prst="rect">
            <a:avLst/>
          </a:prstGeom>
          <a:noFill/>
        </p:spPr>
        <p:txBody>
          <a:bodyPr wrap="square" lIns="45720" rIns="45720" anchor="t">
            <a:spAutoFit/>
          </a:bodyPr>
          <a:lstStyle/>
          <a:p>
            <a:pPr algn="ctr"/>
            <a:r>
              <a:rPr sz="950" b="1">
                <a:solidFill>
                  <a:srgbClr val="34425F"/>
                </a:solidFill>
                <a:latin typeface="Aptos"/>
              </a:rPr>
              <a:t>REST APIs</a:t>
            </a:r>
          </a:p>
        </p:txBody>
      </p:sp>
      <p:cxnSp>
        <p:nvCxnSpPr>
          <p:cNvPr id="42" name="Connector 41"/>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44" name="TextBox 43"/>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18</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Key Technical Skills Gained</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Skills developed through direct implementation across different systems</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417320"/>
            <a:ext cx="4983480" cy="114300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78408" y="16184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9" name="TextBox 8"/>
          <p:cNvSpPr txBox="1"/>
          <p:nvPr/>
        </p:nvSpPr>
        <p:spPr>
          <a:xfrm>
            <a:off x="1435607" y="1581912"/>
            <a:ext cx="4187952" cy="310896"/>
          </a:xfrm>
          <a:prstGeom prst="rect">
            <a:avLst/>
          </a:prstGeom>
          <a:noFill/>
        </p:spPr>
        <p:txBody>
          <a:bodyPr wrap="square" lIns="45720" rIns="45720" anchor="t">
            <a:spAutoFit/>
          </a:bodyPr>
          <a:lstStyle/>
          <a:p>
            <a:pPr algn="l"/>
            <a:r>
              <a:rPr sz="1150" b="1">
                <a:solidFill>
                  <a:srgbClr val="34425F"/>
                </a:solidFill>
                <a:latin typeface="Aptos"/>
              </a:rPr>
              <a:t>Software Development</a:t>
            </a:r>
          </a:p>
        </p:txBody>
      </p:sp>
      <p:sp>
        <p:nvSpPr>
          <p:cNvPr id="10" name="TextBox 9"/>
          <p:cNvSpPr txBox="1"/>
          <p:nvPr/>
        </p:nvSpPr>
        <p:spPr>
          <a:xfrm>
            <a:off x="978408" y="2011680"/>
            <a:ext cx="4581144" cy="411479"/>
          </a:xfrm>
          <a:prstGeom prst="rect">
            <a:avLst/>
          </a:prstGeom>
          <a:noFill/>
        </p:spPr>
        <p:txBody>
          <a:bodyPr wrap="square" lIns="45720" rIns="45720" anchor="t">
            <a:spAutoFit/>
          </a:bodyPr>
          <a:lstStyle/>
          <a:p>
            <a:pPr algn="l"/>
            <a:r>
              <a:rPr sz="919" b="0">
                <a:solidFill>
                  <a:srgbClr val="677082"/>
                </a:solidFill>
                <a:latin typeface="Aptos"/>
              </a:rPr>
              <a:t>Full-Stack • PHP OOP • JavaScript • MySQL</a:t>
            </a:r>
          </a:p>
        </p:txBody>
      </p:sp>
      <p:sp>
        <p:nvSpPr>
          <p:cNvPr id="11" name="Rounded Rectangle 10"/>
          <p:cNvSpPr/>
          <p:nvPr/>
        </p:nvSpPr>
        <p:spPr>
          <a:xfrm>
            <a:off x="6263640" y="1417320"/>
            <a:ext cx="4983480" cy="114300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64807" y="161848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13" name="TextBox 12"/>
          <p:cNvSpPr txBox="1"/>
          <p:nvPr/>
        </p:nvSpPr>
        <p:spPr>
          <a:xfrm>
            <a:off x="6922007" y="1581912"/>
            <a:ext cx="4187952" cy="310896"/>
          </a:xfrm>
          <a:prstGeom prst="rect">
            <a:avLst/>
          </a:prstGeom>
          <a:noFill/>
        </p:spPr>
        <p:txBody>
          <a:bodyPr wrap="square" lIns="45720" rIns="45720" anchor="t">
            <a:spAutoFit/>
          </a:bodyPr>
          <a:lstStyle/>
          <a:p>
            <a:pPr algn="l"/>
            <a:r>
              <a:rPr sz="1150" b="1">
                <a:solidFill>
                  <a:srgbClr val="34425F"/>
                </a:solidFill>
                <a:latin typeface="Aptos"/>
              </a:rPr>
              <a:t>Artificial Intelligence</a:t>
            </a:r>
          </a:p>
        </p:txBody>
      </p:sp>
      <p:sp>
        <p:nvSpPr>
          <p:cNvPr id="14" name="TextBox 13"/>
          <p:cNvSpPr txBox="1"/>
          <p:nvPr/>
        </p:nvSpPr>
        <p:spPr>
          <a:xfrm>
            <a:off x="6464807" y="2011680"/>
            <a:ext cx="4581144" cy="411479"/>
          </a:xfrm>
          <a:prstGeom prst="rect">
            <a:avLst/>
          </a:prstGeom>
          <a:noFill/>
        </p:spPr>
        <p:txBody>
          <a:bodyPr wrap="square" lIns="45720" rIns="45720" anchor="t">
            <a:spAutoFit/>
          </a:bodyPr>
          <a:lstStyle/>
          <a:p>
            <a:pPr algn="l"/>
            <a:r>
              <a:rPr sz="919" b="0">
                <a:solidFill>
                  <a:srgbClr val="677082"/>
                </a:solidFill>
                <a:latin typeface="Aptos"/>
              </a:rPr>
              <a:t>Google Gemini API (function calling, structured JSON output) • FLUX.1 Image Generation • Prompt Engineering • Hybrid NLP</a:t>
            </a:r>
          </a:p>
        </p:txBody>
      </p:sp>
      <p:sp>
        <p:nvSpPr>
          <p:cNvPr id="15" name="Rounded Rectangle 14"/>
          <p:cNvSpPr/>
          <p:nvPr/>
        </p:nvSpPr>
        <p:spPr>
          <a:xfrm>
            <a:off x="777240" y="2926080"/>
            <a:ext cx="4983480" cy="114300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78408" y="312724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17" name="TextBox 16"/>
          <p:cNvSpPr txBox="1"/>
          <p:nvPr/>
        </p:nvSpPr>
        <p:spPr>
          <a:xfrm>
            <a:off x="1435607" y="3090672"/>
            <a:ext cx="4187952" cy="310896"/>
          </a:xfrm>
          <a:prstGeom prst="rect">
            <a:avLst/>
          </a:prstGeom>
          <a:noFill/>
        </p:spPr>
        <p:txBody>
          <a:bodyPr wrap="square" lIns="45720" rIns="45720" anchor="t">
            <a:spAutoFit/>
          </a:bodyPr>
          <a:lstStyle/>
          <a:p>
            <a:pPr algn="l"/>
            <a:r>
              <a:rPr sz="1150" b="1">
                <a:solidFill>
                  <a:srgbClr val="34425F"/>
                </a:solidFill>
                <a:latin typeface="Aptos"/>
              </a:rPr>
              <a:t>Advanced Development</a:t>
            </a:r>
          </a:p>
        </p:txBody>
      </p:sp>
      <p:sp>
        <p:nvSpPr>
          <p:cNvPr id="18" name="TextBox 17"/>
          <p:cNvSpPr txBox="1"/>
          <p:nvPr/>
        </p:nvSpPr>
        <p:spPr>
          <a:xfrm>
            <a:off x="978408" y="3520440"/>
            <a:ext cx="4581144" cy="411479"/>
          </a:xfrm>
          <a:prstGeom prst="rect">
            <a:avLst/>
          </a:prstGeom>
          <a:noFill/>
        </p:spPr>
        <p:txBody>
          <a:bodyPr wrap="square" lIns="45720" rIns="45720" anchor="t">
            <a:spAutoFit/>
          </a:bodyPr>
          <a:lstStyle/>
          <a:p>
            <a:pPr algn="l"/>
            <a:r>
              <a:rPr sz="919" b="0">
                <a:solidFill>
                  <a:srgbClr val="677082"/>
                </a:solidFill>
                <a:latin typeface="Aptos"/>
              </a:rPr>
              <a:t>WebGL (Three.js) • 3D Physics (Cannon-ES) • GPS (GeolocateControl) • Haversine Formula • REST API design &amp; consumption</a:t>
            </a:r>
          </a:p>
        </p:txBody>
      </p:sp>
      <p:sp>
        <p:nvSpPr>
          <p:cNvPr id="19" name="Rounded Rectangle 18"/>
          <p:cNvSpPr/>
          <p:nvPr/>
        </p:nvSpPr>
        <p:spPr>
          <a:xfrm>
            <a:off x="6263640" y="2926080"/>
            <a:ext cx="4983480" cy="114300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64807" y="3127248"/>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21" name="TextBox 20"/>
          <p:cNvSpPr txBox="1"/>
          <p:nvPr/>
        </p:nvSpPr>
        <p:spPr>
          <a:xfrm>
            <a:off x="6922007" y="3090672"/>
            <a:ext cx="4187952" cy="310896"/>
          </a:xfrm>
          <a:prstGeom prst="rect">
            <a:avLst/>
          </a:prstGeom>
          <a:noFill/>
        </p:spPr>
        <p:txBody>
          <a:bodyPr wrap="square" lIns="45720" rIns="45720" anchor="t">
            <a:spAutoFit/>
          </a:bodyPr>
          <a:lstStyle/>
          <a:p>
            <a:pPr algn="l"/>
            <a:r>
              <a:rPr sz="1150" b="1">
                <a:solidFill>
                  <a:srgbClr val="34425F"/>
                </a:solidFill>
                <a:latin typeface="Aptos"/>
              </a:rPr>
              <a:t>Security</a:t>
            </a:r>
          </a:p>
        </p:txBody>
      </p:sp>
      <p:sp>
        <p:nvSpPr>
          <p:cNvPr id="22" name="TextBox 21"/>
          <p:cNvSpPr txBox="1"/>
          <p:nvPr/>
        </p:nvSpPr>
        <p:spPr>
          <a:xfrm>
            <a:off x="6464807" y="3520440"/>
            <a:ext cx="4581144" cy="411479"/>
          </a:xfrm>
          <a:prstGeom prst="rect">
            <a:avLst/>
          </a:prstGeom>
          <a:noFill/>
        </p:spPr>
        <p:txBody>
          <a:bodyPr wrap="square" lIns="45720" rIns="45720" anchor="t">
            <a:spAutoFit/>
          </a:bodyPr>
          <a:lstStyle/>
          <a:p>
            <a:pPr algn="l"/>
            <a:r>
              <a:rPr sz="919" b="0">
                <a:solidFill>
                  <a:srgbClr val="677082"/>
                </a:solidFill>
                <a:latin typeface="Aptos"/>
              </a:rPr>
              <a:t>Authentication • CSRF • Rate Limiting • RBAC • Sessions</a:t>
            </a:r>
          </a:p>
        </p:txBody>
      </p:sp>
      <p:sp>
        <p:nvSpPr>
          <p:cNvPr id="23" name="Rounded Rectangle 22"/>
          <p:cNvSpPr/>
          <p:nvPr/>
        </p:nvSpPr>
        <p:spPr>
          <a:xfrm>
            <a:off x="3520440" y="4434840"/>
            <a:ext cx="5166360" cy="114300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721608" y="4636007"/>
            <a:ext cx="347472" cy="347472"/>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5</a:t>
            </a:r>
          </a:p>
        </p:txBody>
      </p:sp>
      <p:sp>
        <p:nvSpPr>
          <p:cNvPr id="25" name="TextBox 24"/>
          <p:cNvSpPr txBox="1"/>
          <p:nvPr/>
        </p:nvSpPr>
        <p:spPr>
          <a:xfrm>
            <a:off x="4178808" y="4599431"/>
            <a:ext cx="4370831" cy="310896"/>
          </a:xfrm>
          <a:prstGeom prst="rect">
            <a:avLst/>
          </a:prstGeom>
          <a:noFill/>
        </p:spPr>
        <p:txBody>
          <a:bodyPr wrap="square" lIns="45720" rIns="45720" anchor="t">
            <a:spAutoFit/>
          </a:bodyPr>
          <a:lstStyle/>
          <a:p>
            <a:pPr algn="l"/>
            <a:r>
              <a:rPr sz="1150" b="1">
                <a:solidFill>
                  <a:srgbClr val="34425F"/>
                </a:solidFill>
                <a:latin typeface="Aptos"/>
              </a:rPr>
              <a:t>Engineering</a:t>
            </a:r>
          </a:p>
        </p:txBody>
      </p:sp>
      <p:sp>
        <p:nvSpPr>
          <p:cNvPr id="26" name="TextBox 25"/>
          <p:cNvSpPr txBox="1"/>
          <p:nvPr/>
        </p:nvSpPr>
        <p:spPr>
          <a:xfrm>
            <a:off x="3721608" y="5029200"/>
            <a:ext cx="4764024" cy="411479"/>
          </a:xfrm>
          <a:prstGeom prst="rect">
            <a:avLst/>
          </a:prstGeom>
          <a:noFill/>
        </p:spPr>
        <p:txBody>
          <a:bodyPr wrap="square" lIns="45720" rIns="45720" anchor="t">
            <a:spAutoFit/>
          </a:bodyPr>
          <a:lstStyle/>
          <a:p>
            <a:pPr algn="l"/>
            <a:r>
              <a:rPr sz="919" b="0">
                <a:solidFill>
                  <a:srgbClr val="677082"/>
                </a:solidFill>
                <a:latin typeface="Aptos"/>
              </a:rPr>
              <a:t>Architecture • Debugging • Integration • Problem Solving</a:t>
            </a:r>
          </a:p>
        </p:txBody>
      </p:sp>
      <p:cxnSp>
        <p:nvCxnSpPr>
          <p:cNvPr id="27" name="Connector 26"/>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29" name="TextBox 28"/>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19</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Challenges and Solutions</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Engineering challenges addressed through architectural and technology choices</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25880"/>
            <a:ext cx="4937760" cy="228600"/>
          </a:xfrm>
          <a:prstGeom prst="rect">
            <a:avLst/>
          </a:prstGeom>
          <a:noFill/>
        </p:spPr>
        <p:txBody>
          <a:bodyPr wrap="square" lIns="45720" rIns="45720" anchor="t">
            <a:spAutoFit/>
          </a:bodyPr>
          <a:lstStyle/>
          <a:p>
            <a:pPr algn="l"/>
            <a:r>
              <a:rPr sz="900" b="1">
                <a:solidFill>
                  <a:srgbClr val="34425F"/>
                </a:solidFill>
                <a:latin typeface="Aptos"/>
              </a:rPr>
              <a:t>CHALLENGE</a:t>
            </a:r>
          </a:p>
        </p:txBody>
      </p:sp>
      <p:sp>
        <p:nvSpPr>
          <p:cNvPr id="8" name="TextBox 7"/>
          <p:cNvSpPr txBox="1"/>
          <p:nvPr/>
        </p:nvSpPr>
        <p:spPr>
          <a:xfrm>
            <a:off x="6446520" y="1325880"/>
            <a:ext cx="4572000" cy="228600"/>
          </a:xfrm>
          <a:prstGeom prst="rect">
            <a:avLst/>
          </a:prstGeom>
          <a:noFill/>
        </p:spPr>
        <p:txBody>
          <a:bodyPr wrap="square" lIns="45720" rIns="45720" anchor="t">
            <a:spAutoFit/>
          </a:bodyPr>
          <a:lstStyle/>
          <a:p>
            <a:pPr algn="l"/>
            <a:r>
              <a:rPr sz="900" b="1">
                <a:solidFill>
                  <a:srgbClr val="34425F"/>
                </a:solidFill>
                <a:latin typeface="Aptos"/>
              </a:rPr>
              <a:t>ENGINEERING RESPONSE</a:t>
            </a:r>
          </a:p>
        </p:txBody>
      </p:sp>
      <p:sp>
        <p:nvSpPr>
          <p:cNvPr id="9" name="Rounded Rectangle 8"/>
          <p:cNvSpPr/>
          <p:nvPr/>
        </p:nvSpPr>
        <p:spPr>
          <a:xfrm>
            <a:off x="777240" y="1691640"/>
            <a:ext cx="5166360" cy="64008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63640" y="1691640"/>
            <a:ext cx="5166360" cy="64008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24128" y="1874520"/>
            <a:ext cx="4572000" cy="228600"/>
          </a:xfrm>
          <a:prstGeom prst="rect">
            <a:avLst/>
          </a:prstGeom>
          <a:noFill/>
        </p:spPr>
        <p:txBody>
          <a:bodyPr wrap="square" lIns="45720" rIns="45720" anchor="t">
            <a:spAutoFit/>
          </a:bodyPr>
          <a:lstStyle/>
          <a:p>
            <a:pPr algn="l"/>
            <a:r>
              <a:rPr sz="1000" b="1">
                <a:solidFill>
                  <a:srgbClr val="34425F"/>
                </a:solidFill>
                <a:latin typeface="Aptos"/>
              </a:rPr>
              <a:t>Unstructured emergency SMS</a:t>
            </a:r>
          </a:p>
        </p:txBody>
      </p:sp>
      <p:sp>
        <p:nvSpPr>
          <p:cNvPr id="12" name="TextBox 11"/>
          <p:cNvSpPr txBox="1"/>
          <p:nvPr/>
        </p:nvSpPr>
        <p:spPr>
          <a:xfrm>
            <a:off x="6510528" y="1874520"/>
            <a:ext cx="4572000" cy="228600"/>
          </a:xfrm>
          <a:prstGeom prst="rect">
            <a:avLst/>
          </a:prstGeom>
          <a:noFill/>
        </p:spPr>
        <p:txBody>
          <a:bodyPr wrap="square" lIns="45720" rIns="45720" anchor="t">
            <a:spAutoFit/>
          </a:bodyPr>
          <a:lstStyle/>
          <a:p>
            <a:pPr algn="l"/>
            <a:r>
              <a:rPr sz="1000" b="1">
                <a:solidFill>
                  <a:srgbClr val="34425F"/>
                </a:solidFill>
                <a:latin typeface="Aptos"/>
              </a:rPr>
              <a:t>Hybrid Rule-Based + AI NLP Pipeline</a:t>
            </a:r>
          </a:p>
        </p:txBody>
      </p:sp>
      <p:sp>
        <p:nvSpPr>
          <p:cNvPr id="13" name="TextBox 12"/>
          <p:cNvSpPr txBox="1"/>
          <p:nvPr/>
        </p:nvSpPr>
        <p:spPr>
          <a:xfrm>
            <a:off x="5989320" y="1856232"/>
            <a:ext cx="228600" cy="228600"/>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14" name="Rounded Rectangle 13"/>
          <p:cNvSpPr/>
          <p:nvPr/>
        </p:nvSpPr>
        <p:spPr>
          <a:xfrm>
            <a:off x="777240" y="2560320"/>
            <a:ext cx="5166360" cy="64008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63640" y="2560320"/>
            <a:ext cx="5166360" cy="64008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24128" y="2743200"/>
            <a:ext cx="4572000" cy="228600"/>
          </a:xfrm>
          <a:prstGeom prst="rect">
            <a:avLst/>
          </a:prstGeom>
          <a:noFill/>
        </p:spPr>
        <p:txBody>
          <a:bodyPr wrap="square" lIns="45720" rIns="45720" anchor="t">
            <a:spAutoFit/>
          </a:bodyPr>
          <a:lstStyle/>
          <a:p>
            <a:pPr algn="l"/>
            <a:r>
              <a:rPr sz="1000" b="1">
                <a:solidFill>
                  <a:srgbClr val="34425F"/>
                </a:solidFill>
                <a:latin typeface="Aptos"/>
              </a:rPr>
              <a:t>Secure authentication</a:t>
            </a:r>
          </a:p>
        </p:txBody>
      </p:sp>
      <p:sp>
        <p:nvSpPr>
          <p:cNvPr id="17" name="TextBox 16"/>
          <p:cNvSpPr txBox="1"/>
          <p:nvPr/>
        </p:nvSpPr>
        <p:spPr>
          <a:xfrm>
            <a:off x="6510528" y="2743200"/>
            <a:ext cx="4572000" cy="228600"/>
          </a:xfrm>
          <a:prstGeom prst="rect">
            <a:avLst/>
          </a:prstGeom>
          <a:noFill/>
        </p:spPr>
        <p:txBody>
          <a:bodyPr wrap="square" lIns="45720" rIns="45720" anchor="t">
            <a:spAutoFit/>
          </a:bodyPr>
          <a:lstStyle/>
          <a:p>
            <a:pPr algn="l"/>
            <a:r>
              <a:rPr sz="1000" b="1">
                <a:solidFill>
                  <a:srgbClr val="34425F"/>
                </a:solidFill>
                <a:latin typeface="Aptos"/>
              </a:rPr>
              <a:t>Rate Limiting + CSRF + Secure Sessions + Hashing</a:t>
            </a:r>
          </a:p>
        </p:txBody>
      </p:sp>
      <p:sp>
        <p:nvSpPr>
          <p:cNvPr id="18" name="TextBox 17"/>
          <p:cNvSpPr txBox="1"/>
          <p:nvPr/>
        </p:nvSpPr>
        <p:spPr>
          <a:xfrm>
            <a:off x="5989320" y="2724912"/>
            <a:ext cx="228600" cy="228600"/>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19" name="Rounded Rectangle 18"/>
          <p:cNvSpPr/>
          <p:nvPr/>
        </p:nvSpPr>
        <p:spPr>
          <a:xfrm>
            <a:off x="777240" y="3429000"/>
            <a:ext cx="5166360" cy="64008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63640" y="3429000"/>
            <a:ext cx="5166360" cy="64008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4128" y="3611880"/>
            <a:ext cx="4572000" cy="228600"/>
          </a:xfrm>
          <a:prstGeom prst="rect">
            <a:avLst/>
          </a:prstGeom>
          <a:noFill/>
        </p:spPr>
        <p:txBody>
          <a:bodyPr wrap="square" lIns="45720" rIns="45720" anchor="t">
            <a:spAutoFit/>
          </a:bodyPr>
          <a:lstStyle/>
          <a:p>
            <a:pPr algn="l"/>
            <a:r>
              <a:rPr sz="1000" b="1">
                <a:solidFill>
                  <a:srgbClr val="34425F"/>
                </a:solidFill>
                <a:latin typeface="Aptos"/>
              </a:rPr>
              <a:t>Real-time emergency communication</a:t>
            </a:r>
          </a:p>
        </p:txBody>
      </p:sp>
      <p:sp>
        <p:nvSpPr>
          <p:cNvPr id="22" name="TextBox 21"/>
          <p:cNvSpPr txBox="1"/>
          <p:nvPr/>
        </p:nvSpPr>
        <p:spPr>
          <a:xfrm>
            <a:off x="6510528" y="3611880"/>
            <a:ext cx="4572000" cy="228600"/>
          </a:xfrm>
          <a:prstGeom prst="rect">
            <a:avLst/>
          </a:prstGeom>
          <a:noFill/>
        </p:spPr>
        <p:txBody>
          <a:bodyPr wrap="square" lIns="45720" rIns="45720" anchor="t">
            <a:spAutoFit/>
          </a:bodyPr>
          <a:lstStyle/>
          <a:p>
            <a:pPr algn="l"/>
            <a:r>
              <a:rPr sz="1000" b="1">
                <a:solidFill>
                  <a:srgbClr val="34425F"/>
                </a:solidFill>
                <a:latin typeface="Aptos"/>
              </a:rPr>
              <a:t>Twilio Integration + Android SMS Gateway</a:t>
            </a:r>
          </a:p>
        </p:txBody>
      </p:sp>
      <p:sp>
        <p:nvSpPr>
          <p:cNvPr id="23" name="TextBox 22"/>
          <p:cNvSpPr txBox="1"/>
          <p:nvPr/>
        </p:nvSpPr>
        <p:spPr>
          <a:xfrm>
            <a:off x="5989320" y="3593592"/>
            <a:ext cx="228600" cy="228600"/>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24" name="Rounded Rectangle 23"/>
          <p:cNvSpPr/>
          <p:nvPr/>
        </p:nvSpPr>
        <p:spPr>
          <a:xfrm>
            <a:off x="777240" y="4297679"/>
            <a:ext cx="5166360" cy="64008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263640" y="4297679"/>
            <a:ext cx="5166360" cy="64008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4128" y="4480559"/>
            <a:ext cx="4572000" cy="228600"/>
          </a:xfrm>
          <a:prstGeom prst="rect">
            <a:avLst/>
          </a:prstGeom>
          <a:noFill/>
        </p:spPr>
        <p:txBody>
          <a:bodyPr wrap="square" lIns="45720" rIns="45720" anchor="t">
            <a:spAutoFit/>
          </a:bodyPr>
          <a:lstStyle/>
          <a:p>
            <a:pPr algn="l"/>
            <a:r>
              <a:rPr sz="1000" b="1">
                <a:solidFill>
                  <a:srgbClr val="34425F"/>
                </a:solidFill>
                <a:latin typeface="Aptos"/>
              </a:rPr>
              <a:t>Warehouse visualization</a:t>
            </a:r>
          </a:p>
        </p:txBody>
      </p:sp>
      <p:sp>
        <p:nvSpPr>
          <p:cNvPr id="27" name="TextBox 26"/>
          <p:cNvSpPr txBox="1"/>
          <p:nvPr/>
        </p:nvSpPr>
        <p:spPr>
          <a:xfrm>
            <a:off x="6510528" y="4480559"/>
            <a:ext cx="4572000" cy="228600"/>
          </a:xfrm>
          <a:prstGeom prst="rect">
            <a:avLst/>
          </a:prstGeom>
          <a:noFill/>
        </p:spPr>
        <p:txBody>
          <a:bodyPr wrap="square" lIns="45720" rIns="45720" anchor="t">
            <a:spAutoFit/>
          </a:bodyPr>
          <a:lstStyle/>
          <a:p>
            <a:pPr algn="l"/>
            <a:r>
              <a:rPr sz="1000" b="1">
                <a:solidFill>
                  <a:srgbClr val="34425F"/>
                </a:solidFill>
                <a:latin typeface="Aptos"/>
              </a:rPr>
              <a:t>Three.js Digital Twin</a:t>
            </a:r>
          </a:p>
        </p:txBody>
      </p:sp>
      <p:sp>
        <p:nvSpPr>
          <p:cNvPr id="28" name="TextBox 27"/>
          <p:cNvSpPr txBox="1"/>
          <p:nvPr/>
        </p:nvSpPr>
        <p:spPr>
          <a:xfrm>
            <a:off x="5989320" y="4462271"/>
            <a:ext cx="228600" cy="228600"/>
          </a:xfrm>
          <a:prstGeom prst="rect">
            <a:avLst/>
          </a:prstGeom>
          <a:noFill/>
        </p:spPr>
        <p:txBody>
          <a:bodyPr wrap="square" lIns="45720" rIns="45720" anchor="t">
            <a:spAutoFit/>
          </a:bodyPr>
          <a:lstStyle/>
          <a:p>
            <a:pPr algn="ctr"/>
            <a:r>
              <a:rPr sz="1200" b="1">
                <a:solidFill>
                  <a:srgbClr val="4AB2D0"/>
                </a:solidFill>
                <a:latin typeface="Aptos"/>
              </a:rPr>
              <a:t>→</a:t>
            </a:r>
          </a:p>
        </p:txBody>
      </p:sp>
      <p:sp>
        <p:nvSpPr>
          <p:cNvPr id="29" name="Rounded Rectangle 28"/>
          <p:cNvSpPr/>
          <p:nvPr/>
        </p:nvSpPr>
        <p:spPr>
          <a:xfrm>
            <a:off x="777240" y="5166360"/>
            <a:ext cx="5166360" cy="64008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63640" y="5166360"/>
            <a:ext cx="5166360" cy="640080"/>
          </a:xfrm>
          <a:prstGeom prst="roundRect">
            <a:avLst/>
          </a:prstGeom>
          <a:solidFill>
            <a:srgbClr val="F6F8FB"/>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24128" y="5349240"/>
            <a:ext cx="4572000" cy="228600"/>
          </a:xfrm>
          <a:prstGeom prst="rect">
            <a:avLst/>
          </a:prstGeom>
          <a:noFill/>
        </p:spPr>
        <p:txBody>
          <a:bodyPr wrap="square" lIns="45720" rIns="45720" anchor="t">
            <a:spAutoFit/>
          </a:bodyPr>
          <a:lstStyle/>
          <a:p>
            <a:pPr algn="l"/>
            <a:r>
              <a:rPr sz="1000" b="1">
                <a:solidFill>
                  <a:srgbClr val="34425F"/>
                </a:solidFill>
                <a:latin typeface="Aptos"/>
              </a:rPr>
              <a:t>Limited internet connectivity</a:t>
            </a:r>
          </a:p>
        </p:txBody>
      </p:sp>
      <p:sp>
        <p:nvSpPr>
          <p:cNvPr id="32" name="TextBox 31"/>
          <p:cNvSpPr txBox="1"/>
          <p:nvPr/>
        </p:nvSpPr>
        <p:spPr>
          <a:xfrm>
            <a:off x="6510528" y="5349240"/>
            <a:ext cx="4572000" cy="228600"/>
          </a:xfrm>
          <a:prstGeom prst="rect">
            <a:avLst/>
          </a:prstGeom>
          <a:noFill/>
        </p:spPr>
        <p:txBody>
          <a:bodyPr wrap="square" lIns="45720" rIns="45720" anchor="t">
            <a:spAutoFit/>
          </a:bodyPr>
          <a:lstStyle/>
          <a:p>
            <a:pPr algn="l"/>
            <a:r>
              <a:rPr sz="1000" b="1">
                <a:solidFill>
                  <a:srgbClr val="34425F"/>
                </a:solidFill>
                <a:latin typeface="Aptos"/>
              </a:rPr>
              <a:t>SMS communication + Offline-First Mapping</a:t>
            </a:r>
          </a:p>
        </p:txBody>
      </p:sp>
      <p:sp>
        <p:nvSpPr>
          <p:cNvPr id="33" name="TextBox 32"/>
          <p:cNvSpPr txBox="1"/>
          <p:nvPr/>
        </p:nvSpPr>
        <p:spPr>
          <a:xfrm>
            <a:off x="5989320" y="5330952"/>
            <a:ext cx="228600" cy="228600"/>
          </a:xfrm>
          <a:prstGeom prst="rect">
            <a:avLst/>
          </a:prstGeom>
          <a:noFill/>
        </p:spPr>
        <p:txBody>
          <a:bodyPr wrap="square" lIns="45720" rIns="45720" anchor="t">
            <a:spAutoFit/>
          </a:bodyPr>
          <a:lstStyle/>
          <a:p>
            <a:pPr algn="ctr"/>
            <a:r>
              <a:rPr sz="1200" b="1">
                <a:solidFill>
                  <a:srgbClr val="4AB2D0"/>
                </a:solidFill>
                <a:latin typeface="Aptos"/>
              </a:rPr>
              <a:t>→</a:t>
            </a:r>
          </a:p>
        </p:txBody>
      </p:sp>
      <p:cxnSp>
        <p:nvCxnSpPr>
          <p:cNvPr id="34" name="Connector 33"/>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36" name="TextBox 35"/>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20</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Key Achievements</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Practical outcomes and capabilities developed during the internship</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1417320"/>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8" name="TextBox 7"/>
          <p:cNvSpPr txBox="1"/>
          <p:nvPr/>
        </p:nvSpPr>
        <p:spPr>
          <a:xfrm>
            <a:off x="1325880" y="1371600"/>
            <a:ext cx="4709160" cy="384048"/>
          </a:xfrm>
          <a:prstGeom prst="rect">
            <a:avLst/>
          </a:prstGeom>
          <a:noFill/>
        </p:spPr>
        <p:txBody>
          <a:bodyPr wrap="square" lIns="45720" rIns="45720" anchor="t">
            <a:spAutoFit/>
          </a:bodyPr>
          <a:lstStyle/>
          <a:p>
            <a:pPr algn="l"/>
            <a:r>
              <a:rPr sz="1050" b="1">
                <a:solidFill>
                  <a:srgbClr val="262F42"/>
                </a:solidFill>
                <a:latin typeface="Aptos"/>
              </a:rPr>
              <a:t>Developed multiple real-world software systems</a:t>
            </a:r>
          </a:p>
        </p:txBody>
      </p:sp>
      <p:sp>
        <p:nvSpPr>
          <p:cNvPr id="9" name="Oval 8"/>
          <p:cNvSpPr/>
          <p:nvPr/>
        </p:nvSpPr>
        <p:spPr>
          <a:xfrm>
            <a:off x="6263640" y="1417320"/>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10" name="TextBox 9"/>
          <p:cNvSpPr txBox="1"/>
          <p:nvPr/>
        </p:nvSpPr>
        <p:spPr>
          <a:xfrm>
            <a:off x="6812279" y="1371600"/>
            <a:ext cx="4709160" cy="384048"/>
          </a:xfrm>
          <a:prstGeom prst="rect">
            <a:avLst/>
          </a:prstGeom>
          <a:noFill/>
        </p:spPr>
        <p:txBody>
          <a:bodyPr wrap="square" lIns="45720" rIns="45720" anchor="t">
            <a:spAutoFit/>
          </a:bodyPr>
          <a:lstStyle/>
          <a:p>
            <a:pPr algn="l"/>
            <a:r>
              <a:rPr sz="1050" b="1">
                <a:solidFill>
                  <a:srgbClr val="262F42"/>
                </a:solidFill>
                <a:latin typeface="Aptos"/>
              </a:rPr>
              <a:t>Implemented AI-powered application features</a:t>
            </a:r>
          </a:p>
        </p:txBody>
      </p:sp>
      <p:sp>
        <p:nvSpPr>
          <p:cNvPr id="11" name="Oval 10"/>
          <p:cNvSpPr/>
          <p:nvPr/>
        </p:nvSpPr>
        <p:spPr>
          <a:xfrm>
            <a:off x="777240" y="2313432"/>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12" name="TextBox 11"/>
          <p:cNvSpPr txBox="1"/>
          <p:nvPr/>
        </p:nvSpPr>
        <p:spPr>
          <a:xfrm>
            <a:off x="1325880" y="2267712"/>
            <a:ext cx="4709160" cy="384048"/>
          </a:xfrm>
          <a:prstGeom prst="rect">
            <a:avLst/>
          </a:prstGeom>
          <a:noFill/>
        </p:spPr>
        <p:txBody>
          <a:bodyPr wrap="square" lIns="45720" rIns="45720" anchor="t">
            <a:spAutoFit/>
          </a:bodyPr>
          <a:lstStyle/>
          <a:p>
            <a:pPr algn="l"/>
            <a:r>
              <a:rPr sz="1050" b="1">
                <a:solidFill>
                  <a:srgbClr val="262F42"/>
                </a:solidFill>
                <a:latin typeface="Aptos"/>
              </a:rPr>
              <a:t>Built emergency communication solutions — Twilio cloud (99.99% SLA) + Android SMS Gateway (low-cost cellular)</a:t>
            </a:r>
          </a:p>
        </p:txBody>
      </p:sp>
      <p:sp>
        <p:nvSpPr>
          <p:cNvPr id="13" name="Oval 12"/>
          <p:cNvSpPr/>
          <p:nvPr/>
        </p:nvSpPr>
        <p:spPr>
          <a:xfrm>
            <a:off x="6263640" y="2313432"/>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14" name="TextBox 13"/>
          <p:cNvSpPr txBox="1"/>
          <p:nvPr/>
        </p:nvSpPr>
        <p:spPr>
          <a:xfrm>
            <a:off x="6812279" y="2267712"/>
            <a:ext cx="4709160" cy="384048"/>
          </a:xfrm>
          <a:prstGeom prst="rect">
            <a:avLst/>
          </a:prstGeom>
          <a:noFill/>
        </p:spPr>
        <p:txBody>
          <a:bodyPr wrap="square" lIns="45720" rIns="45720" anchor="t">
            <a:spAutoFit/>
          </a:bodyPr>
          <a:lstStyle/>
          <a:p>
            <a:pPr algn="l"/>
            <a:r>
              <a:rPr sz="1050" b="1">
                <a:solidFill>
                  <a:srgbClr val="262F42"/>
                </a:solidFill>
                <a:latin typeface="Aptos"/>
              </a:rPr>
              <a:t>Worked with REST APIs and webhooks</a:t>
            </a:r>
          </a:p>
        </p:txBody>
      </p:sp>
      <p:sp>
        <p:nvSpPr>
          <p:cNvPr id="15" name="Oval 14"/>
          <p:cNvSpPr/>
          <p:nvPr/>
        </p:nvSpPr>
        <p:spPr>
          <a:xfrm>
            <a:off x="777240" y="3209544"/>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16" name="TextBox 15"/>
          <p:cNvSpPr txBox="1"/>
          <p:nvPr/>
        </p:nvSpPr>
        <p:spPr>
          <a:xfrm>
            <a:off x="1325880" y="3163824"/>
            <a:ext cx="4709160" cy="384048"/>
          </a:xfrm>
          <a:prstGeom prst="rect">
            <a:avLst/>
          </a:prstGeom>
          <a:noFill/>
        </p:spPr>
        <p:txBody>
          <a:bodyPr wrap="square" lIns="45720" rIns="45720" anchor="t">
            <a:spAutoFit/>
          </a:bodyPr>
          <a:lstStyle/>
          <a:p>
            <a:pPr algn="l"/>
            <a:r>
              <a:rPr sz="1050" b="1">
                <a:solidFill>
                  <a:srgbClr val="262F42"/>
                </a:solidFill>
                <a:latin typeface="Aptos"/>
              </a:rPr>
              <a:t>Developed secure authentication systems</a:t>
            </a:r>
          </a:p>
        </p:txBody>
      </p:sp>
      <p:sp>
        <p:nvSpPr>
          <p:cNvPr id="17" name="Oval 16"/>
          <p:cNvSpPr/>
          <p:nvPr/>
        </p:nvSpPr>
        <p:spPr>
          <a:xfrm>
            <a:off x="6263640" y="3209544"/>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18" name="TextBox 17"/>
          <p:cNvSpPr txBox="1"/>
          <p:nvPr/>
        </p:nvSpPr>
        <p:spPr>
          <a:xfrm>
            <a:off x="6812279" y="3163824"/>
            <a:ext cx="4709160" cy="384048"/>
          </a:xfrm>
          <a:prstGeom prst="rect">
            <a:avLst/>
          </a:prstGeom>
          <a:noFill/>
        </p:spPr>
        <p:txBody>
          <a:bodyPr wrap="square" lIns="45720" rIns="45720" anchor="t">
            <a:spAutoFit/>
          </a:bodyPr>
          <a:lstStyle/>
          <a:p>
            <a:pPr algn="l"/>
            <a:r>
              <a:rPr sz="1050" b="1">
                <a:solidFill>
                  <a:srgbClr val="262F42"/>
                </a:solidFill>
                <a:latin typeface="Aptos"/>
              </a:rPr>
              <a:t>Explored 3D WebGL visualization</a:t>
            </a:r>
          </a:p>
        </p:txBody>
      </p:sp>
      <p:sp>
        <p:nvSpPr>
          <p:cNvPr id="19" name="Oval 18"/>
          <p:cNvSpPr/>
          <p:nvPr/>
        </p:nvSpPr>
        <p:spPr>
          <a:xfrm>
            <a:off x="777240" y="4105655"/>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20" name="TextBox 19"/>
          <p:cNvSpPr txBox="1"/>
          <p:nvPr/>
        </p:nvSpPr>
        <p:spPr>
          <a:xfrm>
            <a:off x="1325880" y="4059935"/>
            <a:ext cx="4709160" cy="384048"/>
          </a:xfrm>
          <a:prstGeom prst="rect">
            <a:avLst/>
          </a:prstGeom>
          <a:noFill/>
        </p:spPr>
        <p:txBody>
          <a:bodyPr wrap="square" lIns="45720" rIns="45720" anchor="t">
            <a:spAutoFit/>
          </a:bodyPr>
          <a:lstStyle/>
          <a:p>
            <a:pPr algn="l"/>
            <a:r>
              <a:rPr sz="1050" b="1">
                <a:solidFill>
                  <a:srgbClr val="262F42"/>
                </a:solidFill>
                <a:latin typeface="Aptos"/>
              </a:rPr>
              <a:t>Implemented GPS &amp; geospatial tech: Haversine formula, MapLibre GL JS, GeolocateControl, PMTiles offline maps</a:t>
            </a:r>
          </a:p>
        </p:txBody>
      </p:sp>
      <p:sp>
        <p:nvSpPr>
          <p:cNvPr id="21" name="Oval 20"/>
          <p:cNvSpPr/>
          <p:nvPr/>
        </p:nvSpPr>
        <p:spPr>
          <a:xfrm>
            <a:off x="6263640" y="4105655"/>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22" name="TextBox 21"/>
          <p:cNvSpPr txBox="1"/>
          <p:nvPr/>
        </p:nvSpPr>
        <p:spPr>
          <a:xfrm>
            <a:off x="6812279" y="4059935"/>
            <a:ext cx="4709160" cy="384048"/>
          </a:xfrm>
          <a:prstGeom prst="rect">
            <a:avLst/>
          </a:prstGeom>
          <a:noFill/>
        </p:spPr>
        <p:txBody>
          <a:bodyPr wrap="square" lIns="45720" rIns="45720" anchor="t">
            <a:spAutoFit/>
          </a:bodyPr>
          <a:lstStyle/>
          <a:p>
            <a:pPr algn="l"/>
            <a:r>
              <a:rPr sz="1050" b="1">
                <a:solidFill>
                  <a:srgbClr val="262F42"/>
                </a:solidFill>
                <a:latin typeface="Aptos"/>
              </a:rPr>
              <a:t>Improved backend and database engineering skills</a:t>
            </a:r>
          </a:p>
        </p:txBody>
      </p:sp>
      <p:sp>
        <p:nvSpPr>
          <p:cNvPr id="23" name="Oval 22"/>
          <p:cNvSpPr/>
          <p:nvPr/>
        </p:nvSpPr>
        <p:spPr>
          <a:xfrm>
            <a:off x="777240" y="5001768"/>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24" name="TextBox 23"/>
          <p:cNvSpPr txBox="1"/>
          <p:nvPr/>
        </p:nvSpPr>
        <p:spPr>
          <a:xfrm>
            <a:off x="1325880" y="4956048"/>
            <a:ext cx="4709160" cy="384048"/>
          </a:xfrm>
          <a:prstGeom prst="rect">
            <a:avLst/>
          </a:prstGeom>
          <a:noFill/>
        </p:spPr>
        <p:txBody>
          <a:bodyPr wrap="square" lIns="45720" rIns="45720" anchor="t">
            <a:spAutoFit/>
          </a:bodyPr>
          <a:lstStyle/>
          <a:p>
            <a:pPr algn="l"/>
            <a:r>
              <a:rPr sz="1050" b="1">
                <a:solidFill>
                  <a:srgbClr val="262F42"/>
                </a:solidFill>
                <a:latin typeface="Aptos"/>
              </a:rPr>
              <a:t>Applied software architecture principles</a:t>
            </a:r>
          </a:p>
        </p:txBody>
      </p:sp>
      <p:sp>
        <p:nvSpPr>
          <p:cNvPr id="25" name="Oval 24"/>
          <p:cNvSpPr/>
          <p:nvPr/>
        </p:nvSpPr>
        <p:spPr>
          <a:xfrm>
            <a:off x="6263640" y="5001768"/>
            <a:ext cx="365760" cy="36576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t>
            </a:r>
          </a:p>
        </p:txBody>
      </p:sp>
      <p:sp>
        <p:nvSpPr>
          <p:cNvPr id="26" name="TextBox 25"/>
          <p:cNvSpPr txBox="1"/>
          <p:nvPr/>
        </p:nvSpPr>
        <p:spPr>
          <a:xfrm>
            <a:off x="6812279" y="4956048"/>
            <a:ext cx="4709160" cy="384048"/>
          </a:xfrm>
          <a:prstGeom prst="rect">
            <a:avLst/>
          </a:prstGeom>
          <a:noFill/>
        </p:spPr>
        <p:txBody>
          <a:bodyPr wrap="square" lIns="45720" rIns="45720" anchor="t">
            <a:spAutoFit/>
          </a:bodyPr>
          <a:lstStyle/>
          <a:p>
            <a:pPr algn="l"/>
            <a:r>
              <a:rPr sz="1050" b="1">
                <a:solidFill>
                  <a:srgbClr val="262F42"/>
                </a:solidFill>
                <a:latin typeface="Aptos"/>
              </a:rPr>
              <a:t>Gained practical industry-level development experience</a:t>
            </a:r>
          </a:p>
        </p:txBody>
      </p:sp>
      <p:sp>
        <p:nvSpPr>
          <p:cNvPr id="27" name="Rounded Rectangle 26"/>
          <p:cNvSpPr/>
          <p:nvPr/>
        </p:nvSpPr>
        <p:spPr>
          <a:xfrm>
            <a:off x="777240" y="5925312"/>
            <a:ext cx="10652760" cy="292608"/>
          </a:xfrm>
          <a:prstGeom prst="roundRect">
            <a:avLst/>
          </a:prstGeom>
          <a:solidFill>
            <a:srgbClr val="E7ECF5"/>
          </a:solidFill>
          <a:ln w="8890">
            <a:solidFill>
              <a:srgbClr val="E7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5989320"/>
            <a:ext cx="10332720" cy="128016"/>
          </a:xfrm>
          <a:prstGeom prst="rect">
            <a:avLst/>
          </a:prstGeom>
          <a:noFill/>
        </p:spPr>
        <p:txBody>
          <a:bodyPr wrap="square" lIns="45720" rIns="45720" anchor="t">
            <a:spAutoFit/>
          </a:bodyPr>
          <a:lstStyle/>
          <a:p>
            <a:pPr algn="ctr"/>
            <a:r>
              <a:rPr sz="800" b="1">
                <a:solidFill>
                  <a:srgbClr val="34425F"/>
                </a:solidFill>
                <a:latin typeface="Aptos"/>
              </a:rPr>
              <a:t>IMPLEMENTATION • INTEGRATION • SECURITY • AI • VISUALIZATION • DISASTER TECHNOLOGY</a:t>
            </a:r>
          </a:p>
        </p:txBody>
      </p:sp>
      <p:cxnSp>
        <p:nvCxnSpPr>
          <p:cNvPr id="29" name="Connector 28"/>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31" name="TextBox 30"/>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457200" cy="274320"/>
          </a:xfrm>
          <a:prstGeom prst="rect">
            <a:avLst/>
          </a:prstGeom>
          <a:noFill/>
        </p:spPr>
        <p:txBody>
          <a:bodyPr wrap="square" lIns="45720" rIns="45720" anchor="t">
            <a:spAutoFit/>
          </a:bodyPr>
          <a:lstStyle/>
          <a:p>
            <a:pPr algn="l"/>
            <a:r>
              <a:rPr sz="1000" b="1">
                <a:solidFill>
                  <a:srgbClr val="677082"/>
                </a:solidFill>
                <a:latin typeface="Aptos"/>
              </a:rPr>
              <a:t>21</a:t>
            </a:r>
          </a:p>
        </p:txBody>
      </p:sp>
      <p:sp>
        <p:nvSpPr>
          <p:cNvPr id="3" name="TextBox 2"/>
          <p:cNvSpPr txBox="1"/>
          <p:nvPr/>
        </p:nvSpPr>
        <p:spPr>
          <a:xfrm>
            <a:off x="1143000" y="292608"/>
            <a:ext cx="8961120" cy="502920"/>
          </a:xfrm>
          <a:prstGeom prst="rect">
            <a:avLst/>
          </a:prstGeom>
          <a:noFill/>
        </p:spPr>
        <p:txBody>
          <a:bodyPr wrap="square" lIns="45720" rIns="45720" anchor="t">
            <a:spAutoFit/>
          </a:bodyPr>
          <a:lstStyle/>
          <a:p>
            <a:pPr algn="l"/>
            <a:r>
              <a:rPr sz="2400" b="1">
                <a:solidFill>
                  <a:srgbClr val="34425F"/>
                </a:solidFill>
                <a:latin typeface="Aptos"/>
              </a:rPr>
              <a:t>Conclusion</a:t>
            </a:r>
          </a:p>
        </p:txBody>
      </p:sp>
      <p:sp>
        <p:nvSpPr>
          <p:cNvPr id="4" name="TextBox 3"/>
          <p:cNvSpPr txBox="1"/>
          <p:nvPr/>
        </p:nvSpPr>
        <p:spPr>
          <a:xfrm>
            <a:off x="1170432" y="841248"/>
            <a:ext cx="9875520" cy="347472"/>
          </a:xfrm>
          <a:prstGeom prst="rect">
            <a:avLst/>
          </a:prstGeom>
          <a:noFill/>
        </p:spPr>
        <p:txBody>
          <a:bodyPr wrap="square" lIns="45720" rIns="45720" anchor="t">
            <a:spAutoFit/>
          </a:bodyPr>
          <a:lstStyle/>
          <a:p>
            <a:pPr algn="l"/>
            <a:r>
              <a:rPr sz="1050" b="0">
                <a:solidFill>
                  <a:srgbClr val="677082"/>
                </a:solidFill>
                <a:latin typeface="Aptos"/>
              </a:rPr>
              <a:t>Bridging academic learning with practical software engineering</a:t>
            </a:r>
          </a:p>
        </p:txBody>
      </p:sp>
      <p:sp>
        <p:nvSpPr>
          <p:cNvPr id="5" name="Rectangle 4"/>
          <p:cNvSpPr/>
          <p:nvPr/>
        </p:nvSpPr>
        <p:spPr>
          <a:xfrm>
            <a:off x="594360" y="1115568"/>
            <a:ext cx="502920" cy="32004"/>
          </a:xfrm>
          <a:prstGeom prst="rect">
            <a:avLst/>
          </a:prstGeom>
          <a:solidFill>
            <a:srgbClr val="4AB2D0"/>
          </a:solidFill>
          <a:ln w="8890">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03152" y="0"/>
            <a:ext cx="685800" cy="41148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05840" y="1508760"/>
            <a:ext cx="10149840" cy="3291840"/>
          </a:xfrm>
          <a:prstGeom prst="roundRect">
            <a:avLst/>
          </a:prstGeom>
          <a:solidFill>
            <a:srgbClr val="FFFFFF"/>
          </a:solidFill>
          <a:ln w="8890">
            <a:solidFill>
              <a:srgbClr val="DC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17320" y="1874519"/>
            <a:ext cx="9326880" cy="1463040"/>
          </a:xfrm>
          <a:prstGeom prst="rect">
            <a:avLst/>
          </a:prstGeom>
          <a:noFill/>
        </p:spPr>
        <p:txBody>
          <a:bodyPr wrap="square" lIns="45720" rIns="45720" anchor="ctr">
            <a:spAutoFit/>
          </a:bodyPr>
          <a:lstStyle/>
          <a:p>
            <a:pPr algn="ctr"/>
            <a:r>
              <a:rPr sz="1500" b="0">
                <a:solidFill>
                  <a:srgbClr val="262F42"/>
                </a:solidFill>
                <a:latin typeface="Aptos"/>
              </a:rPr>
              <a:t>This internship at SGCA Technologies Pvt. Ltd. (sgca.live) provided hands-on experience designing and developing 5 interconnected modern software systems. Through OmniStock (enterprise inventory), the Digital Twin (Three.js 3D), AI SMS Gateway (Gemini-powered emergency parsing), Twilio Dashboard (cloud communication), and Diastermang (GPS disaster mapping), I strengthened skills in full-stack PHP development, software architecture, MySQL database engineering, security (CSRF, RBAC, rate limiting), artificial intelligence (Gemini API, FLUX.1), and geospatial technologies (MapLibre GL JS, Haversine).</a:t>
            </a:r>
          </a:p>
        </p:txBody>
      </p:sp>
      <p:sp>
        <p:nvSpPr>
          <p:cNvPr id="9" name="TextBox 8"/>
          <p:cNvSpPr txBox="1"/>
          <p:nvPr/>
        </p:nvSpPr>
        <p:spPr>
          <a:xfrm>
            <a:off x="1417320" y="3703320"/>
            <a:ext cx="9326880" cy="594360"/>
          </a:xfrm>
          <a:prstGeom prst="rect">
            <a:avLst/>
          </a:prstGeom>
          <a:noFill/>
        </p:spPr>
        <p:txBody>
          <a:bodyPr wrap="square" lIns="45720" rIns="45720" anchor="t">
            <a:spAutoFit/>
          </a:bodyPr>
          <a:lstStyle/>
          <a:p>
            <a:pPr algn="ctr"/>
            <a:r>
              <a:rPr sz="1200" b="1">
                <a:solidFill>
                  <a:srgbClr val="34425F"/>
                </a:solidFill>
                <a:latin typeface="Aptos"/>
              </a:rPr>
              <a:t>The internship fulfilled the NEP 2020 compulsory training requirement for IILM University's B.Tech CSE (AI/ML) program, bridging academic learning with real-world enterprise software engineering practices.</a:t>
            </a:r>
          </a:p>
        </p:txBody>
      </p:sp>
      <p:sp>
        <p:nvSpPr>
          <p:cNvPr id="10" name="Oval 9"/>
          <p:cNvSpPr/>
          <p:nvPr/>
        </p:nvSpPr>
        <p:spPr>
          <a:xfrm>
            <a:off x="1417320" y="5166360"/>
            <a:ext cx="457200" cy="45720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1</a:t>
            </a:r>
          </a:p>
        </p:txBody>
      </p:sp>
      <p:sp>
        <p:nvSpPr>
          <p:cNvPr id="11" name="TextBox 10"/>
          <p:cNvSpPr txBox="1"/>
          <p:nvPr/>
        </p:nvSpPr>
        <p:spPr>
          <a:xfrm>
            <a:off x="1947672" y="5266944"/>
            <a:ext cx="1188720" cy="182880"/>
          </a:xfrm>
          <a:prstGeom prst="rect">
            <a:avLst/>
          </a:prstGeom>
          <a:noFill/>
        </p:spPr>
        <p:txBody>
          <a:bodyPr wrap="square" lIns="45720" rIns="45720" anchor="t">
            <a:spAutoFit/>
          </a:bodyPr>
          <a:lstStyle/>
          <a:p>
            <a:pPr algn="l"/>
            <a:r>
              <a:rPr sz="1000" b="1">
                <a:solidFill>
                  <a:srgbClr val="34425F"/>
                </a:solidFill>
                <a:latin typeface="Aptos"/>
              </a:rPr>
              <a:t>Learn</a:t>
            </a:r>
          </a:p>
        </p:txBody>
      </p:sp>
      <p:sp>
        <p:nvSpPr>
          <p:cNvPr id="12" name="Oval 11"/>
          <p:cNvSpPr/>
          <p:nvPr/>
        </p:nvSpPr>
        <p:spPr>
          <a:xfrm>
            <a:off x="3383280" y="5166360"/>
            <a:ext cx="457200" cy="457200"/>
          </a:xfrm>
          <a:prstGeom prst="ellipse">
            <a:avLst/>
          </a:prstGeom>
          <a:solidFill>
            <a:srgbClr val="4AB2D0"/>
          </a:solidFill>
          <a:ln>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2</a:t>
            </a:r>
          </a:p>
        </p:txBody>
      </p:sp>
      <p:sp>
        <p:nvSpPr>
          <p:cNvPr id="13" name="TextBox 12"/>
          <p:cNvSpPr txBox="1"/>
          <p:nvPr/>
        </p:nvSpPr>
        <p:spPr>
          <a:xfrm>
            <a:off x="3913632" y="5266944"/>
            <a:ext cx="1188720" cy="182880"/>
          </a:xfrm>
          <a:prstGeom prst="rect">
            <a:avLst/>
          </a:prstGeom>
          <a:noFill/>
        </p:spPr>
        <p:txBody>
          <a:bodyPr wrap="square" lIns="45720" rIns="45720" anchor="t">
            <a:spAutoFit/>
          </a:bodyPr>
          <a:lstStyle/>
          <a:p>
            <a:pPr algn="l"/>
            <a:r>
              <a:rPr sz="1000" b="1">
                <a:solidFill>
                  <a:srgbClr val="34425F"/>
                </a:solidFill>
                <a:latin typeface="Aptos"/>
              </a:rPr>
              <a:t>Build</a:t>
            </a:r>
          </a:p>
        </p:txBody>
      </p:sp>
      <p:sp>
        <p:nvSpPr>
          <p:cNvPr id="14" name="Oval 13"/>
          <p:cNvSpPr/>
          <p:nvPr/>
        </p:nvSpPr>
        <p:spPr>
          <a:xfrm>
            <a:off x="5349240" y="5166360"/>
            <a:ext cx="457200" cy="45720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3</a:t>
            </a:r>
          </a:p>
        </p:txBody>
      </p:sp>
      <p:sp>
        <p:nvSpPr>
          <p:cNvPr id="15" name="TextBox 14"/>
          <p:cNvSpPr txBox="1"/>
          <p:nvPr/>
        </p:nvSpPr>
        <p:spPr>
          <a:xfrm>
            <a:off x="5879592" y="5266944"/>
            <a:ext cx="1188720" cy="182880"/>
          </a:xfrm>
          <a:prstGeom prst="rect">
            <a:avLst/>
          </a:prstGeom>
          <a:noFill/>
        </p:spPr>
        <p:txBody>
          <a:bodyPr wrap="square" lIns="45720" rIns="45720" anchor="t">
            <a:spAutoFit/>
          </a:bodyPr>
          <a:lstStyle/>
          <a:p>
            <a:pPr algn="l"/>
            <a:r>
              <a:rPr sz="1000" b="1">
                <a:solidFill>
                  <a:srgbClr val="34425F"/>
                </a:solidFill>
                <a:latin typeface="Aptos"/>
              </a:rPr>
              <a:t>Integrate</a:t>
            </a:r>
          </a:p>
        </p:txBody>
      </p:sp>
      <p:sp>
        <p:nvSpPr>
          <p:cNvPr id="16" name="Oval 15"/>
          <p:cNvSpPr/>
          <p:nvPr/>
        </p:nvSpPr>
        <p:spPr>
          <a:xfrm>
            <a:off x="7315199" y="5166360"/>
            <a:ext cx="457200" cy="457200"/>
          </a:xfrm>
          <a:prstGeom prst="ellipse">
            <a:avLst/>
          </a:prstGeom>
          <a:solidFill>
            <a:srgbClr val="4AB2D0"/>
          </a:solidFill>
          <a:ln>
            <a:solidFill>
              <a:srgbClr val="4AB2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4</a:t>
            </a:r>
          </a:p>
        </p:txBody>
      </p:sp>
      <p:sp>
        <p:nvSpPr>
          <p:cNvPr id="17" name="TextBox 16"/>
          <p:cNvSpPr txBox="1"/>
          <p:nvPr/>
        </p:nvSpPr>
        <p:spPr>
          <a:xfrm>
            <a:off x="7845551" y="5266944"/>
            <a:ext cx="1188720" cy="182880"/>
          </a:xfrm>
          <a:prstGeom prst="rect">
            <a:avLst/>
          </a:prstGeom>
          <a:noFill/>
        </p:spPr>
        <p:txBody>
          <a:bodyPr wrap="square" lIns="45720" rIns="45720" anchor="t">
            <a:spAutoFit/>
          </a:bodyPr>
          <a:lstStyle/>
          <a:p>
            <a:pPr algn="l"/>
            <a:r>
              <a:rPr sz="1000" b="1">
                <a:solidFill>
                  <a:srgbClr val="34425F"/>
                </a:solidFill>
                <a:latin typeface="Aptos"/>
              </a:rPr>
              <a:t>Secure</a:t>
            </a:r>
          </a:p>
        </p:txBody>
      </p:sp>
      <p:sp>
        <p:nvSpPr>
          <p:cNvPr id="18" name="Oval 17"/>
          <p:cNvSpPr/>
          <p:nvPr/>
        </p:nvSpPr>
        <p:spPr>
          <a:xfrm>
            <a:off x="9281160" y="5166360"/>
            <a:ext cx="457200" cy="457200"/>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5</a:t>
            </a:r>
          </a:p>
        </p:txBody>
      </p:sp>
      <p:sp>
        <p:nvSpPr>
          <p:cNvPr id="19" name="TextBox 18"/>
          <p:cNvSpPr txBox="1"/>
          <p:nvPr/>
        </p:nvSpPr>
        <p:spPr>
          <a:xfrm>
            <a:off x="9811512" y="5266944"/>
            <a:ext cx="1188720" cy="182880"/>
          </a:xfrm>
          <a:prstGeom prst="rect">
            <a:avLst/>
          </a:prstGeom>
          <a:noFill/>
        </p:spPr>
        <p:txBody>
          <a:bodyPr wrap="square" lIns="45720" rIns="45720" anchor="t">
            <a:spAutoFit/>
          </a:bodyPr>
          <a:lstStyle/>
          <a:p>
            <a:pPr algn="l"/>
            <a:r>
              <a:rPr sz="1000" b="1">
                <a:solidFill>
                  <a:srgbClr val="34425F"/>
                </a:solidFill>
                <a:latin typeface="Aptos"/>
              </a:rPr>
              <a:t>Innovate</a:t>
            </a:r>
          </a:p>
        </p:txBody>
      </p:sp>
      <p:cxnSp>
        <p:nvCxnSpPr>
          <p:cNvPr id="20" name="Connector 19"/>
          <p:cNvCxnSpPr/>
          <p:nvPr/>
        </p:nvCxnSpPr>
        <p:spPr>
          <a:xfrm>
            <a:off x="594360" y="6455664"/>
            <a:ext cx="10972800" cy="0"/>
          </a:xfrm>
          <a:prstGeom prst="line">
            <a:avLst/>
          </a:prstGeom>
          <a:ln w="8890">
            <a:solidFill>
              <a:srgbClr val="DCE1E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21792" y="6501384"/>
            <a:ext cx="5029200" cy="201168"/>
          </a:xfrm>
          <a:prstGeom prst="rect">
            <a:avLst/>
          </a:prstGeom>
          <a:noFill/>
        </p:spPr>
        <p:txBody>
          <a:bodyPr wrap="square" lIns="45720" rIns="45720" anchor="t">
            <a:spAutoFit/>
          </a:bodyPr>
          <a:lstStyle/>
          <a:p>
            <a:pPr algn="l"/>
            <a:r>
              <a:rPr sz="850" b="0">
                <a:solidFill>
                  <a:srgbClr val="677082"/>
                </a:solidFill>
                <a:latin typeface="Aptos"/>
              </a:rPr>
              <a:t>IILM University • Internship Presentation</a:t>
            </a:r>
          </a:p>
        </p:txBody>
      </p:sp>
      <p:sp>
        <p:nvSpPr>
          <p:cNvPr id="22" name="TextBox 21"/>
          <p:cNvSpPr txBox="1"/>
          <p:nvPr/>
        </p:nvSpPr>
        <p:spPr>
          <a:xfrm>
            <a:off x="9966960" y="6501384"/>
            <a:ext cx="1600200" cy="201168"/>
          </a:xfrm>
          <a:prstGeom prst="rect">
            <a:avLst/>
          </a:prstGeom>
          <a:noFill/>
        </p:spPr>
        <p:txBody>
          <a:bodyPr wrap="square" lIns="45720" rIns="45720" anchor="t">
            <a:spAutoFit/>
          </a:bodyPr>
          <a:lstStyle/>
          <a:p>
            <a:pPr algn="r"/>
            <a:r>
              <a:rPr sz="850" b="0">
                <a:solidFill>
                  <a:srgbClr val="677082"/>
                </a:solidFill>
                <a:latin typeface="Aptos"/>
              </a:rPr>
              <a:t>Yanshika Singh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337560" cy="6858000"/>
          </a:xfrm>
          <a:prstGeom prst="rect">
            <a:avLst/>
          </a:prstGeom>
          <a:solidFill>
            <a:srgbClr val="3442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777240"/>
            <a:ext cx="10012680" cy="5303520"/>
          </a:xfrm>
          <a:prstGeom prst="roundRect">
            <a:avLst/>
          </a:prstGeom>
          <a:solidFill>
            <a:srgbClr val="FFFFFF"/>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00200" y="1874519"/>
            <a:ext cx="6400800" cy="640080"/>
          </a:xfrm>
          <a:prstGeom prst="rect">
            <a:avLst/>
          </a:prstGeom>
          <a:noFill/>
        </p:spPr>
        <p:txBody>
          <a:bodyPr wrap="square" lIns="45720" rIns="45720" anchor="t">
            <a:spAutoFit/>
          </a:bodyPr>
          <a:lstStyle/>
          <a:p>
            <a:pPr algn="l"/>
            <a:r>
              <a:rPr sz="3300" b="1">
                <a:solidFill>
                  <a:srgbClr val="34425F"/>
                </a:solidFill>
                <a:latin typeface="Aptos"/>
              </a:rPr>
              <a:t>THANK YOU</a:t>
            </a:r>
          </a:p>
        </p:txBody>
      </p:sp>
      <p:sp>
        <p:nvSpPr>
          <p:cNvPr id="5" name="TextBox 4"/>
          <p:cNvSpPr txBox="1"/>
          <p:nvPr/>
        </p:nvSpPr>
        <p:spPr>
          <a:xfrm>
            <a:off x="1618488" y="2670048"/>
            <a:ext cx="5029200" cy="365760"/>
          </a:xfrm>
          <a:prstGeom prst="rect">
            <a:avLst/>
          </a:prstGeom>
          <a:noFill/>
        </p:spPr>
        <p:txBody>
          <a:bodyPr wrap="square" lIns="45720" rIns="45720" anchor="t">
            <a:spAutoFit/>
          </a:bodyPr>
          <a:lstStyle/>
          <a:p>
            <a:pPr algn="l"/>
            <a:r>
              <a:rPr sz="1700" b="0">
                <a:solidFill>
                  <a:srgbClr val="677082"/>
                </a:solidFill>
                <a:latin typeface="Aptos"/>
              </a:rPr>
              <a:t>Questions &amp; Discussion</a:t>
            </a:r>
          </a:p>
        </p:txBody>
      </p:sp>
      <p:sp>
        <p:nvSpPr>
          <p:cNvPr id="6" name="Rounded Rectangle 5"/>
          <p:cNvSpPr/>
          <p:nvPr/>
        </p:nvSpPr>
        <p:spPr>
          <a:xfrm>
            <a:off x="1618488" y="3383280"/>
            <a:ext cx="3840480" cy="502920"/>
          </a:xfrm>
          <a:prstGeom prst="roundRect">
            <a:avLst/>
          </a:prstGeom>
          <a:solidFill>
            <a:srgbClr val="E7ECF5"/>
          </a:solidFill>
          <a:ln w="8890">
            <a:solidFill>
              <a:srgbClr val="E7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83080" y="3538728"/>
            <a:ext cx="3474720" cy="182880"/>
          </a:xfrm>
          <a:prstGeom prst="rect">
            <a:avLst/>
          </a:prstGeom>
          <a:noFill/>
        </p:spPr>
        <p:txBody>
          <a:bodyPr wrap="square" lIns="45720" rIns="45720" anchor="t">
            <a:spAutoFit/>
          </a:bodyPr>
          <a:lstStyle/>
          <a:p>
            <a:pPr algn="ctr"/>
            <a:r>
              <a:rPr sz="1100" b="1">
                <a:solidFill>
                  <a:srgbClr val="34425F"/>
                </a:solidFill>
                <a:latin typeface="Aptos"/>
              </a:rPr>
              <a:t>Yanshika Singh</a:t>
            </a:r>
          </a:p>
        </p:txBody>
      </p:sp>
      <p:sp>
        <p:nvSpPr>
          <p:cNvPr id="8" name="TextBox 7"/>
          <p:cNvSpPr txBox="1"/>
          <p:nvPr/>
        </p:nvSpPr>
        <p:spPr>
          <a:xfrm>
            <a:off x="1618488" y="4160520"/>
            <a:ext cx="4572000" cy="228600"/>
          </a:xfrm>
          <a:prstGeom prst="rect">
            <a:avLst/>
          </a:prstGeom>
          <a:noFill/>
        </p:spPr>
        <p:txBody>
          <a:bodyPr wrap="square" lIns="45720" rIns="45720" anchor="t">
            <a:spAutoFit/>
          </a:bodyPr>
          <a:lstStyle/>
          <a:p>
            <a:pPr algn="l"/>
            <a:r>
              <a:rPr sz="1000" b="0">
                <a:solidFill>
                  <a:srgbClr val="677082"/>
                </a:solidFill>
                <a:latin typeface="Aptos"/>
              </a:rPr>
              <a:t>IILM University • B.Tech CSE (AI/ML)</a:t>
            </a:r>
          </a:p>
        </p:txBody>
      </p:sp>
      <p:sp>
        <p:nvSpPr>
          <p:cNvPr id="9" name="Rounded Rectangle 8"/>
          <p:cNvSpPr/>
          <p:nvPr/>
        </p:nvSpPr>
        <p:spPr>
          <a:xfrm>
            <a:off x="9052560" y="1371600"/>
            <a:ext cx="1371600" cy="3931920"/>
          </a:xfrm>
          <a:prstGeom prst="roundRect">
            <a:avLst/>
          </a:prstGeom>
          <a:solidFill>
            <a:srgbClr val="F6F8FB"/>
          </a:solidFill>
          <a:ln w="8890">
            <a:solidFill>
              <a:srgbClr val="F6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V="1">
            <a:off x="9098280" y="1417320"/>
            <a:ext cx="1234440" cy="457199"/>
          </a:xfrm>
          <a:prstGeom prst="line">
            <a:avLst/>
          </a:prstGeom>
          <a:ln w="19050">
            <a:solidFill>
              <a:srgbClr val="B4BEC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098280" y="1874519"/>
            <a:ext cx="1234440" cy="457201"/>
          </a:xfrm>
          <a:prstGeom prst="line">
            <a:avLst/>
          </a:prstGeom>
          <a:ln w="19050">
            <a:solidFill>
              <a:srgbClr val="AFBAC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098280" y="2331720"/>
            <a:ext cx="1234440" cy="457200"/>
          </a:xfrm>
          <a:prstGeom prst="line">
            <a:avLst/>
          </a:prstGeom>
          <a:ln w="19050">
            <a:solidFill>
              <a:srgbClr val="AAB6C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098280" y="2788920"/>
            <a:ext cx="1234440" cy="457200"/>
          </a:xfrm>
          <a:prstGeom prst="line">
            <a:avLst/>
          </a:prstGeom>
          <a:ln w="19050">
            <a:solidFill>
              <a:srgbClr val="A5B2C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098280" y="3246120"/>
            <a:ext cx="1234440" cy="457200"/>
          </a:xfrm>
          <a:prstGeom prst="line">
            <a:avLst/>
          </a:prstGeom>
          <a:ln w="19050">
            <a:solidFill>
              <a:srgbClr val="A0AEC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098280" y="3703320"/>
            <a:ext cx="1234440" cy="457200"/>
          </a:xfrm>
          <a:prstGeom prst="line">
            <a:avLst/>
          </a:prstGeom>
          <a:ln w="19050">
            <a:solidFill>
              <a:srgbClr val="9BAAB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098280" y="4160520"/>
            <a:ext cx="1234440" cy="457200"/>
          </a:xfrm>
          <a:prstGeom prst="line">
            <a:avLst/>
          </a:prstGeom>
          <a:ln w="19050">
            <a:solidFill>
              <a:srgbClr val="96A6BB"/>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600200" y="4892040"/>
            <a:ext cx="384048" cy="384048"/>
          </a:xfrm>
          <a:prstGeom prst="ellipse">
            <a:avLst/>
          </a:prstGeom>
          <a:solidFill>
            <a:srgbClr val="34425F"/>
          </a:solidFill>
          <a:ln>
            <a:solidFill>
              <a:srgbClr val="3442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I</a:t>
            </a:r>
          </a:p>
        </p:txBody>
      </p:sp>
      <p:sp>
        <p:nvSpPr>
          <p:cNvPr id="18" name="TextBox 17"/>
          <p:cNvSpPr txBox="1"/>
          <p:nvPr/>
        </p:nvSpPr>
        <p:spPr>
          <a:xfrm>
            <a:off x="2103120" y="4965192"/>
            <a:ext cx="2377440" cy="201168"/>
          </a:xfrm>
          <a:prstGeom prst="rect">
            <a:avLst/>
          </a:prstGeom>
          <a:noFill/>
        </p:spPr>
        <p:txBody>
          <a:bodyPr wrap="square" lIns="45720" rIns="45720" anchor="t">
            <a:spAutoFit/>
          </a:bodyPr>
          <a:lstStyle/>
          <a:p>
            <a:pPr algn="l"/>
            <a:r>
              <a:rPr sz="1000" b="1">
                <a:solidFill>
                  <a:srgbClr val="34425F"/>
                </a:solidFill>
                <a:latin typeface="Aptos"/>
              </a:rPr>
              <a:t>IILM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5154</Words>
  <Application>Microsoft Office PowerPoint</Application>
  <PresentationFormat>Widescreen</PresentationFormat>
  <Paragraphs>580</Paragraphs>
  <Slides>22</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yanshika singh</cp:lastModifiedBy>
  <cp:revision>2</cp:revision>
  <dcterms:created xsi:type="dcterms:W3CDTF">2013-01-27T09:14:16Z</dcterms:created>
  <dcterms:modified xsi:type="dcterms:W3CDTF">2026-08-27T15:13:20Z</dcterms:modified>
  <cp:category/>
</cp:coreProperties>
</file>